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3" r:id="rId2"/>
    <p:sldId id="302" r:id="rId3"/>
    <p:sldId id="292" r:id="rId4"/>
    <p:sldId id="305" r:id="rId5"/>
    <p:sldId id="304" r:id="rId6"/>
    <p:sldId id="303" r:id="rId7"/>
    <p:sldId id="301" r:id="rId8"/>
    <p:sldId id="274" r:id="rId9"/>
    <p:sldId id="275" r:id="rId10"/>
    <p:sldId id="259" r:id="rId11"/>
    <p:sldId id="266" r:id="rId12"/>
    <p:sldId id="293" r:id="rId13"/>
    <p:sldId id="280" r:id="rId14"/>
    <p:sldId id="261" r:id="rId15"/>
    <p:sldId id="294" r:id="rId16"/>
    <p:sldId id="283" r:id="rId17"/>
    <p:sldId id="277" r:id="rId18"/>
    <p:sldId id="295" r:id="rId19"/>
    <p:sldId id="296" r:id="rId20"/>
    <p:sldId id="285" r:id="rId21"/>
    <p:sldId id="297" r:id="rId22"/>
    <p:sldId id="300" r:id="rId23"/>
    <p:sldId id="299" r:id="rId24"/>
    <p:sldId id="298" r:id="rId25"/>
    <p:sldId id="272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F4F4"/>
    <a:srgbClr val="38A59A"/>
    <a:srgbClr val="1B4A45"/>
    <a:srgbClr val="EABB84"/>
    <a:srgbClr val="213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88"/>
    <p:restoredTop sz="94529"/>
  </p:normalViewPr>
  <p:slideViewPr>
    <p:cSldViewPr snapToGrid="0" snapToObjects="1">
      <p:cViewPr>
        <p:scale>
          <a:sx n="106" d="100"/>
          <a:sy n="106" d="100"/>
        </p:scale>
        <p:origin x="512" y="456"/>
      </p:cViewPr>
      <p:guideLst/>
    </p:cSldViewPr>
  </p:slideViewPr>
  <p:outlineViewPr>
    <p:cViewPr>
      <p:scale>
        <a:sx n="33" d="100"/>
        <a:sy n="33" d="100"/>
      </p:scale>
      <p:origin x="0" y="-1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7" d="100"/>
        <a:sy n="13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952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68490-818C-5FE8-1B45-4AA08256B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1F289-E33A-EEC2-0D5F-4F2B05B69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22010-9685-28AF-E4DA-5B9E50B8B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85673-2074-A84A-8896-C3C4DEFA5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854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09D7-D605-0373-201A-CBD655008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90133-8ACA-2A52-7897-9EEDC3F04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D6E9C-13C9-D7D5-D08F-7389AB1A64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94BE3-A4DB-785C-8FD2-F43B9D64E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122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28C2-1834-A93A-E13D-CC8D0459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4E2E3A-AF47-3B81-29F8-7D429E687D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01383-C268-C807-9CD8-FF6D78E15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EF8B6-658A-F1D0-74C6-703A88431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666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00915-4328-6BD2-EF70-927C5CB08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12633C-6474-5C29-0CD0-C11EC5B21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46AE1-EC40-489B-914F-5F268FFC1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BE0D9-F82E-9C22-5815-CA86B5C23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415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5CE1-F38D-42BE-E425-2D4DC3A1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C16C6-25AF-7885-7129-4580567D78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88B84-9E97-A6F8-39C0-626C986E89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3FD6B-C6D9-E54D-4BD3-B39070DBD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07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14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mpv4@student.le.ac.u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0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19D9D-49CD-9BF7-2268-075B7051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71D6C44-775E-1603-CE46-0CE98B1D3F2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2" t="25985" r="-27" b="28988"/>
          <a:stretch>
            <a:fillRect/>
          </a:stretch>
        </p:blipFill>
        <p:spPr>
          <a:xfrm>
            <a:off x="0" y="6531"/>
            <a:ext cx="12192000" cy="6858000"/>
          </a:xfrm>
          <a:prstGeom prst="rect">
            <a:avLst/>
          </a:prstGeom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A7DDAE03-B488-BF7C-20B0-2E4BAD9EB25D}"/>
              </a:ext>
            </a:extLst>
          </p:cNvPr>
          <p:cNvSpPr/>
          <p:nvPr/>
        </p:nvSpPr>
        <p:spPr>
          <a:xfrm>
            <a:off x="548640" y="2148840"/>
            <a:ext cx="1280160" cy="82296"/>
          </a:xfrm>
          <a:prstGeom prst="rect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F85C0F-6F62-C3EF-F584-E12154706AE6}"/>
              </a:ext>
            </a:extLst>
          </p:cNvPr>
          <p:cNvSpPr/>
          <p:nvPr/>
        </p:nvSpPr>
        <p:spPr>
          <a:xfrm>
            <a:off x="54864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HomifyOne</a:t>
            </a:r>
            <a:endParaRPr lang="en-US" sz="5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F686273-B302-4678-7CB8-3BE90016BCB1}"/>
              </a:ext>
            </a:extLst>
          </p:cNvPr>
          <p:cNvSpPr/>
          <p:nvPr/>
        </p:nvSpPr>
        <p:spPr>
          <a:xfrm>
            <a:off x="548640" y="32461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BF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Personalisation and Workflow Management Platform</a:t>
            </a:r>
            <a:endParaRPr lang="en-US" sz="1700" b="1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BFD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New-Build Residential Developments</a:t>
            </a:r>
            <a:endParaRPr lang="en-US" sz="1700" b="1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2B023F-144B-F937-00FB-948FF740D4BC}"/>
              </a:ext>
            </a:extLst>
          </p:cNvPr>
          <p:cNvSpPr/>
          <p:nvPr/>
        </p:nvSpPr>
        <p:spPr>
          <a:xfrm>
            <a:off x="566928" y="4343400"/>
            <a:ext cx="3108960" cy="0"/>
          </a:xfrm>
          <a:prstGeom prst="line">
            <a:avLst/>
          </a:prstGeom>
          <a:noFill/>
          <a:ln w="12700">
            <a:solidFill>
              <a:srgbClr val="2E5F5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7A4BE57-4B5B-7554-BEE1-9ED0037C321E}"/>
              </a:ext>
            </a:extLst>
          </p:cNvPr>
          <p:cNvSpPr/>
          <p:nvPr/>
        </p:nvSpPr>
        <p:spPr>
          <a:xfrm>
            <a:off x="548640" y="4517137"/>
            <a:ext cx="8229600" cy="1844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Mrudhulaa Peechanary Vinodkumar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mpv4@student.le.ac.uk</a:t>
            </a:r>
            <a:endParaRPr lang="en-US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259025897</a:t>
            </a:r>
          </a:p>
          <a:p>
            <a:pPr marL="0" indent="0" algn="l">
              <a:lnSpc>
                <a:spcPct val="135000"/>
              </a:lnSpc>
              <a:buNone/>
            </a:pP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Newman Lau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Marker: Dr. Zedong Zheng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8619F5-BCE0-01DB-ABCA-148828078899}"/>
              </a:ext>
            </a:extLst>
          </p:cNvPr>
          <p:cNvSpPr/>
          <p:nvPr/>
        </p:nvSpPr>
        <p:spPr>
          <a:xfrm>
            <a:off x="9509760" y="10424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417708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A61A3-39B9-2D64-5279-769D6609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70F465-40CB-68D6-33D9-CA4DE267DFB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E5E44F1-3432-F049-11B4-D34A10A882B5}"/>
              </a:ext>
            </a:extLst>
          </p:cNvPr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55CEB0D-CA11-6E7C-DE39-75CA0C5B3B6E}"/>
              </a:ext>
            </a:extLst>
          </p:cNvPr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B2E9F49-EB96-019D-A7EA-9B8F85701FFB}"/>
              </a:ext>
            </a:extLst>
          </p:cNvPr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54AB16E-BDC9-9FBD-84E7-A3667CDF9731}"/>
              </a:ext>
            </a:extLst>
          </p:cNvPr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04A97016-3E1E-56DF-B465-A52881E1A645}"/>
              </a:ext>
            </a:extLst>
          </p:cNvPr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C0B0326-D71D-3411-7558-74C2503FAA36}"/>
              </a:ext>
            </a:extLst>
          </p:cNvPr>
          <p:cNvSpPr/>
          <p:nvPr/>
        </p:nvSpPr>
        <p:spPr>
          <a:xfrm>
            <a:off x="640080" y="502920"/>
            <a:ext cx="1280160" cy="82296"/>
          </a:xfrm>
          <a:prstGeom prst="rect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2EBB05-33D5-916A-D8BC-7C988F556DE6}"/>
              </a:ext>
            </a:extLst>
          </p:cNvPr>
          <p:cNvSpPr txBox="1"/>
          <p:nvPr/>
        </p:nvSpPr>
        <p:spPr>
          <a:xfrm>
            <a:off x="640080" y="658368"/>
            <a:ext cx="10515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400" b="1" i="0" dirty="0" err="1">
                <a:solidFill>
                  <a:srgbClr val="FFFFFF"/>
                </a:solidFill>
                <a:latin typeface="Cambria"/>
              </a:rPr>
              <a:t>HomifyOne</a:t>
            </a:r>
            <a:r>
              <a:rPr lang="en-US" sz="3400" b="1" i="0" dirty="0">
                <a:solidFill>
                  <a:srgbClr val="FFFFFF"/>
                </a:solidFill>
                <a:latin typeface="Cambria"/>
              </a:rPr>
              <a:t> through a Simple Story</a:t>
            </a:r>
            <a:endParaRPr sz="3400" b="1" i="0" dirty="0">
              <a:solidFill>
                <a:srgbClr val="FFFFFF"/>
              </a:solidFill>
              <a:latin typeface="Cambri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0C61E-C0E1-1D04-BBA6-DEA8DCCF9D42}"/>
              </a:ext>
            </a:extLst>
          </p:cNvPr>
          <p:cNvSpPr txBox="1"/>
          <p:nvPr/>
        </p:nvSpPr>
        <p:spPr>
          <a:xfrm>
            <a:off x="6581968" y="3646658"/>
            <a:ext cx="438911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BFDAD4"/>
                </a:solidFill>
                <a:latin typeface="Calibri"/>
              </a:rPr>
              <a:t>First-time buyers, three-bed new-build near Leicester, eight months from completion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D7F5CE10-EF4F-C59E-F9E6-8563814E6010}"/>
              </a:ext>
            </a:extLst>
          </p:cNvPr>
          <p:cNvCxnSpPr/>
          <p:nvPr/>
        </p:nvCxnSpPr>
        <p:spPr>
          <a:xfrm>
            <a:off x="640080" y="5349240"/>
            <a:ext cx="5029200" cy="0"/>
          </a:xfrm>
          <a:prstGeom prst="line">
            <a:avLst/>
          </a:prstGeom>
          <a:ln w="1587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1DF19B-1E55-D176-9EE9-1D0808940CB4}"/>
              </a:ext>
            </a:extLst>
          </p:cNvPr>
          <p:cNvSpPr/>
          <p:nvPr/>
        </p:nvSpPr>
        <p:spPr>
          <a:xfrm>
            <a:off x="1417320" y="4160520"/>
            <a:ext cx="457200" cy="640080"/>
          </a:xfrm>
          <a:prstGeom prst="round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ED8E821-DB21-7CD0-FFEF-F227111A0F6E}"/>
              </a:ext>
            </a:extLst>
          </p:cNvPr>
          <p:cNvGrpSpPr/>
          <p:nvPr/>
        </p:nvGrpSpPr>
        <p:grpSpPr>
          <a:xfrm>
            <a:off x="777240" y="2148840"/>
            <a:ext cx="3931920" cy="3246120"/>
            <a:chOff x="777240" y="2148840"/>
            <a:chExt cx="3931920" cy="32461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6DA12A-498D-9CBC-1952-03ED1EEB14CD}"/>
                </a:ext>
              </a:extLst>
            </p:cNvPr>
            <p:cNvSpPr txBox="1"/>
            <p:nvPr/>
          </p:nvSpPr>
          <p:spPr>
            <a:xfrm>
              <a:off x="2926080" y="5138928"/>
              <a:ext cx="105156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9FC2BB"/>
                  </a:solidFill>
                  <a:latin typeface="Calibri"/>
                </a:rPr>
                <a:t>Mary</a:t>
              </a:r>
              <a:endParaRPr sz="1200" b="0" i="0" dirty="0">
                <a:solidFill>
                  <a:srgbClr val="9FC2BB"/>
                </a:solidFill>
                <a:latin typeface="Calibri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C7152D5-2941-FAC8-966A-BFE4241A5468}"/>
                </a:ext>
              </a:extLst>
            </p:cNvPr>
            <p:cNvSpPr txBox="1"/>
            <p:nvPr/>
          </p:nvSpPr>
          <p:spPr>
            <a:xfrm>
              <a:off x="3657600" y="5138928"/>
              <a:ext cx="10515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i="0" dirty="0">
                  <a:solidFill>
                    <a:srgbClr val="9FC2BB"/>
                  </a:solidFill>
                  <a:latin typeface="Calibri"/>
                </a:rPr>
                <a:t>James</a:t>
              </a: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D448511A-543C-657B-18B6-D814CA24C6A8}"/>
                </a:ext>
              </a:extLst>
            </p:cNvPr>
            <p:cNvSpPr/>
            <p:nvPr/>
          </p:nvSpPr>
          <p:spPr>
            <a:xfrm>
              <a:off x="777240" y="2148840"/>
              <a:ext cx="1737360" cy="960120"/>
            </a:xfrm>
            <a:prstGeom prst="triangl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60DA59-9A75-B149-7789-3A75E5D76BDF}"/>
                </a:ext>
              </a:extLst>
            </p:cNvPr>
            <p:cNvSpPr/>
            <p:nvPr/>
          </p:nvSpPr>
          <p:spPr>
            <a:xfrm>
              <a:off x="777240" y="3108960"/>
              <a:ext cx="1737360" cy="1691640"/>
            </a:xfrm>
            <a:prstGeom prst="rect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1C60139-5316-D901-CB55-40FBA3E2EC6B}"/>
                </a:ext>
              </a:extLst>
            </p:cNvPr>
            <p:cNvSpPr/>
            <p:nvPr/>
          </p:nvSpPr>
          <p:spPr>
            <a:xfrm>
              <a:off x="1965960" y="3429000"/>
              <a:ext cx="384048" cy="384048"/>
            </a:xfrm>
            <a:prstGeom prst="roundRect">
              <a:avLst/>
            </a:prstGeom>
            <a:solidFill>
              <a:srgbClr val="E8C9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4B7AED1-7280-2B45-234F-40F1DFC97804}"/>
                </a:ext>
              </a:extLst>
            </p:cNvPr>
            <p:cNvSpPr/>
            <p:nvPr/>
          </p:nvSpPr>
          <p:spPr>
            <a:xfrm>
              <a:off x="3244409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5914900-BB9D-41CB-728F-47A282E60403}"/>
                </a:ext>
              </a:extLst>
            </p:cNvPr>
            <p:cNvSpPr/>
            <p:nvPr/>
          </p:nvSpPr>
          <p:spPr>
            <a:xfrm rot="10800000">
              <a:off x="3034097" y="3904488"/>
              <a:ext cx="804672" cy="1234440"/>
            </a:xfrm>
            <a:prstGeom prst="trapezoid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A18151-AEEF-0412-1236-9C59DDA2B858}"/>
                </a:ext>
              </a:extLst>
            </p:cNvPr>
            <p:cNvSpPr/>
            <p:nvPr/>
          </p:nvSpPr>
          <p:spPr>
            <a:xfrm>
              <a:off x="3975928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CFF23A45-4A09-6B18-70FE-1D11DC17A263}"/>
                </a:ext>
              </a:extLst>
            </p:cNvPr>
            <p:cNvSpPr/>
            <p:nvPr/>
          </p:nvSpPr>
          <p:spPr>
            <a:xfrm rot="10800000">
              <a:off x="3765617" y="3904488"/>
              <a:ext cx="804672" cy="1234440"/>
            </a:xfrm>
            <a:prstGeom prst="trapezoid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D786B42-EFF7-411D-F2F2-5F815750C4D2}"/>
              </a:ext>
            </a:extLst>
          </p:cNvPr>
          <p:cNvSpPr txBox="1"/>
          <p:nvPr/>
        </p:nvSpPr>
        <p:spPr>
          <a:xfrm>
            <a:off x="6581968" y="2649860"/>
            <a:ext cx="524909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000" b="1" i="1" dirty="0">
                <a:solidFill>
                  <a:srgbClr val="FFFFFF"/>
                </a:solidFill>
                <a:latin typeface="Cambria"/>
              </a:rPr>
              <a:t>Meet Mary and James</a:t>
            </a:r>
            <a:endParaRPr sz="4000" b="1" i="1" dirty="0">
              <a:solidFill>
                <a:srgbClr val="FFFFFF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9401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How New-Build Personalisation Works</a:t>
            </a:r>
            <a:endParaRPr lang="en-US" sz="3000" dirty="0"/>
          </a:p>
        </p:txBody>
      </p:sp>
      <p:sp>
        <p:nvSpPr>
          <p:cNvPr id="4" name="Card0"/>
          <p:cNvSpPr/>
          <p:nvPr/>
        </p:nvSpPr>
        <p:spPr>
          <a:xfrm>
            <a:off x="548640" y="1721072"/>
            <a:ext cx="2058883" cy="4118896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Badge0"/>
          <p:cNvSpPr/>
          <p:nvPr/>
        </p:nvSpPr>
        <p:spPr>
          <a:xfrm>
            <a:off x="1322049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Num0"/>
          <p:cNvSpPr/>
          <p:nvPr/>
        </p:nvSpPr>
        <p:spPr>
          <a:xfrm>
            <a:off x="1322049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680" dirty="0"/>
          </a:p>
        </p:txBody>
      </p:sp>
      <p:sp>
        <p:nvSpPr>
          <p:cNvPr id="7" name="Label0"/>
          <p:cNvSpPr/>
          <p:nvPr/>
        </p:nvSpPr>
        <p:spPr>
          <a:xfrm>
            <a:off x="648640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</a:rPr>
              <a:t>Buyer Selects</a:t>
            </a:r>
            <a:endParaRPr lang="en-US" dirty="0"/>
          </a:p>
        </p:txBody>
      </p:sp>
      <p:sp>
        <p:nvSpPr>
          <p:cNvPr id="8" name="Body0"/>
          <p:cNvSpPr/>
          <p:nvPr/>
        </p:nvSpPr>
        <p:spPr>
          <a:xfrm>
            <a:off x="648640" y="3360024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D9EBE6"/>
                </a:solidFill>
                <a:latin typeface="Calibri" pitchFamily="34" charset="0"/>
              </a:rPr>
              <a:t>Chooses items for their home, using their personalisation allowance.</a:t>
            </a:r>
            <a:endParaRPr lang="en-US" sz="1600" dirty="0"/>
          </a:p>
        </p:txBody>
      </p:sp>
      <p:sp>
        <p:nvSpPr>
          <p:cNvPr id="9" name="Chevron0"/>
          <p:cNvSpPr/>
          <p:nvPr/>
        </p:nvSpPr>
        <p:spPr>
          <a:xfrm>
            <a:off x="2597523" y="3385960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Card1"/>
          <p:cNvSpPr/>
          <p:nvPr/>
        </p:nvSpPr>
        <p:spPr>
          <a:xfrm>
            <a:off x="2807523" y="1721072"/>
            <a:ext cx="2058883" cy="4118896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Badge1"/>
          <p:cNvSpPr/>
          <p:nvPr/>
        </p:nvSpPr>
        <p:spPr>
          <a:xfrm>
            <a:off x="3580932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Num1"/>
          <p:cNvSpPr/>
          <p:nvPr/>
        </p:nvSpPr>
        <p:spPr>
          <a:xfrm>
            <a:off x="3580932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680" dirty="0"/>
          </a:p>
        </p:txBody>
      </p:sp>
      <p:sp>
        <p:nvSpPr>
          <p:cNvPr id="13" name="Label1"/>
          <p:cNvSpPr/>
          <p:nvPr/>
        </p:nvSpPr>
        <p:spPr>
          <a:xfrm>
            <a:off x="2907523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</a:rPr>
              <a:t>Developer Approves</a:t>
            </a:r>
            <a:endParaRPr lang="en-US" dirty="0"/>
          </a:p>
        </p:txBody>
      </p:sp>
      <p:sp>
        <p:nvSpPr>
          <p:cNvPr id="14" name="Body1"/>
          <p:cNvSpPr/>
          <p:nvPr/>
        </p:nvSpPr>
        <p:spPr>
          <a:xfrm>
            <a:off x="2907523" y="3360024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D9EBE6"/>
                </a:solidFill>
                <a:latin typeface="Calibri" pitchFamily="34" charset="0"/>
              </a:rPr>
              <a:t>Reviews and signs off the buyer's full set of selections.</a:t>
            </a:r>
            <a:endParaRPr lang="en-US" sz="1600" dirty="0"/>
          </a:p>
        </p:txBody>
      </p:sp>
      <p:sp>
        <p:nvSpPr>
          <p:cNvPr id="15" name="Chevron1"/>
          <p:cNvSpPr/>
          <p:nvPr/>
        </p:nvSpPr>
        <p:spPr>
          <a:xfrm>
            <a:off x="4856406" y="3385960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Card2"/>
          <p:cNvSpPr/>
          <p:nvPr/>
        </p:nvSpPr>
        <p:spPr>
          <a:xfrm>
            <a:off x="5066406" y="1721072"/>
            <a:ext cx="2058883" cy="4118896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Badge2"/>
          <p:cNvSpPr/>
          <p:nvPr/>
        </p:nvSpPr>
        <p:spPr>
          <a:xfrm>
            <a:off x="5839815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Num2"/>
          <p:cNvSpPr/>
          <p:nvPr/>
        </p:nvSpPr>
        <p:spPr>
          <a:xfrm>
            <a:off x="5839815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3</a:t>
            </a:r>
            <a:endParaRPr lang="en-US" sz="1680" dirty="0"/>
          </a:p>
        </p:txBody>
      </p:sp>
      <p:sp>
        <p:nvSpPr>
          <p:cNvPr id="19" name="Label2"/>
          <p:cNvSpPr/>
          <p:nvPr/>
        </p:nvSpPr>
        <p:spPr>
          <a:xfrm>
            <a:off x="5166406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</a:rPr>
              <a:t>Purchase Orders</a:t>
            </a:r>
            <a:endParaRPr lang="en-US" dirty="0"/>
          </a:p>
        </p:txBody>
      </p:sp>
      <p:sp>
        <p:nvSpPr>
          <p:cNvPr id="20" name="Body2"/>
          <p:cNvSpPr/>
          <p:nvPr/>
        </p:nvSpPr>
        <p:spPr>
          <a:xfrm>
            <a:off x="5166406" y="3360024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D9EBE6"/>
                </a:solidFill>
                <a:latin typeface="Calibri" pitchFamily="34" charset="0"/>
              </a:rPr>
              <a:t>Approved items are grouped and sent to the right suppliers.</a:t>
            </a:r>
            <a:endParaRPr lang="en-US" sz="1600" dirty="0"/>
          </a:p>
        </p:txBody>
      </p:sp>
      <p:sp>
        <p:nvSpPr>
          <p:cNvPr id="21" name="Chevron2"/>
          <p:cNvSpPr/>
          <p:nvPr/>
        </p:nvSpPr>
        <p:spPr>
          <a:xfrm>
            <a:off x="7115289" y="3385960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Card3"/>
          <p:cNvSpPr/>
          <p:nvPr/>
        </p:nvSpPr>
        <p:spPr>
          <a:xfrm>
            <a:off x="7325289" y="1721072"/>
            <a:ext cx="2058883" cy="4118896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Badge3"/>
          <p:cNvSpPr/>
          <p:nvPr/>
        </p:nvSpPr>
        <p:spPr>
          <a:xfrm>
            <a:off x="8098698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Num3"/>
          <p:cNvSpPr/>
          <p:nvPr/>
        </p:nvSpPr>
        <p:spPr>
          <a:xfrm>
            <a:off x="8098698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680" dirty="0"/>
          </a:p>
        </p:txBody>
      </p:sp>
      <p:sp>
        <p:nvSpPr>
          <p:cNvPr id="25" name="Label3"/>
          <p:cNvSpPr/>
          <p:nvPr/>
        </p:nvSpPr>
        <p:spPr>
          <a:xfrm>
            <a:off x="7425289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</a:rPr>
              <a:t>Suppliers Deliver</a:t>
            </a:r>
            <a:endParaRPr lang="en-US" dirty="0"/>
          </a:p>
        </p:txBody>
      </p:sp>
      <p:sp>
        <p:nvSpPr>
          <p:cNvPr id="26" name="Body3"/>
          <p:cNvSpPr/>
          <p:nvPr/>
        </p:nvSpPr>
        <p:spPr>
          <a:xfrm>
            <a:off x="7425289" y="3360024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D9EBE6"/>
                </a:solidFill>
                <a:latin typeface="Calibri" pitchFamily="34" charset="0"/>
              </a:rPr>
              <a:t>Suppliers procure the items and deliver them to the plot.</a:t>
            </a:r>
            <a:endParaRPr lang="en-US" sz="1600" dirty="0"/>
          </a:p>
        </p:txBody>
      </p:sp>
      <p:sp>
        <p:nvSpPr>
          <p:cNvPr id="27" name="Chevron3"/>
          <p:cNvSpPr/>
          <p:nvPr/>
        </p:nvSpPr>
        <p:spPr>
          <a:xfrm>
            <a:off x="9374172" y="3385960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Card4"/>
          <p:cNvSpPr/>
          <p:nvPr/>
        </p:nvSpPr>
        <p:spPr>
          <a:xfrm>
            <a:off x="9584172" y="1721072"/>
            <a:ext cx="2058883" cy="4118896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Badge4"/>
          <p:cNvSpPr/>
          <p:nvPr/>
        </p:nvSpPr>
        <p:spPr>
          <a:xfrm>
            <a:off x="10357581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Num4"/>
          <p:cNvSpPr/>
          <p:nvPr/>
        </p:nvSpPr>
        <p:spPr>
          <a:xfrm>
            <a:off x="10357581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5</a:t>
            </a:r>
            <a:endParaRPr lang="en-US" sz="1680" dirty="0"/>
          </a:p>
        </p:txBody>
      </p:sp>
      <p:sp>
        <p:nvSpPr>
          <p:cNvPr id="31" name="Label4"/>
          <p:cNvSpPr/>
          <p:nvPr/>
        </p:nvSpPr>
        <p:spPr>
          <a:xfrm>
            <a:off x="9684172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</a:rPr>
              <a:t>Install &amp; Handover</a:t>
            </a:r>
            <a:endParaRPr lang="en-US" dirty="0"/>
          </a:p>
        </p:txBody>
      </p:sp>
      <p:sp>
        <p:nvSpPr>
          <p:cNvPr id="32" name="Body4"/>
          <p:cNvSpPr/>
          <p:nvPr/>
        </p:nvSpPr>
        <p:spPr>
          <a:xfrm>
            <a:off x="9684172" y="3360024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D9EBE6"/>
                </a:solidFill>
                <a:latin typeface="Calibri" pitchFamily="34" charset="0"/>
              </a:rPr>
              <a:t>The developer's team fits everything and hands over the finished home.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7E014-24E4-348F-5944-A2D49FDB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F42759-1242-215B-2914-2562485E93D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A92FA76E-2E92-453A-9EF4-01B261147B7C}"/>
              </a:ext>
            </a:extLst>
          </p:cNvPr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E827EB49-66FF-4280-9D69-B1038B6B71A2}"/>
              </a:ext>
            </a:extLst>
          </p:cNvPr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51A1F235-5F25-B2B4-B79E-C6A6D89BB22B}"/>
              </a:ext>
            </a:extLst>
          </p:cNvPr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D326F6B0-FEDE-489E-4172-56BC9430FECF}"/>
              </a:ext>
            </a:extLst>
          </p:cNvPr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FE5B3BCA-7C55-2DFB-C541-780B696E5EBF}"/>
              </a:ext>
            </a:extLst>
          </p:cNvPr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53E29DA-83F0-20B8-D2C6-DE5F38C79950}"/>
              </a:ext>
            </a:extLst>
          </p:cNvPr>
          <p:cNvSpPr/>
          <p:nvPr/>
        </p:nvSpPr>
        <p:spPr>
          <a:xfrm>
            <a:off x="640080" y="502920"/>
            <a:ext cx="1280160" cy="82296"/>
          </a:xfrm>
          <a:prstGeom prst="rect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BBD040-CA0D-E2A8-8C88-065CE8FEF8DC}"/>
              </a:ext>
            </a:extLst>
          </p:cNvPr>
          <p:cNvSpPr txBox="1"/>
          <p:nvPr/>
        </p:nvSpPr>
        <p:spPr>
          <a:xfrm>
            <a:off x="640080" y="658368"/>
            <a:ext cx="10515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Meet </a:t>
            </a:r>
            <a:r>
              <a:rPr lang="en-US" sz="3400" b="1" dirty="0">
                <a:solidFill>
                  <a:srgbClr val="FFFFFF"/>
                </a:solidFill>
                <a:latin typeface="Cambria"/>
              </a:rPr>
              <a:t>Mary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&amp; James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22446-0520-AE99-3085-2F05D1C12D42}"/>
              </a:ext>
            </a:extLst>
          </p:cNvPr>
          <p:cNvSpPr txBox="1"/>
          <p:nvPr/>
        </p:nvSpPr>
        <p:spPr>
          <a:xfrm>
            <a:off x="640080" y="122529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1" dirty="0">
                <a:solidFill>
                  <a:srgbClr val="BFDAD4"/>
                </a:solidFill>
                <a:latin typeface="Calibri"/>
              </a:rPr>
              <a:t>First-time buyers, three-bed new-build near Leicester, eight months from completion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2C467F1C-BEFF-2144-F541-F2239984BAA4}"/>
              </a:ext>
            </a:extLst>
          </p:cNvPr>
          <p:cNvCxnSpPr/>
          <p:nvPr/>
        </p:nvCxnSpPr>
        <p:spPr>
          <a:xfrm>
            <a:off x="640080" y="5349240"/>
            <a:ext cx="5029200" cy="0"/>
          </a:xfrm>
          <a:prstGeom prst="line">
            <a:avLst/>
          </a:prstGeom>
          <a:ln w="1587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477BF5-B759-E84B-FBB9-3B3DC4E94170}"/>
              </a:ext>
            </a:extLst>
          </p:cNvPr>
          <p:cNvSpPr/>
          <p:nvPr/>
        </p:nvSpPr>
        <p:spPr>
          <a:xfrm>
            <a:off x="1417320" y="4160520"/>
            <a:ext cx="457200" cy="640080"/>
          </a:xfrm>
          <a:prstGeom prst="round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40083A-8BB6-2D46-E424-CCE5CBA9C1C8}"/>
              </a:ext>
            </a:extLst>
          </p:cNvPr>
          <p:cNvGrpSpPr/>
          <p:nvPr/>
        </p:nvGrpSpPr>
        <p:grpSpPr>
          <a:xfrm>
            <a:off x="777240" y="2148840"/>
            <a:ext cx="3931920" cy="3246120"/>
            <a:chOff x="777240" y="2148840"/>
            <a:chExt cx="3931920" cy="32461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A153977-5A54-1431-B117-BCFA22876E5D}"/>
                </a:ext>
              </a:extLst>
            </p:cNvPr>
            <p:cNvSpPr txBox="1"/>
            <p:nvPr/>
          </p:nvSpPr>
          <p:spPr>
            <a:xfrm>
              <a:off x="2926080" y="5138928"/>
              <a:ext cx="105156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9FC2BB"/>
                  </a:solidFill>
                  <a:latin typeface="Calibri"/>
                </a:rPr>
                <a:t>Mary</a:t>
              </a:r>
              <a:endParaRPr sz="1200" b="0" i="0" dirty="0">
                <a:solidFill>
                  <a:srgbClr val="9FC2BB"/>
                </a:solidFill>
                <a:latin typeface="Calibri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28D2C1F-C94A-8888-1D4F-CFFEDDC56DF5}"/>
                </a:ext>
              </a:extLst>
            </p:cNvPr>
            <p:cNvSpPr txBox="1"/>
            <p:nvPr/>
          </p:nvSpPr>
          <p:spPr>
            <a:xfrm>
              <a:off x="3657600" y="5138928"/>
              <a:ext cx="10515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i="0" dirty="0">
                  <a:solidFill>
                    <a:srgbClr val="9FC2BB"/>
                  </a:solidFill>
                  <a:latin typeface="Calibri"/>
                </a:rPr>
                <a:t>James</a:t>
              </a: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66BBEBF5-63A4-90B1-453E-59FDAF4966CC}"/>
                </a:ext>
              </a:extLst>
            </p:cNvPr>
            <p:cNvSpPr/>
            <p:nvPr/>
          </p:nvSpPr>
          <p:spPr>
            <a:xfrm>
              <a:off x="777240" y="2148840"/>
              <a:ext cx="1737360" cy="960120"/>
            </a:xfrm>
            <a:prstGeom prst="triangl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B7AF10E-7A6A-AE9F-48B3-2C668CF6E7D1}"/>
                </a:ext>
              </a:extLst>
            </p:cNvPr>
            <p:cNvSpPr/>
            <p:nvPr/>
          </p:nvSpPr>
          <p:spPr>
            <a:xfrm>
              <a:off x="777240" y="3108960"/>
              <a:ext cx="1737360" cy="1691640"/>
            </a:xfrm>
            <a:prstGeom prst="rect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D386504-94FA-575E-2D1F-FD8BF821656F}"/>
                </a:ext>
              </a:extLst>
            </p:cNvPr>
            <p:cNvSpPr/>
            <p:nvPr/>
          </p:nvSpPr>
          <p:spPr>
            <a:xfrm>
              <a:off x="1965960" y="3429000"/>
              <a:ext cx="384048" cy="384048"/>
            </a:xfrm>
            <a:prstGeom prst="roundRect">
              <a:avLst/>
            </a:prstGeom>
            <a:solidFill>
              <a:srgbClr val="E8C9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0134F3C-45A5-0702-EC36-07527605C8A0}"/>
                </a:ext>
              </a:extLst>
            </p:cNvPr>
            <p:cNvSpPr/>
            <p:nvPr/>
          </p:nvSpPr>
          <p:spPr>
            <a:xfrm>
              <a:off x="3244409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6B1D3444-8DAD-217E-E765-19B6683BC636}"/>
                </a:ext>
              </a:extLst>
            </p:cNvPr>
            <p:cNvSpPr/>
            <p:nvPr/>
          </p:nvSpPr>
          <p:spPr>
            <a:xfrm rot="10800000">
              <a:off x="3034097" y="3904488"/>
              <a:ext cx="804672" cy="1234440"/>
            </a:xfrm>
            <a:prstGeom prst="trapezoid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BB72E6-7D96-FD2A-7993-2A1997AC9188}"/>
                </a:ext>
              </a:extLst>
            </p:cNvPr>
            <p:cNvSpPr/>
            <p:nvPr/>
          </p:nvSpPr>
          <p:spPr>
            <a:xfrm>
              <a:off x="3975928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D1003348-C113-1719-AE3F-97BA77AE7177}"/>
                </a:ext>
              </a:extLst>
            </p:cNvPr>
            <p:cNvSpPr/>
            <p:nvPr/>
          </p:nvSpPr>
          <p:spPr>
            <a:xfrm rot="10800000">
              <a:off x="3765617" y="3904488"/>
              <a:ext cx="804672" cy="1234440"/>
            </a:xfrm>
            <a:prstGeom prst="trapezoid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5264C28-1AA0-DCD2-B9C9-A4F1927B9F12}"/>
              </a:ext>
            </a:extLst>
          </p:cNvPr>
          <p:cNvGrpSpPr/>
          <p:nvPr/>
        </p:nvGrpSpPr>
        <p:grpSpPr>
          <a:xfrm>
            <a:off x="7693151" y="2729484"/>
            <a:ext cx="2798365" cy="2409444"/>
            <a:chOff x="6400799" y="1737360"/>
            <a:chExt cx="2798365" cy="2409444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A8AC4C8A-13A2-5568-7B0A-A8A55E132D56}"/>
                </a:ext>
              </a:extLst>
            </p:cNvPr>
            <p:cNvSpPr/>
            <p:nvPr/>
          </p:nvSpPr>
          <p:spPr>
            <a:xfrm>
              <a:off x="6400799" y="1737360"/>
              <a:ext cx="2798365" cy="2409444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5CFC202-1230-EBFB-8BBD-DF77B43DB1D6}"/>
                </a:ext>
              </a:extLst>
            </p:cNvPr>
            <p:cNvSpPr/>
            <p:nvPr/>
          </p:nvSpPr>
          <p:spPr>
            <a:xfrm>
              <a:off x="7187183" y="193852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96BAD26-2548-D2D9-B41A-55E77B7DBDD2}"/>
                </a:ext>
              </a:extLst>
            </p:cNvPr>
            <p:cNvSpPr txBox="1"/>
            <p:nvPr/>
          </p:nvSpPr>
          <p:spPr>
            <a:xfrm>
              <a:off x="6400800" y="193852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 err="1">
                  <a:solidFill>
                    <a:srgbClr val="FFFFFF"/>
                  </a:solidFill>
                  <a:latin typeface="Cambria"/>
                </a:rPr>
                <a:t>Invit</a:t>
              </a:r>
              <a:r>
                <a:rPr lang="en-IN" sz="1900" b="1" i="0" dirty="0">
                  <a:solidFill>
                    <a:srgbClr val="FFFFFF"/>
                  </a:solidFill>
                  <a:latin typeface="Cambria"/>
                </a:rPr>
                <a:t>e</a:t>
              </a:r>
              <a:endParaRPr sz="1900" b="1" i="0" dirty="0">
                <a:solidFill>
                  <a:srgbClr val="FFFFFF"/>
                </a:solidFill>
                <a:latin typeface="Cambri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E2704-C0C0-0182-3977-60C56CF4989F}"/>
                </a:ext>
              </a:extLst>
            </p:cNvPr>
            <p:cNvSpPr txBox="1"/>
            <p:nvPr/>
          </p:nvSpPr>
          <p:spPr>
            <a:xfrm>
              <a:off x="6565392" y="2971800"/>
              <a:ext cx="2157984" cy="8667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0" i="0" dirty="0">
                  <a:solidFill>
                    <a:srgbClr val="E4F0EC"/>
                  </a:solidFill>
                  <a:latin typeface="Calibri"/>
                </a:rPr>
                <a:t>A letter arrive</a:t>
              </a:r>
              <a:r>
                <a:rPr lang="en-GB" sz="1600" b="0" i="0" dirty="0">
                  <a:solidFill>
                    <a:srgbClr val="E4F0EC"/>
                  </a:solidFill>
                  <a:latin typeface="Calibri"/>
                </a:rPr>
                <a:t>s:</a:t>
              </a:r>
              <a:r>
                <a:rPr sz="1600" b="0" i="0" dirty="0">
                  <a:solidFill>
                    <a:srgbClr val="E4F0EC"/>
                  </a:solidFill>
                  <a:latin typeface="Calibri"/>
                </a:rPr>
                <a:t>
</a:t>
              </a:r>
              <a:r>
                <a:rPr lang="en-GB" sz="1600" b="0" i="0" dirty="0">
                  <a:solidFill>
                    <a:srgbClr val="E4F0EC"/>
                  </a:solidFill>
                  <a:latin typeface="Calibri"/>
                </a:rPr>
                <a:t>t</a:t>
              </a:r>
              <a:r>
                <a:rPr sz="1600" b="0" i="0" dirty="0">
                  <a:solidFill>
                    <a:srgbClr val="E4F0EC"/>
                  </a:solidFill>
                  <a:latin typeface="Calibri"/>
                </a:rPr>
                <a:t>heir Choices Appointment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525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8CE5-6914-ED0F-3747-C132F3AC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8C3492-C351-1422-73A2-1CE6AFDEC969}"/>
              </a:ext>
            </a:extLst>
          </p:cNvPr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How New-Build Personalisation Works</a:t>
            </a:r>
            <a:endParaRPr lang="en-US" sz="3000" dirty="0"/>
          </a:p>
        </p:txBody>
      </p:sp>
      <p:sp>
        <p:nvSpPr>
          <p:cNvPr id="4" name="Card0">
            <a:extLst>
              <a:ext uri="{FF2B5EF4-FFF2-40B4-BE49-F238E27FC236}">
                <a16:creationId xmlns:a16="http://schemas.microsoft.com/office/drawing/2014/main" id="{D8F88316-F5AC-CA57-076B-3EE0383D7E2F}"/>
              </a:ext>
            </a:extLst>
          </p:cNvPr>
          <p:cNvSpPr/>
          <p:nvPr/>
        </p:nvSpPr>
        <p:spPr>
          <a:xfrm>
            <a:off x="548640" y="1721072"/>
            <a:ext cx="2058883" cy="3200000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Badge0">
            <a:extLst>
              <a:ext uri="{FF2B5EF4-FFF2-40B4-BE49-F238E27FC236}">
                <a16:creationId xmlns:a16="http://schemas.microsoft.com/office/drawing/2014/main" id="{D1111032-09E0-0C21-CACD-E4804D617E3C}"/>
              </a:ext>
            </a:extLst>
          </p:cNvPr>
          <p:cNvSpPr/>
          <p:nvPr/>
        </p:nvSpPr>
        <p:spPr>
          <a:xfrm>
            <a:off x="1322049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Num0">
            <a:extLst>
              <a:ext uri="{FF2B5EF4-FFF2-40B4-BE49-F238E27FC236}">
                <a16:creationId xmlns:a16="http://schemas.microsoft.com/office/drawing/2014/main" id="{D2EBFD55-4363-C8B9-6B6F-1EC8F9B62EF3}"/>
              </a:ext>
            </a:extLst>
          </p:cNvPr>
          <p:cNvSpPr/>
          <p:nvPr/>
        </p:nvSpPr>
        <p:spPr>
          <a:xfrm>
            <a:off x="1322049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680" dirty="0"/>
          </a:p>
        </p:txBody>
      </p:sp>
      <p:sp>
        <p:nvSpPr>
          <p:cNvPr id="7" name="Label0">
            <a:extLst>
              <a:ext uri="{FF2B5EF4-FFF2-40B4-BE49-F238E27FC236}">
                <a16:creationId xmlns:a16="http://schemas.microsoft.com/office/drawing/2014/main" id="{6BE71FAF-8C14-A4E8-2117-63D31A830EDF}"/>
              </a:ext>
            </a:extLst>
          </p:cNvPr>
          <p:cNvSpPr/>
          <p:nvPr/>
        </p:nvSpPr>
        <p:spPr>
          <a:xfrm>
            <a:off x="648640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Buyer Selects</a:t>
            </a:r>
            <a:endParaRPr lang="en-US" sz="1500" dirty="0"/>
          </a:p>
        </p:txBody>
      </p:sp>
      <p:sp>
        <p:nvSpPr>
          <p:cNvPr id="8" name="Body0">
            <a:extLst>
              <a:ext uri="{FF2B5EF4-FFF2-40B4-BE49-F238E27FC236}">
                <a16:creationId xmlns:a16="http://schemas.microsoft.com/office/drawing/2014/main" id="{4EBF0D37-2D75-BEBC-5CDE-4CE40901016A}"/>
              </a:ext>
            </a:extLst>
          </p:cNvPr>
          <p:cNvSpPr/>
          <p:nvPr/>
        </p:nvSpPr>
        <p:spPr>
          <a:xfrm>
            <a:off x="648640" y="3193136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BE6"/>
                </a:solidFill>
                <a:latin typeface="Calibri" pitchFamily="34" charset="0"/>
              </a:rPr>
              <a:t>Chooses from included choices and paid-upgrade extras, using their personalisation allowance.</a:t>
            </a:r>
            <a:endParaRPr lang="en-US" sz="1250" dirty="0"/>
          </a:p>
        </p:txBody>
      </p:sp>
      <p:sp>
        <p:nvSpPr>
          <p:cNvPr id="9" name="Chevron0">
            <a:extLst>
              <a:ext uri="{FF2B5EF4-FFF2-40B4-BE49-F238E27FC236}">
                <a16:creationId xmlns:a16="http://schemas.microsoft.com/office/drawing/2014/main" id="{D392B8DC-4AF9-B52B-BE59-83076115EB24}"/>
              </a:ext>
            </a:extLst>
          </p:cNvPr>
          <p:cNvSpPr/>
          <p:nvPr/>
        </p:nvSpPr>
        <p:spPr>
          <a:xfrm>
            <a:off x="2597523" y="3219072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Card1">
            <a:extLst>
              <a:ext uri="{FF2B5EF4-FFF2-40B4-BE49-F238E27FC236}">
                <a16:creationId xmlns:a16="http://schemas.microsoft.com/office/drawing/2014/main" id="{42F3523B-6C86-4D6D-DE9C-5007CCC60243}"/>
              </a:ext>
            </a:extLst>
          </p:cNvPr>
          <p:cNvSpPr/>
          <p:nvPr/>
        </p:nvSpPr>
        <p:spPr>
          <a:xfrm>
            <a:off x="2807523" y="1721072"/>
            <a:ext cx="2058883" cy="3200000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Badge1">
            <a:extLst>
              <a:ext uri="{FF2B5EF4-FFF2-40B4-BE49-F238E27FC236}">
                <a16:creationId xmlns:a16="http://schemas.microsoft.com/office/drawing/2014/main" id="{80D61C12-D0F8-0EF9-7012-084C80CBE733}"/>
              </a:ext>
            </a:extLst>
          </p:cNvPr>
          <p:cNvSpPr/>
          <p:nvPr/>
        </p:nvSpPr>
        <p:spPr>
          <a:xfrm>
            <a:off x="3580932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Num1">
            <a:extLst>
              <a:ext uri="{FF2B5EF4-FFF2-40B4-BE49-F238E27FC236}">
                <a16:creationId xmlns:a16="http://schemas.microsoft.com/office/drawing/2014/main" id="{A05E95E6-A72E-8F03-95B6-A0C5526A74BB}"/>
              </a:ext>
            </a:extLst>
          </p:cNvPr>
          <p:cNvSpPr/>
          <p:nvPr/>
        </p:nvSpPr>
        <p:spPr>
          <a:xfrm>
            <a:off x="3580932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680" dirty="0"/>
          </a:p>
        </p:txBody>
      </p:sp>
      <p:sp>
        <p:nvSpPr>
          <p:cNvPr id="13" name="Label1">
            <a:extLst>
              <a:ext uri="{FF2B5EF4-FFF2-40B4-BE49-F238E27FC236}">
                <a16:creationId xmlns:a16="http://schemas.microsoft.com/office/drawing/2014/main" id="{0E7743E7-61F8-2F12-863C-47E4D31D740C}"/>
              </a:ext>
            </a:extLst>
          </p:cNvPr>
          <p:cNvSpPr/>
          <p:nvPr/>
        </p:nvSpPr>
        <p:spPr>
          <a:xfrm>
            <a:off x="2907523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Developer Approves</a:t>
            </a:r>
            <a:endParaRPr lang="en-US" sz="1500" dirty="0"/>
          </a:p>
        </p:txBody>
      </p:sp>
      <p:sp>
        <p:nvSpPr>
          <p:cNvPr id="14" name="Body1">
            <a:extLst>
              <a:ext uri="{FF2B5EF4-FFF2-40B4-BE49-F238E27FC236}">
                <a16:creationId xmlns:a16="http://schemas.microsoft.com/office/drawing/2014/main" id="{047E9D2E-3D60-78C2-1321-4805B437C136}"/>
              </a:ext>
            </a:extLst>
          </p:cNvPr>
          <p:cNvSpPr/>
          <p:nvPr/>
        </p:nvSpPr>
        <p:spPr>
          <a:xfrm>
            <a:off x="2907523" y="3193136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BE6"/>
                </a:solidFill>
                <a:latin typeface="Calibri" pitchFamily="34" charset="0"/>
              </a:rPr>
              <a:t>Reviews and signs off the buyer's full set of selections.</a:t>
            </a:r>
            <a:endParaRPr lang="en-US" sz="1250" dirty="0"/>
          </a:p>
        </p:txBody>
      </p:sp>
      <p:sp>
        <p:nvSpPr>
          <p:cNvPr id="15" name="Chevron1">
            <a:extLst>
              <a:ext uri="{FF2B5EF4-FFF2-40B4-BE49-F238E27FC236}">
                <a16:creationId xmlns:a16="http://schemas.microsoft.com/office/drawing/2014/main" id="{ED5A5E88-22E8-F1FD-F43C-B849D900AA0E}"/>
              </a:ext>
            </a:extLst>
          </p:cNvPr>
          <p:cNvSpPr/>
          <p:nvPr/>
        </p:nvSpPr>
        <p:spPr>
          <a:xfrm>
            <a:off x="4856406" y="3219072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Card2">
            <a:extLst>
              <a:ext uri="{FF2B5EF4-FFF2-40B4-BE49-F238E27FC236}">
                <a16:creationId xmlns:a16="http://schemas.microsoft.com/office/drawing/2014/main" id="{CA70AA1D-2BD4-F3E1-9E0D-95D58E656D1E}"/>
              </a:ext>
            </a:extLst>
          </p:cNvPr>
          <p:cNvSpPr/>
          <p:nvPr/>
        </p:nvSpPr>
        <p:spPr>
          <a:xfrm>
            <a:off x="5066406" y="1721072"/>
            <a:ext cx="2058883" cy="3200000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Badge2">
            <a:extLst>
              <a:ext uri="{FF2B5EF4-FFF2-40B4-BE49-F238E27FC236}">
                <a16:creationId xmlns:a16="http://schemas.microsoft.com/office/drawing/2014/main" id="{203B3B28-7CE5-D5A5-633F-0280BD608933}"/>
              </a:ext>
            </a:extLst>
          </p:cNvPr>
          <p:cNvSpPr/>
          <p:nvPr/>
        </p:nvSpPr>
        <p:spPr>
          <a:xfrm>
            <a:off x="5839815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Num2">
            <a:extLst>
              <a:ext uri="{FF2B5EF4-FFF2-40B4-BE49-F238E27FC236}">
                <a16:creationId xmlns:a16="http://schemas.microsoft.com/office/drawing/2014/main" id="{AFE06389-5721-A6F5-1B4F-F6245AF81D5E}"/>
              </a:ext>
            </a:extLst>
          </p:cNvPr>
          <p:cNvSpPr/>
          <p:nvPr/>
        </p:nvSpPr>
        <p:spPr>
          <a:xfrm>
            <a:off x="5839815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3</a:t>
            </a:r>
            <a:endParaRPr lang="en-US" sz="1680" dirty="0"/>
          </a:p>
        </p:txBody>
      </p:sp>
      <p:sp>
        <p:nvSpPr>
          <p:cNvPr id="19" name="Label2">
            <a:extLst>
              <a:ext uri="{FF2B5EF4-FFF2-40B4-BE49-F238E27FC236}">
                <a16:creationId xmlns:a16="http://schemas.microsoft.com/office/drawing/2014/main" id="{57DC3186-E35E-5649-9541-616114C9929D}"/>
              </a:ext>
            </a:extLst>
          </p:cNvPr>
          <p:cNvSpPr/>
          <p:nvPr/>
        </p:nvSpPr>
        <p:spPr>
          <a:xfrm>
            <a:off x="5166406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Purchase Orders</a:t>
            </a:r>
            <a:endParaRPr lang="en-US" sz="1500" dirty="0"/>
          </a:p>
        </p:txBody>
      </p:sp>
      <p:sp>
        <p:nvSpPr>
          <p:cNvPr id="20" name="Body2">
            <a:extLst>
              <a:ext uri="{FF2B5EF4-FFF2-40B4-BE49-F238E27FC236}">
                <a16:creationId xmlns:a16="http://schemas.microsoft.com/office/drawing/2014/main" id="{8FD88255-786C-6269-708D-6E9E35842687}"/>
              </a:ext>
            </a:extLst>
          </p:cNvPr>
          <p:cNvSpPr/>
          <p:nvPr/>
        </p:nvSpPr>
        <p:spPr>
          <a:xfrm>
            <a:off x="5166406" y="3193136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BE6"/>
                </a:solidFill>
                <a:latin typeface="Calibri" pitchFamily="34" charset="0"/>
              </a:rPr>
              <a:t>Approved items are grouped and sent to the right suppliers.</a:t>
            </a:r>
            <a:endParaRPr lang="en-US" sz="1250" dirty="0"/>
          </a:p>
        </p:txBody>
      </p:sp>
      <p:sp>
        <p:nvSpPr>
          <p:cNvPr id="21" name="Chevron2">
            <a:extLst>
              <a:ext uri="{FF2B5EF4-FFF2-40B4-BE49-F238E27FC236}">
                <a16:creationId xmlns:a16="http://schemas.microsoft.com/office/drawing/2014/main" id="{EB51D39C-F07B-5EE6-F468-04B667D367F3}"/>
              </a:ext>
            </a:extLst>
          </p:cNvPr>
          <p:cNvSpPr/>
          <p:nvPr/>
        </p:nvSpPr>
        <p:spPr>
          <a:xfrm>
            <a:off x="7115289" y="3219072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Card3">
            <a:extLst>
              <a:ext uri="{FF2B5EF4-FFF2-40B4-BE49-F238E27FC236}">
                <a16:creationId xmlns:a16="http://schemas.microsoft.com/office/drawing/2014/main" id="{590D4C30-9502-771F-C5A2-4615D2854F69}"/>
              </a:ext>
            </a:extLst>
          </p:cNvPr>
          <p:cNvSpPr/>
          <p:nvPr/>
        </p:nvSpPr>
        <p:spPr>
          <a:xfrm>
            <a:off x="7325289" y="1721072"/>
            <a:ext cx="2058883" cy="3200000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Badge3">
            <a:extLst>
              <a:ext uri="{FF2B5EF4-FFF2-40B4-BE49-F238E27FC236}">
                <a16:creationId xmlns:a16="http://schemas.microsoft.com/office/drawing/2014/main" id="{D5553DA6-EBD9-A135-0F4E-C53A8D11BF8B}"/>
              </a:ext>
            </a:extLst>
          </p:cNvPr>
          <p:cNvSpPr/>
          <p:nvPr/>
        </p:nvSpPr>
        <p:spPr>
          <a:xfrm>
            <a:off x="8098698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Num3">
            <a:extLst>
              <a:ext uri="{FF2B5EF4-FFF2-40B4-BE49-F238E27FC236}">
                <a16:creationId xmlns:a16="http://schemas.microsoft.com/office/drawing/2014/main" id="{E520D0D0-31B6-FEBC-EF35-432CBC8836A2}"/>
              </a:ext>
            </a:extLst>
          </p:cNvPr>
          <p:cNvSpPr/>
          <p:nvPr/>
        </p:nvSpPr>
        <p:spPr>
          <a:xfrm>
            <a:off x="8098698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680" dirty="0"/>
          </a:p>
        </p:txBody>
      </p:sp>
      <p:sp>
        <p:nvSpPr>
          <p:cNvPr id="25" name="Label3">
            <a:extLst>
              <a:ext uri="{FF2B5EF4-FFF2-40B4-BE49-F238E27FC236}">
                <a16:creationId xmlns:a16="http://schemas.microsoft.com/office/drawing/2014/main" id="{CA954558-69C8-90B4-A53B-3B76F97072BC}"/>
              </a:ext>
            </a:extLst>
          </p:cNvPr>
          <p:cNvSpPr/>
          <p:nvPr/>
        </p:nvSpPr>
        <p:spPr>
          <a:xfrm>
            <a:off x="7425289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Suppliers Deliver</a:t>
            </a:r>
            <a:endParaRPr lang="en-US" sz="1500" dirty="0"/>
          </a:p>
        </p:txBody>
      </p:sp>
      <p:sp>
        <p:nvSpPr>
          <p:cNvPr id="26" name="Body3">
            <a:extLst>
              <a:ext uri="{FF2B5EF4-FFF2-40B4-BE49-F238E27FC236}">
                <a16:creationId xmlns:a16="http://schemas.microsoft.com/office/drawing/2014/main" id="{CE0F0133-3BF5-C599-9BDF-4CC50C5F5D78}"/>
              </a:ext>
            </a:extLst>
          </p:cNvPr>
          <p:cNvSpPr/>
          <p:nvPr/>
        </p:nvSpPr>
        <p:spPr>
          <a:xfrm>
            <a:off x="7425289" y="3193136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BE6"/>
                </a:solidFill>
                <a:latin typeface="Calibri" pitchFamily="34" charset="0"/>
              </a:rPr>
              <a:t>Suppliers procure the items and deliver them to the plot.</a:t>
            </a:r>
            <a:endParaRPr lang="en-US" sz="1250" dirty="0"/>
          </a:p>
        </p:txBody>
      </p:sp>
      <p:sp>
        <p:nvSpPr>
          <p:cNvPr id="27" name="Chevron3">
            <a:extLst>
              <a:ext uri="{FF2B5EF4-FFF2-40B4-BE49-F238E27FC236}">
                <a16:creationId xmlns:a16="http://schemas.microsoft.com/office/drawing/2014/main" id="{571B59E7-9EE4-A806-3E6D-AA062A464C55}"/>
              </a:ext>
            </a:extLst>
          </p:cNvPr>
          <p:cNvSpPr/>
          <p:nvPr/>
        </p:nvSpPr>
        <p:spPr>
          <a:xfrm>
            <a:off x="9374172" y="3219072"/>
            <a:ext cx="220000" cy="204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Card4">
            <a:extLst>
              <a:ext uri="{FF2B5EF4-FFF2-40B4-BE49-F238E27FC236}">
                <a16:creationId xmlns:a16="http://schemas.microsoft.com/office/drawing/2014/main" id="{2D4C794A-D042-DC4C-1612-A6F20355532A}"/>
              </a:ext>
            </a:extLst>
          </p:cNvPr>
          <p:cNvSpPr/>
          <p:nvPr/>
        </p:nvSpPr>
        <p:spPr>
          <a:xfrm>
            <a:off x="9584172" y="1721072"/>
            <a:ext cx="2058883" cy="3200000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Badge4">
            <a:extLst>
              <a:ext uri="{FF2B5EF4-FFF2-40B4-BE49-F238E27FC236}">
                <a16:creationId xmlns:a16="http://schemas.microsoft.com/office/drawing/2014/main" id="{A525ACE1-F606-E7AD-FDFE-47B6A216E954}"/>
              </a:ext>
            </a:extLst>
          </p:cNvPr>
          <p:cNvSpPr/>
          <p:nvPr/>
        </p:nvSpPr>
        <p:spPr>
          <a:xfrm>
            <a:off x="10357581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Num4">
            <a:extLst>
              <a:ext uri="{FF2B5EF4-FFF2-40B4-BE49-F238E27FC236}">
                <a16:creationId xmlns:a16="http://schemas.microsoft.com/office/drawing/2014/main" id="{92A27B7F-0EBF-CFE9-B77C-1FBF39141EBB}"/>
              </a:ext>
            </a:extLst>
          </p:cNvPr>
          <p:cNvSpPr/>
          <p:nvPr/>
        </p:nvSpPr>
        <p:spPr>
          <a:xfrm>
            <a:off x="10357581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</a:rPr>
              <a:t>5</a:t>
            </a:r>
            <a:endParaRPr lang="en-US" sz="1680" dirty="0"/>
          </a:p>
        </p:txBody>
      </p:sp>
      <p:sp>
        <p:nvSpPr>
          <p:cNvPr id="31" name="Label4">
            <a:extLst>
              <a:ext uri="{FF2B5EF4-FFF2-40B4-BE49-F238E27FC236}">
                <a16:creationId xmlns:a16="http://schemas.microsoft.com/office/drawing/2014/main" id="{3726B440-853B-AB9B-AC1C-C9FFDD3C3A95}"/>
              </a:ext>
            </a:extLst>
          </p:cNvPr>
          <p:cNvSpPr/>
          <p:nvPr/>
        </p:nvSpPr>
        <p:spPr>
          <a:xfrm>
            <a:off x="9684172" y="2513136"/>
            <a:ext cx="1858883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</a:rPr>
              <a:t>Install &amp; Handover</a:t>
            </a:r>
            <a:endParaRPr lang="en-US" sz="1500" dirty="0"/>
          </a:p>
        </p:txBody>
      </p:sp>
      <p:sp>
        <p:nvSpPr>
          <p:cNvPr id="32" name="Body4">
            <a:extLst>
              <a:ext uri="{FF2B5EF4-FFF2-40B4-BE49-F238E27FC236}">
                <a16:creationId xmlns:a16="http://schemas.microsoft.com/office/drawing/2014/main" id="{39D19788-445B-B4E2-B8F4-D3764EC3B256}"/>
              </a:ext>
            </a:extLst>
          </p:cNvPr>
          <p:cNvSpPr/>
          <p:nvPr/>
        </p:nvSpPr>
        <p:spPr>
          <a:xfrm>
            <a:off x="9684172" y="3193136"/>
            <a:ext cx="1858883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9EBE6"/>
                </a:solidFill>
                <a:latin typeface="Calibri" pitchFamily="34" charset="0"/>
              </a:rPr>
              <a:t>The developer's team fits everything and hands over the finished home.</a:t>
            </a:r>
            <a:endParaRPr lang="en-US" sz="1250" dirty="0"/>
          </a:p>
        </p:txBody>
      </p:sp>
      <p:sp>
        <p:nvSpPr>
          <p:cNvPr id="33" name="DefCard0">
            <a:extLst>
              <a:ext uri="{FF2B5EF4-FFF2-40B4-BE49-F238E27FC236}">
                <a16:creationId xmlns:a16="http://schemas.microsoft.com/office/drawing/2014/main" id="{9A872437-FB95-E313-EA2B-DD331A1F8E95}"/>
              </a:ext>
            </a:extLst>
          </p:cNvPr>
          <p:cNvSpPr/>
          <p:nvPr/>
        </p:nvSpPr>
        <p:spPr>
          <a:xfrm>
            <a:off x="548640" y="5000000"/>
            <a:ext cx="5427207" cy="950000"/>
          </a:xfrm>
          <a:prstGeom prst="roundRect">
            <a:avLst>
              <a:gd name="adj" fmla="val 8000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DefText0">
            <a:extLst>
              <a:ext uri="{FF2B5EF4-FFF2-40B4-BE49-F238E27FC236}">
                <a16:creationId xmlns:a16="http://schemas.microsoft.com/office/drawing/2014/main" id="{EB81DA09-85BC-387A-669A-E490BD72DC76}"/>
              </a:ext>
            </a:extLst>
          </p:cNvPr>
          <p:cNvSpPr/>
          <p:nvPr/>
        </p:nvSpPr>
        <p:spPr>
          <a:xfrm>
            <a:off x="828640" y="5000000"/>
            <a:ext cx="4867207" cy="9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8823E"/>
                </a:solidFill>
                <a:latin typeface="Cambria" pitchFamily="34" charset="0"/>
              </a:rPr>
              <a:t>CHOICES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</a:rPr>
              <a:t>Standard finishes already included in the home price, no extra cost.</a:t>
            </a:r>
            <a:endParaRPr lang="en-US" sz="1250" dirty="0"/>
          </a:p>
        </p:txBody>
      </p:sp>
      <p:sp>
        <p:nvSpPr>
          <p:cNvPr id="35" name="DefCard1">
            <a:extLst>
              <a:ext uri="{FF2B5EF4-FFF2-40B4-BE49-F238E27FC236}">
                <a16:creationId xmlns:a16="http://schemas.microsoft.com/office/drawing/2014/main" id="{2D1941D4-5615-5C10-9F22-97BA50D38DF0}"/>
              </a:ext>
            </a:extLst>
          </p:cNvPr>
          <p:cNvSpPr/>
          <p:nvPr/>
        </p:nvSpPr>
        <p:spPr>
          <a:xfrm>
            <a:off x="6215847" y="5000000"/>
            <a:ext cx="5427207" cy="950000"/>
          </a:xfrm>
          <a:prstGeom prst="roundRect">
            <a:avLst>
              <a:gd name="adj" fmla="val 8000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DefText1">
            <a:extLst>
              <a:ext uri="{FF2B5EF4-FFF2-40B4-BE49-F238E27FC236}">
                <a16:creationId xmlns:a16="http://schemas.microsoft.com/office/drawing/2014/main" id="{0638391A-02C0-7265-CFB2-646B9398A820}"/>
              </a:ext>
            </a:extLst>
          </p:cNvPr>
          <p:cNvSpPr/>
          <p:nvPr/>
        </p:nvSpPr>
        <p:spPr>
          <a:xfrm>
            <a:off x="6495847" y="5000000"/>
            <a:ext cx="4867207" cy="9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B8823E"/>
                </a:solidFill>
                <a:latin typeface="Cambria" pitchFamily="34" charset="0"/>
              </a:rPr>
              <a:t>EXTRAS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</a:rPr>
              <a:t>Paid upgrades beyond the standard range, drawn from the buyer's personalisation allowance.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618450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BFFDF-0725-C50F-52CB-42DD4659B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0526A9-5BE1-0FC0-63F3-1D44FB34B52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69FF1187-29AB-0697-607C-4A9EFE2FE38F}"/>
              </a:ext>
            </a:extLst>
          </p:cNvPr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6ED93735-CB06-3CD7-AD12-6F352AC01DE9}"/>
              </a:ext>
            </a:extLst>
          </p:cNvPr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8F3DC5CD-A4EB-B0F7-DA1E-EAB02A6E0D88}"/>
              </a:ext>
            </a:extLst>
          </p:cNvPr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397EEC7-48E6-7CF5-A560-69A2AA308566}"/>
              </a:ext>
            </a:extLst>
          </p:cNvPr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630462B-D5E8-DE85-6F26-EC829CCE64C0}"/>
              </a:ext>
            </a:extLst>
          </p:cNvPr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596AA50-B40F-59D3-2C4F-49B93516A669}"/>
              </a:ext>
            </a:extLst>
          </p:cNvPr>
          <p:cNvSpPr/>
          <p:nvPr/>
        </p:nvSpPr>
        <p:spPr>
          <a:xfrm>
            <a:off x="640080" y="502920"/>
            <a:ext cx="1280160" cy="82296"/>
          </a:xfrm>
          <a:prstGeom prst="rect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AA9F08-08CC-A3EB-8BF4-E5AA062CC89A}"/>
              </a:ext>
            </a:extLst>
          </p:cNvPr>
          <p:cNvSpPr txBox="1"/>
          <p:nvPr/>
        </p:nvSpPr>
        <p:spPr>
          <a:xfrm>
            <a:off x="640080" y="658368"/>
            <a:ext cx="10515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Meet </a:t>
            </a:r>
            <a:r>
              <a:rPr lang="en-US" sz="3400" b="1" dirty="0">
                <a:solidFill>
                  <a:srgbClr val="FFFFFF"/>
                </a:solidFill>
                <a:latin typeface="Cambria"/>
              </a:rPr>
              <a:t>Mary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&amp; James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F20F2-93FD-FF2B-A4CA-3F68958FA7A5}"/>
              </a:ext>
            </a:extLst>
          </p:cNvPr>
          <p:cNvSpPr txBox="1"/>
          <p:nvPr/>
        </p:nvSpPr>
        <p:spPr>
          <a:xfrm>
            <a:off x="640080" y="122529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1" dirty="0">
                <a:solidFill>
                  <a:srgbClr val="BFDAD4"/>
                </a:solidFill>
                <a:latin typeface="Calibri"/>
              </a:rPr>
              <a:t>First-time buyers, three-bed new-build near Leicester, eight months from completion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F98408FE-3F6F-5343-1D16-EA4AF93E020D}"/>
              </a:ext>
            </a:extLst>
          </p:cNvPr>
          <p:cNvCxnSpPr/>
          <p:nvPr/>
        </p:nvCxnSpPr>
        <p:spPr>
          <a:xfrm>
            <a:off x="640080" y="5349240"/>
            <a:ext cx="5029200" cy="0"/>
          </a:xfrm>
          <a:prstGeom prst="line">
            <a:avLst/>
          </a:prstGeom>
          <a:ln w="1587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6551C25-F5E2-C2B6-B4BF-9039DD719699}"/>
              </a:ext>
            </a:extLst>
          </p:cNvPr>
          <p:cNvSpPr/>
          <p:nvPr/>
        </p:nvSpPr>
        <p:spPr>
          <a:xfrm>
            <a:off x="1417320" y="4160520"/>
            <a:ext cx="457200" cy="640080"/>
          </a:xfrm>
          <a:prstGeom prst="round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2A22A1-48E9-CEB3-758F-D41EFD44C4B1}"/>
              </a:ext>
            </a:extLst>
          </p:cNvPr>
          <p:cNvGrpSpPr/>
          <p:nvPr/>
        </p:nvGrpSpPr>
        <p:grpSpPr>
          <a:xfrm>
            <a:off x="777240" y="2148840"/>
            <a:ext cx="3931920" cy="3246120"/>
            <a:chOff x="777240" y="2148840"/>
            <a:chExt cx="3931920" cy="324612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E21DA8-AB4A-B583-0228-E2D4E8A6C443}"/>
                </a:ext>
              </a:extLst>
            </p:cNvPr>
            <p:cNvSpPr txBox="1"/>
            <p:nvPr/>
          </p:nvSpPr>
          <p:spPr>
            <a:xfrm>
              <a:off x="2926080" y="5138928"/>
              <a:ext cx="105156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9FC2BB"/>
                  </a:solidFill>
                  <a:latin typeface="Calibri"/>
                </a:rPr>
                <a:t>Mary</a:t>
              </a:r>
              <a:endParaRPr sz="1200" b="0" i="0" dirty="0">
                <a:solidFill>
                  <a:srgbClr val="9FC2BB"/>
                </a:solidFill>
                <a:latin typeface="Calibri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B6BE8F-EBD7-DCEB-AABA-7C35ECAAABC2}"/>
                </a:ext>
              </a:extLst>
            </p:cNvPr>
            <p:cNvSpPr txBox="1"/>
            <p:nvPr/>
          </p:nvSpPr>
          <p:spPr>
            <a:xfrm>
              <a:off x="3657600" y="5138928"/>
              <a:ext cx="105156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i="0" dirty="0">
                  <a:solidFill>
                    <a:srgbClr val="9FC2BB"/>
                  </a:solidFill>
                  <a:latin typeface="Calibri"/>
                </a:rPr>
                <a:t>James</a:t>
              </a:r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56397498-A7F3-1BDE-B80B-646EFD9CDFE2}"/>
                </a:ext>
              </a:extLst>
            </p:cNvPr>
            <p:cNvSpPr/>
            <p:nvPr/>
          </p:nvSpPr>
          <p:spPr>
            <a:xfrm>
              <a:off x="777240" y="2148840"/>
              <a:ext cx="1737360" cy="960120"/>
            </a:xfrm>
            <a:prstGeom prst="triangl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A383A5B-40CD-1ABA-0FD1-157D4FD5F82E}"/>
                </a:ext>
              </a:extLst>
            </p:cNvPr>
            <p:cNvSpPr/>
            <p:nvPr/>
          </p:nvSpPr>
          <p:spPr>
            <a:xfrm>
              <a:off x="777240" y="3108960"/>
              <a:ext cx="1737360" cy="1691640"/>
            </a:xfrm>
            <a:prstGeom prst="rect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BE0B70FF-EE69-5865-FEDB-F6917E6A3C52}"/>
                </a:ext>
              </a:extLst>
            </p:cNvPr>
            <p:cNvSpPr/>
            <p:nvPr/>
          </p:nvSpPr>
          <p:spPr>
            <a:xfrm>
              <a:off x="1965960" y="3429000"/>
              <a:ext cx="384048" cy="384048"/>
            </a:xfrm>
            <a:prstGeom prst="roundRect">
              <a:avLst/>
            </a:prstGeom>
            <a:solidFill>
              <a:srgbClr val="E8C9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C4069E6-E957-E757-05FE-4E0535F830B8}"/>
                </a:ext>
              </a:extLst>
            </p:cNvPr>
            <p:cNvSpPr/>
            <p:nvPr/>
          </p:nvSpPr>
          <p:spPr>
            <a:xfrm>
              <a:off x="3244409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5648A092-EFA4-063C-651D-B625580416B1}"/>
                </a:ext>
              </a:extLst>
            </p:cNvPr>
            <p:cNvSpPr/>
            <p:nvPr/>
          </p:nvSpPr>
          <p:spPr>
            <a:xfrm rot="10800000">
              <a:off x="3034097" y="3904488"/>
              <a:ext cx="804672" cy="1234440"/>
            </a:xfrm>
            <a:prstGeom prst="trapezoid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FB27081-FD20-F8CE-EE9D-3A98D6A8D80D}"/>
                </a:ext>
              </a:extLst>
            </p:cNvPr>
            <p:cNvSpPr/>
            <p:nvPr/>
          </p:nvSpPr>
          <p:spPr>
            <a:xfrm>
              <a:off x="3975928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6DB81446-7800-081B-D8AF-B311312678B0}"/>
                </a:ext>
              </a:extLst>
            </p:cNvPr>
            <p:cNvSpPr/>
            <p:nvPr/>
          </p:nvSpPr>
          <p:spPr>
            <a:xfrm rot="10800000">
              <a:off x="3765617" y="3904488"/>
              <a:ext cx="804672" cy="1234440"/>
            </a:xfrm>
            <a:prstGeom prst="trapezoid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35D9B6-4DC4-689B-B132-BCA47966BB76}"/>
              </a:ext>
            </a:extLst>
          </p:cNvPr>
          <p:cNvGrpSpPr/>
          <p:nvPr/>
        </p:nvGrpSpPr>
        <p:grpSpPr>
          <a:xfrm>
            <a:off x="6400800" y="1737360"/>
            <a:ext cx="2487168" cy="1965960"/>
            <a:chOff x="6400800" y="1737360"/>
            <a:chExt cx="2487168" cy="196596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48B192D2-E116-D020-65B9-E62154BE4C21}"/>
                </a:ext>
              </a:extLst>
            </p:cNvPr>
            <p:cNvSpPr/>
            <p:nvPr/>
          </p:nvSpPr>
          <p:spPr>
            <a:xfrm>
              <a:off x="6400800" y="173736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97F49572-303E-2452-1A25-6193FC553F69}"/>
                </a:ext>
              </a:extLst>
            </p:cNvPr>
            <p:cNvSpPr/>
            <p:nvPr/>
          </p:nvSpPr>
          <p:spPr>
            <a:xfrm>
              <a:off x="7187183" y="193852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116EB2-4F10-BB80-7B8D-43C549AB9E7E}"/>
                </a:ext>
              </a:extLst>
            </p:cNvPr>
            <p:cNvSpPr txBox="1"/>
            <p:nvPr/>
          </p:nvSpPr>
          <p:spPr>
            <a:xfrm>
              <a:off x="6400800" y="193852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Invite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B8FE62F-93A3-3F39-2160-F5639C999350}"/>
                </a:ext>
              </a:extLst>
            </p:cNvPr>
            <p:cNvSpPr txBox="1"/>
            <p:nvPr/>
          </p:nvSpPr>
          <p:spPr>
            <a:xfrm>
              <a:off x="6565392" y="2971800"/>
              <a:ext cx="21579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A letter arrive</a:t>
              </a:r>
              <a:r>
                <a:rPr lang="en-GB" sz="1200" b="0" i="0" dirty="0">
                  <a:solidFill>
                    <a:srgbClr val="E4F0EC"/>
                  </a:solidFill>
                  <a:latin typeface="Calibri"/>
                </a:rPr>
                <a:t>s:</a:t>
              </a: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
</a:t>
              </a:r>
              <a:r>
                <a:rPr lang="en-GB" sz="1200" b="0" i="0" dirty="0">
                  <a:solidFill>
                    <a:srgbClr val="E4F0EC"/>
                  </a:solidFill>
                  <a:latin typeface="Calibri"/>
                </a:rPr>
                <a:t>t</a:t>
              </a: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heir Choices Appointment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79D7947-CFFA-29A5-A7B4-EF83B8ED7015}"/>
              </a:ext>
            </a:extLst>
          </p:cNvPr>
          <p:cNvGrpSpPr/>
          <p:nvPr/>
        </p:nvGrpSpPr>
        <p:grpSpPr>
          <a:xfrm>
            <a:off x="9070848" y="1737360"/>
            <a:ext cx="2487168" cy="1965960"/>
            <a:chOff x="9070848" y="1737360"/>
            <a:chExt cx="2487168" cy="1965960"/>
          </a:xfrm>
        </p:grpSpPr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573199AE-5A22-757F-5CBF-27A642151154}"/>
                </a:ext>
              </a:extLst>
            </p:cNvPr>
            <p:cNvSpPr/>
            <p:nvPr/>
          </p:nvSpPr>
          <p:spPr>
            <a:xfrm>
              <a:off x="9070848" y="173736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1FA63BF-3957-8477-A1E4-04AD966FF7D2}"/>
                </a:ext>
              </a:extLst>
            </p:cNvPr>
            <p:cNvSpPr/>
            <p:nvPr/>
          </p:nvSpPr>
          <p:spPr>
            <a:xfrm>
              <a:off x="9857232" y="193852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56BBEE-A3EE-EA65-5D28-3A7D439C8F5B}"/>
                </a:ext>
              </a:extLst>
            </p:cNvPr>
            <p:cNvSpPr txBox="1"/>
            <p:nvPr/>
          </p:nvSpPr>
          <p:spPr>
            <a:xfrm>
              <a:off x="9070848" y="193852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90 min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037EE16-937B-26AE-00B9-0E61DDE7A730}"/>
                </a:ext>
              </a:extLst>
            </p:cNvPr>
            <p:cNvSpPr txBox="1"/>
            <p:nvPr/>
          </p:nvSpPr>
          <p:spPr>
            <a:xfrm>
              <a:off x="9235440" y="2971800"/>
              <a:ext cx="21579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to make decisions that
last for years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E13D40B-3967-5262-39A1-78EB14868DBD}"/>
              </a:ext>
            </a:extLst>
          </p:cNvPr>
          <p:cNvGrpSpPr/>
          <p:nvPr/>
        </p:nvGrpSpPr>
        <p:grpSpPr>
          <a:xfrm>
            <a:off x="6400800" y="3886200"/>
            <a:ext cx="2487168" cy="1965960"/>
            <a:chOff x="6400800" y="3886200"/>
            <a:chExt cx="2487168" cy="1965960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3ABB3D1-8A0F-71E9-82DE-C00F9B0E542F}"/>
                </a:ext>
              </a:extLst>
            </p:cNvPr>
            <p:cNvSpPr/>
            <p:nvPr/>
          </p:nvSpPr>
          <p:spPr>
            <a:xfrm>
              <a:off x="6400800" y="388620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FD9B414-B54A-14BA-0462-599109137870}"/>
                </a:ext>
              </a:extLst>
            </p:cNvPr>
            <p:cNvSpPr/>
            <p:nvPr/>
          </p:nvSpPr>
          <p:spPr>
            <a:xfrm>
              <a:off x="7187183" y="408736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38AF91-0BE1-809B-2CEA-66FE10D3BFAE}"/>
                </a:ext>
              </a:extLst>
            </p:cNvPr>
            <p:cNvSpPr txBox="1"/>
            <p:nvPr/>
          </p:nvSpPr>
          <p:spPr>
            <a:xfrm>
              <a:off x="6400800" y="408736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40+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0DE2CC-FD2A-20DB-BE44-B95A9C0A647D}"/>
                </a:ext>
              </a:extLst>
            </p:cNvPr>
            <p:cNvSpPr txBox="1"/>
            <p:nvPr/>
          </p:nvSpPr>
          <p:spPr>
            <a:xfrm>
              <a:off x="6565392" y="5120640"/>
              <a:ext cx="21579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choices and extras in
one sitting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CBE4AA0-34C4-F0A0-AFE5-4654A8D55C3A}"/>
              </a:ext>
            </a:extLst>
          </p:cNvPr>
          <p:cNvGrpSpPr/>
          <p:nvPr/>
        </p:nvGrpSpPr>
        <p:grpSpPr>
          <a:xfrm>
            <a:off x="9070848" y="3886200"/>
            <a:ext cx="2487168" cy="1965960"/>
            <a:chOff x="9070848" y="3886200"/>
            <a:chExt cx="2487168" cy="1965960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B442B5BD-20BB-5640-D146-35F409370181}"/>
                </a:ext>
              </a:extLst>
            </p:cNvPr>
            <p:cNvSpPr/>
            <p:nvPr/>
          </p:nvSpPr>
          <p:spPr>
            <a:xfrm>
              <a:off x="9070848" y="388620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7F000EF-989C-9DCA-5A4F-FAA6D5351102}"/>
                </a:ext>
              </a:extLst>
            </p:cNvPr>
            <p:cNvSpPr/>
            <p:nvPr/>
          </p:nvSpPr>
          <p:spPr>
            <a:xfrm>
              <a:off x="9857232" y="408736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D4CF496-5F07-3953-CB24-E81EDAC2CC05}"/>
                </a:ext>
              </a:extLst>
            </p:cNvPr>
            <p:cNvSpPr txBox="1"/>
            <p:nvPr/>
          </p:nvSpPr>
          <p:spPr>
            <a:xfrm>
              <a:off x="9070848" y="408736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£4,000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427ED03-659A-5F98-3AA7-864A003F520E}"/>
                </a:ext>
              </a:extLst>
            </p:cNvPr>
            <p:cNvSpPr txBox="1"/>
            <p:nvPr/>
          </p:nvSpPr>
          <p:spPr>
            <a:xfrm>
              <a:off x="9235440" y="5120640"/>
              <a:ext cx="2157984" cy="4284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spent that day </a:t>
              </a:r>
              <a:r>
                <a:rPr lang="en-US" sz="1200" b="0" i="0" dirty="0">
                  <a:solidFill>
                    <a:srgbClr val="E4F0EC"/>
                  </a:solidFill>
                  <a:latin typeface="Calibri"/>
                </a:rPr>
                <a:t>-</a:t>
              </a: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 some right
for their life, some not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612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0255-510A-5FA3-3D93-9F66B6C06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398A35-3624-39DF-908C-F109A73B548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1F3CBFE-A725-670D-E4C1-50731846F2B7}"/>
              </a:ext>
            </a:extLst>
          </p:cNvPr>
          <p:cNvCxnSpPr/>
          <p:nvPr/>
        </p:nvCxnSpPr>
        <p:spPr>
          <a:xfrm>
            <a:off x="201168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8F3882D-8DD5-BA46-B295-E21D47EDA099}"/>
              </a:ext>
            </a:extLst>
          </p:cNvPr>
          <p:cNvCxnSpPr/>
          <p:nvPr/>
        </p:nvCxnSpPr>
        <p:spPr>
          <a:xfrm>
            <a:off x="402336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7F49197-04AE-55F6-71F1-0008D99DC2C3}"/>
              </a:ext>
            </a:extLst>
          </p:cNvPr>
          <p:cNvCxnSpPr/>
          <p:nvPr/>
        </p:nvCxnSpPr>
        <p:spPr>
          <a:xfrm>
            <a:off x="603504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3095742-6858-CCAB-8BF0-1A6217E86C71}"/>
              </a:ext>
            </a:extLst>
          </p:cNvPr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5F407B3-BF6D-E689-0C78-7A233B0115BA}"/>
              </a:ext>
            </a:extLst>
          </p:cNvPr>
          <p:cNvCxnSpPr/>
          <p:nvPr/>
        </p:nvCxnSpPr>
        <p:spPr>
          <a:xfrm>
            <a:off x="10058400" y="0"/>
            <a:ext cx="0" cy="6858000"/>
          </a:xfrm>
          <a:prstGeom prst="line">
            <a:avLst/>
          </a:prstGeom>
          <a:ln w="9525">
            <a:solidFill>
              <a:srgbClr val="2E5F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DFCC9E74-60CD-3291-C524-B06238B4E6C8}"/>
              </a:ext>
            </a:extLst>
          </p:cNvPr>
          <p:cNvSpPr/>
          <p:nvPr/>
        </p:nvSpPr>
        <p:spPr>
          <a:xfrm>
            <a:off x="640080" y="502920"/>
            <a:ext cx="1280160" cy="82296"/>
          </a:xfrm>
          <a:prstGeom prst="rect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BB5EB-0EA6-0B04-E9BB-9B6AF29F04C0}"/>
              </a:ext>
            </a:extLst>
          </p:cNvPr>
          <p:cNvSpPr txBox="1"/>
          <p:nvPr/>
        </p:nvSpPr>
        <p:spPr>
          <a:xfrm>
            <a:off x="640080" y="658368"/>
            <a:ext cx="10515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>
                <a:solidFill>
                  <a:srgbClr val="FFFFFF"/>
                </a:solidFill>
                <a:latin typeface="Cambria"/>
              </a:rPr>
              <a:t>Meet </a:t>
            </a:r>
            <a:r>
              <a:rPr lang="en-US" sz="3400" b="1" dirty="0">
                <a:solidFill>
                  <a:srgbClr val="FFFFFF"/>
                </a:solidFill>
                <a:latin typeface="Cambria"/>
              </a:rPr>
              <a:t>Mary</a:t>
            </a:r>
            <a:r>
              <a:rPr sz="3400" b="1" i="0" dirty="0">
                <a:solidFill>
                  <a:srgbClr val="FFFFFF"/>
                </a:solidFill>
                <a:latin typeface="Cambria"/>
              </a:rPr>
              <a:t> &amp; James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FD44F-31E1-FE6E-13E8-FC9A9E7A10F9}"/>
              </a:ext>
            </a:extLst>
          </p:cNvPr>
          <p:cNvSpPr txBox="1"/>
          <p:nvPr/>
        </p:nvSpPr>
        <p:spPr>
          <a:xfrm>
            <a:off x="640080" y="122529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1" dirty="0">
                <a:solidFill>
                  <a:srgbClr val="BFDAD4"/>
                </a:solidFill>
                <a:latin typeface="Calibri"/>
              </a:rPr>
              <a:t>First-time buyers, three-bed new-build near Leicester, eight months from completion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6BE9DE-8CA6-80F0-36AD-1B30E822F7E3}"/>
              </a:ext>
            </a:extLst>
          </p:cNvPr>
          <p:cNvSpPr txBox="1"/>
          <p:nvPr/>
        </p:nvSpPr>
        <p:spPr>
          <a:xfrm>
            <a:off x="2926080" y="5138928"/>
            <a:ext cx="10515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 i="0" dirty="0">
                <a:solidFill>
                  <a:srgbClr val="9FC2BB"/>
                </a:solidFill>
                <a:latin typeface="Calibri"/>
              </a:rPr>
              <a:t>Mary</a:t>
            </a:r>
            <a:endParaRPr sz="1200" b="0" i="0" dirty="0">
              <a:solidFill>
                <a:srgbClr val="9FC2BB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7CC73B-D16D-B5A0-E07E-61B51A69DB1B}"/>
              </a:ext>
            </a:extLst>
          </p:cNvPr>
          <p:cNvSpPr txBox="1"/>
          <p:nvPr/>
        </p:nvSpPr>
        <p:spPr>
          <a:xfrm>
            <a:off x="3657600" y="5138928"/>
            <a:ext cx="1051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9FC2BB"/>
                </a:solidFill>
                <a:latin typeface="Calibri"/>
              </a:rPr>
              <a:t>James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74F420-FFB3-317E-76AA-0186FD465DB1}"/>
              </a:ext>
            </a:extLst>
          </p:cNvPr>
          <p:cNvGrpSpPr/>
          <p:nvPr/>
        </p:nvGrpSpPr>
        <p:grpSpPr>
          <a:xfrm>
            <a:off x="640080" y="2148840"/>
            <a:ext cx="5126924" cy="3200400"/>
            <a:chOff x="640080" y="2148840"/>
            <a:chExt cx="5126924" cy="3200400"/>
          </a:xfrm>
        </p:grpSpPr>
        <p:cxnSp>
          <p:nvCxnSpPr>
            <p:cNvPr id="11" name="Connector 10">
              <a:extLst>
                <a:ext uri="{FF2B5EF4-FFF2-40B4-BE49-F238E27FC236}">
                  <a16:creationId xmlns:a16="http://schemas.microsoft.com/office/drawing/2014/main" id="{925CB3D9-7292-FD06-7862-F94D15AD9DE4}"/>
                </a:ext>
              </a:extLst>
            </p:cNvPr>
            <p:cNvCxnSpPr/>
            <p:nvPr/>
          </p:nvCxnSpPr>
          <p:spPr>
            <a:xfrm>
              <a:off x="640080" y="5349240"/>
              <a:ext cx="5029200" cy="0"/>
            </a:xfrm>
            <a:prstGeom prst="line">
              <a:avLst/>
            </a:prstGeom>
            <a:ln w="15875">
              <a:solidFill>
                <a:srgbClr val="2E5F5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A48FF6B-9453-0514-C615-ACF1F724520A}"/>
                </a:ext>
              </a:extLst>
            </p:cNvPr>
            <p:cNvSpPr/>
            <p:nvPr/>
          </p:nvSpPr>
          <p:spPr>
            <a:xfrm>
              <a:off x="777240" y="2148840"/>
              <a:ext cx="1737360" cy="960120"/>
            </a:xfrm>
            <a:prstGeom prst="triangl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29CDE34-74FF-E70C-3108-D6C5AD8D6BEB}"/>
                </a:ext>
              </a:extLst>
            </p:cNvPr>
            <p:cNvSpPr/>
            <p:nvPr/>
          </p:nvSpPr>
          <p:spPr>
            <a:xfrm>
              <a:off x="777240" y="3108960"/>
              <a:ext cx="1737360" cy="1691640"/>
            </a:xfrm>
            <a:prstGeom prst="rect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C654C3F-9070-485C-F02C-E4F984BF99FC}"/>
                </a:ext>
              </a:extLst>
            </p:cNvPr>
            <p:cNvSpPr/>
            <p:nvPr/>
          </p:nvSpPr>
          <p:spPr>
            <a:xfrm>
              <a:off x="1417320" y="4160520"/>
              <a:ext cx="457200" cy="640080"/>
            </a:xfrm>
            <a:prstGeom prst="roundRect">
              <a:avLst/>
            </a:prstGeom>
            <a:solidFill>
              <a:srgbClr val="0F30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1F2DFD67-8A3D-B46C-7B2B-565DF66ADD19}"/>
                </a:ext>
              </a:extLst>
            </p:cNvPr>
            <p:cNvSpPr/>
            <p:nvPr/>
          </p:nvSpPr>
          <p:spPr>
            <a:xfrm>
              <a:off x="1965960" y="3429000"/>
              <a:ext cx="384048" cy="384048"/>
            </a:xfrm>
            <a:prstGeom prst="roundRect">
              <a:avLst/>
            </a:prstGeom>
            <a:solidFill>
              <a:srgbClr val="E8C9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53A2655-140A-72CC-8256-26FC8F9AA0DB}"/>
                </a:ext>
              </a:extLst>
            </p:cNvPr>
            <p:cNvSpPr/>
            <p:nvPr/>
          </p:nvSpPr>
          <p:spPr>
            <a:xfrm>
              <a:off x="3244409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C9B779EF-F11D-116D-B205-517BFE280598}"/>
                </a:ext>
              </a:extLst>
            </p:cNvPr>
            <p:cNvSpPr/>
            <p:nvPr/>
          </p:nvSpPr>
          <p:spPr>
            <a:xfrm rot="10800000">
              <a:off x="3034097" y="3904488"/>
              <a:ext cx="804672" cy="1234440"/>
            </a:xfrm>
            <a:prstGeom prst="trapezoid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ECB0D48-8E51-CC28-F766-CBC55228BDFF}"/>
                </a:ext>
              </a:extLst>
            </p:cNvPr>
            <p:cNvSpPr/>
            <p:nvPr/>
          </p:nvSpPr>
          <p:spPr>
            <a:xfrm>
              <a:off x="3975928" y="3520440"/>
              <a:ext cx="384048" cy="384048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0" name="Trapezoid 19">
              <a:extLst>
                <a:ext uri="{FF2B5EF4-FFF2-40B4-BE49-F238E27FC236}">
                  <a16:creationId xmlns:a16="http://schemas.microsoft.com/office/drawing/2014/main" id="{EAE6198B-5BD9-E84A-BC59-A27AAE142531}"/>
                </a:ext>
              </a:extLst>
            </p:cNvPr>
            <p:cNvSpPr/>
            <p:nvPr/>
          </p:nvSpPr>
          <p:spPr>
            <a:xfrm rot="10800000">
              <a:off x="3765617" y="3904488"/>
              <a:ext cx="804672" cy="1234440"/>
            </a:xfrm>
            <a:prstGeom prst="trapezoid">
              <a:avLst/>
            </a:prstGeom>
            <a:solidFill>
              <a:srgbClr val="2D6B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A8B7D62-1D1A-FED8-33D0-8016B54FD191}"/>
                </a:ext>
              </a:extLst>
            </p:cNvPr>
            <p:cNvSpPr/>
            <p:nvPr/>
          </p:nvSpPr>
          <p:spPr>
            <a:xfrm>
              <a:off x="4616009" y="4206240"/>
              <a:ext cx="237744" cy="237744"/>
            </a:xfrm>
            <a:prstGeom prst="ellipse">
              <a:avLst/>
            </a:prstGeom>
            <a:solidFill>
              <a:srgbClr val="D9B38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3" name="Trapezoid 22">
              <a:extLst>
                <a:ext uri="{FF2B5EF4-FFF2-40B4-BE49-F238E27FC236}">
                  <a16:creationId xmlns:a16="http://schemas.microsoft.com/office/drawing/2014/main" id="{E0DEE19C-ACA7-E540-4F38-8DE7EE6E700D}"/>
                </a:ext>
              </a:extLst>
            </p:cNvPr>
            <p:cNvSpPr/>
            <p:nvPr/>
          </p:nvSpPr>
          <p:spPr>
            <a:xfrm rot="10800000">
              <a:off x="4478849" y="4443984"/>
              <a:ext cx="512064" cy="777240"/>
            </a:xfrm>
            <a:prstGeom prst="trapezoid">
              <a:avLst/>
            </a:prstGeom>
            <a:solidFill>
              <a:srgbClr val="E8C9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E2668F-9CD9-1A67-09F5-D47883E2A996}"/>
                </a:ext>
              </a:extLst>
            </p:cNvPr>
            <p:cNvSpPr/>
            <p:nvPr/>
          </p:nvSpPr>
          <p:spPr>
            <a:xfrm>
              <a:off x="5081204" y="4928617"/>
              <a:ext cx="502920" cy="292608"/>
            </a:xfrm>
            <a:prstGeom prst="ellipse">
              <a:avLst/>
            </a:prstGeom>
            <a:solidFill>
              <a:srgbClr val="A97A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4752CB-9D2C-B335-35A2-646C74108206}"/>
                </a:ext>
              </a:extLst>
            </p:cNvPr>
            <p:cNvSpPr/>
            <p:nvPr/>
          </p:nvSpPr>
          <p:spPr>
            <a:xfrm>
              <a:off x="5510972" y="4800601"/>
              <a:ext cx="256032" cy="256032"/>
            </a:xfrm>
            <a:prstGeom prst="ellipse">
              <a:avLst/>
            </a:prstGeom>
            <a:solidFill>
              <a:srgbClr val="A97A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C7CFE238-E78E-B854-4C06-18104C6C1A1F}"/>
                </a:ext>
              </a:extLst>
            </p:cNvPr>
            <p:cNvSpPr/>
            <p:nvPr/>
          </p:nvSpPr>
          <p:spPr>
            <a:xfrm rot="1200000">
              <a:off x="5520116" y="4718305"/>
              <a:ext cx="109728" cy="146304"/>
            </a:xfrm>
            <a:prstGeom prst="triangle">
              <a:avLst/>
            </a:prstGeom>
            <a:solidFill>
              <a:srgbClr val="A97A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D9A0ADCB-88C4-2A62-F308-06E38C10E5AB}"/>
                </a:ext>
              </a:extLst>
            </p:cNvPr>
            <p:cNvSpPr/>
            <p:nvPr/>
          </p:nvSpPr>
          <p:spPr>
            <a:xfrm rot="20400000">
              <a:off x="5657276" y="4718305"/>
              <a:ext cx="109728" cy="146304"/>
            </a:xfrm>
            <a:prstGeom prst="triangle">
              <a:avLst/>
            </a:prstGeom>
            <a:solidFill>
              <a:srgbClr val="A97A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1DCD73AD-6F9E-14BC-FB17-1B13461780E3}"/>
                </a:ext>
              </a:extLst>
            </p:cNvPr>
            <p:cNvSpPr/>
            <p:nvPr/>
          </p:nvSpPr>
          <p:spPr>
            <a:xfrm rot="12000000">
              <a:off x="4962332" y="4855465"/>
              <a:ext cx="146304" cy="201168"/>
            </a:xfrm>
            <a:prstGeom prst="triangle">
              <a:avLst/>
            </a:prstGeom>
            <a:solidFill>
              <a:srgbClr val="A97A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B59AEA8-4389-4FC1-A88E-D65C70EB24A5}"/>
              </a:ext>
            </a:extLst>
          </p:cNvPr>
          <p:cNvGrpSpPr/>
          <p:nvPr/>
        </p:nvGrpSpPr>
        <p:grpSpPr>
          <a:xfrm>
            <a:off x="6400800" y="1737360"/>
            <a:ext cx="2487168" cy="1965960"/>
            <a:chOff x="6400800" y="1737360"/>
            <a:chExt cx="2487168" cy="1965960"/>
          </a:xfrm>
        </p:grpSpPr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29D621B-E587-BA56-AB8E-BE583B8AB1BA}"/>
                </a:ext>
              </a:extLst>
            </p:cNvPr>
            <p:cNvSpPr/>
            <p:nvPr/>
          </p:nvSpPr>
          <p:spPr>
            <a:xfrm>
              <a:off x="6400800" y="173736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44C5B2A-9FE7-4F0C-0D93-27D917495C05}"/>
                </a:ext>
              </a:extLst>
            </p:cNvPr>
            <p:cNvSpPr/>
            <p:nvPr/>
          </p:nvSpPr>
          <p:spPr>
            <a:xfrm>
              <a:off x="7187183" y="193852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83FD44-C28E-3488-E773-0996A48D7405}"/>
                </a:ext>
              </a:extLst>
            </p:cNvPr>
            <p:cNvSpPr txBox="1"/>
            <p:nvPr/>
          </p:nvSpPr>
          <p:spPr>
            <a:xfrm>
              <a:off x="6400800" y="193852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Invite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73DE3BC-08B1-6A32-9387-39D85027E3CD}"/>
                </a:ext>
              </a:extLst>
            </p:cNvPr>
            <p:cNvSpPr txBox="1"/>
            <p:nvPr/>
          </p:nvSpPr>
          <p:spPr>
            <a:xfrm>
              <a:off x="6565392" y="2971800"/>
              <a:ext cx="21579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A letter arrive</a:t>
              </a:r>
              <a:r>
                <a:rPr lang="en-GB" sz="1200" b="0" i="0" dirty="0">
                  <a:solidFill>
                    <a:srgbClr val="E4F0EC"/>
                  </a:solidFill>
                  <a:latin typeface="Calibri"/>
                </a:rPr>
                <a:t>s:</a:t>
              </a: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
</a:t>
              </a:r>
              <a:r>
                <a:rPr lang="en-GB" sz="1200" b="0" i="0" dirty="0">
                  <a:solidFill>
                    <a:srgbClr val="E4F0EC"/>
                  </a:solidFill>
                  <a:latin typeface="Calibri"/>
                </a:rPr>
                <a:t>t</a:t>
              </a: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heir Choices Appointment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5A27567-5EBF-B8FB-6F26-45E7FF2FA6BA}"/>
              </a:ext>
            </a:extLst>
          </p:cNvPr>
          <p:cNvGrpSpPr/>
          <p:nvPr/>
        </p:nvGrpSpPr>
        <p:grpSpPr>
          <a:xfrm>
            <a:off x="9070848" y="1737360"/>
            <a:ext cx="2487168" cy="1965960"/>
            <a:chOff x="9070848" y="1737360"/>
            <a:chExt cx="2487168" cy="1965960"/>
          </a:xfrm>
        </p:grpSpPr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665E2650-EC7B-E2F4-86B2-66F23105A731}"/>
                </a:ext>
              </a:extLst>
            </p:cNvPr>
            <p:cNvSpPr/>
            <p:nvPr/>
          </p:nvSpPr>
          <p:spPr>
            <a:xfrm>
              <a:off x="9070848" y="173736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4E95D5E-F6F9-999D-170A-D95968EC916B}"/>
                </a:ext>
              </a:extLst>
            </p:cNvPr>
            <p:cNvSpPr/>
            <p:nvPr/>
          </p:nvSpPr>
          <p:spPr>
            <a:xfrm>
              <a:off x="9857232" y="193852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AEB02A3-726F-03F3-6148-C2077FDEEBDA}"/>
                </a:ext>
              </a:extLst>
            </p:cNvPr>
            <p:cNvSpPr txBox="1"/>
            <p:nvPr/>
          </p:nvSpPr>
          <p:spPr>
            <a:xfrm>
              <a:off x="9070848" y="193852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90 min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2E759FA-4D82-024D-8898-DE05D0A96533}"/>
                </a:ext>
              </a:extLst>
            </p:cNvPr>
            <p:cNvSpPr txBox="1"/>
            <p:nvPr/>
          </p:nvSpPr>
          <p:spPr>
            <a:xfrm>
              <a:off x="9235440" y="2971800"/>
              <a:ext cx="21579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to make decisions that
last for years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FB586F3-374E-8C7A-6A77-D0D74721AF4E}"/>
              </a:ext>
            </a:extLst>
          </p:cNvPr>
          <p:cNvGrpSpPr/>
          <p:nvPr/>
        </p:nvGrpSpPr>
        <p:grpSpPr>
          <a:xfrm>
            <a:off x="6400800" y="3886200"/>
            <a:ext cx="2487168" cy="1965960"/>
            <a:chOff x="6400800" y="3886200"/>
            <a:chExt cx="2487168" cy="196596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BACCF849-C566-A825-EFF7-00E97314BD0A}"/>
                </a:ext>
              </a:extLst>
            </p:cNvPr>
            <p:cNvSpPr/>
            <p:nvPr/>
          </p:nvSpPr>
          <p:spPr>
            <a:xfrm>
              <a:off x="6400800" y="388620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D364906-10D4-A312-FB43-A46F1B3423E2}"/>
                </a:ext>
              </a:extLst>
            </p:cNvPr>
            <p:cNvSpPr/>
            <p:nvPr/>
          </p:nvSpPr>
          <p:spPr>
            <a:xfrm>
              <a:off x="7187183" y="408736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73D925-70CC-DA92-FE88-3D827E6BF7E5}"/>
                </a:ext>
              </a:extLst>
            </p:cNvPr>
            <p:cNvSpPr txBox="1"/>
            <p:nvPr/>
          </p:nvSpPr>
          <p:spPr>
            <a:xfrm>
              <a:off x="6400800" y="408736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40+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B26E484-8224-19F2-59A6-1EB531755FBD}"/>
                </a:ext>
              </a:extLst>
            </p:cNvPr>
            <p:cNvSpPr txBox="1"/>
            <p:nvPr/>
          </p:nvSpPr>
          <p:spPr>
            <a:xfrm>
              <a:off x="6565392" y="5120640"/>
              <a:ext cx="2157984" cy="5943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choices and extras in
one sitting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F46256D-16D4-FFCF-BF7B-394076E3DC26}"/>
              </a:ext>
            </a:extLst>
          </p:cNvPr>
          <p:cNvGrpSpPr/>
          <p:nvPr/>
        </p:nvGrpSpPr>
        <p:grpSpPr>
          <a:xfrm>
            <a:off x="9070848" y="3886200"/>
            <a:ext cx="2487168" cy="1965960"/>
            <a:chOff x="9070848" y="3886200"/>
            <a:chExt cx="2487168" cy="1965960"/>
          </a:xfrm>
        </p:grpSpPr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788B9297-1829-4A5A-494B-C0645B3A03F2}"/>
                </a:ext>
              </a:extLst>
            </p:cNvPr>
            <p:cNvSpPr/>
            <p:nvPr/>
          </p:nvSpPr>
          <p:spPr>
            <a:xfrm>
              <a:off x="9070848" y="3886200"/>
              <a:ext cx="2487168" cy="1965960"/>
            </a:xfrm>
            <a:prstGeom prst="roundRect">
              <a:avLst/>
            </a:prstGeom>
            <a:solidFill>
              <a:srgbClr val="1B4A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8ECCC5E-4B8A-13F7-9801-651DC79B2E2E}"/>
                </a:ext>
              </a:extLst>
            </p:cNvPr>
            <p:cNvSpPr/>
            <p:nvPr/>
          </p:nvSpPr>
          <p:spPr>
            <a:xfrm>
              <a:off x="9857232" y="4087368"/>
              <a:ext cx="914400" cy="914400"/>
            </a:xfrm>
            <a:prstGeom prst="ellipse">
              <a:avLst/>
            </a:prstGeom>
            <a:solidFill>
              <a:srgbClr val="B882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4CC5580-1C84-CC17-E5DC-11B735DAE7DD}"/>
                </a:ext>
              </a:extLst>
            </p:cNvPr>
            <p:cNvSpPr txBox="1"/>
            <p:nvPr/>
          </p:nvSpPr>
          <p:spPr>
            <a:xfrm>
              <a:off x="9070848" y="4087368"/>
              <a:ext cx="2487168" cy="9144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900" b="1" i="0" dirty="0">
                  <a:solidFill>
                    <a:srgbClr val="FFFFFF"/>
                  </a:solidFill>
                  <a:latin typeface="Cambria"/>
                </a:rPr>
                <a:t>£4,000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E606C5F-4504-AACD-4A36-001740A8F7A1}"/>
                </a:ext>
              </a:extLst>
            </p:cNvPr>
            <p:cNvSpPr txBox="1"/>
            <p:nvPr/>
          </p:nvSpPr>
          <p:spPr>
            <a:xfrm>
              <a:off x="9235440" y="5120640"/>
              <a:ext cx="2157984" cy="42845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spent that day </a:t>
              </a:r>
              <a:r>
                <a:rPr lang="en-US" sz="1200" b="0" i="0" dirty="0">
                  <a:solidFill>
                    <a:srgbClr val="E4F0EC"/>
                  </a:solidFill>
                  <a:latin typeface="Calibri"/>
                </a:rPr>
                <a:t>-</a:t>
              </a:r>
              <a:r>
                <a:rPr sz="1200" b="0" i="0" dirty="0">
                  <a:solidFill>
                    <a:srgbClr val="E4F0EC"/>
                  </a:solidFill>
                  <a:latin typeface="Calibri"/>
                </a:rPr>
                <a:t> some right
for their life, some not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C8A3F8F-9567-F908-5EC3-59FB5015A568}"/>
              </a:ext>
            </a:extLst>
          </p:cNvPr>
          <p:cNvGrpSpPr/>
          <p:nvPr/>
        </p:nvGrpSpPr>
        <p:grpSpPr>
          <a:xfrm>
            <a:off x="640080" y="5806440"/>
            <a:ext cx="5669280" cy="960120"/>
            <a:chOff x="640080" y="5806440"/>
            <a:chExt cx="5669280" cy="960120"/>
          </a:xfrm>
        </p:grpSpPr>
        <p:cxnSp>
          <p:nvCxnSpPr>
            <p:cNvPr id="50" name="Connector 49">
              <a:extLst>
                <a:ext uri="{FF2B5EF4-FFF2-40B4-BE49-F238E27FC236}">
                  <a16:creationId xmlns:a16="http://schemas.microsoft.com/office/drawing/2014/main" id="{8E5DEC87-CF77-35BF-1C2D-E269F7414263}"/>
                </a:ext>
              </a:extLst>
            </p:cNvPr>
            <p:cNvCxnSpPr/>
            <p:nvPr/>
          </p:nvCxnSpPr>
          <p:spPr>
            <a:xfrm>
              <a:off x="640080" y="5806440"/>
              <a:ext cx="5029200" cy="0"/>
            </a:xfrm>
            <a:prstGeom prst="line">
              <a:avLst/>
            </a:prstGeom>
            <a:ln w="12700">
              <a:solidFill>
                <a:srgbClr val="2E5F5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605152-41BD-B752-B319-80CB25AA1B05}"/>
                </a:ext>
              </a:extLst>
            </p:cNvPr>
            <p:cNvSpPr txBox="1"/>
            <p:nvPr/>
          </p:nvSpPr>
          <p:spPr>
            <a:xfrm>
              <a:off x="640080" y="5989320"/>
              <a:ext cx="5669280" cy="7772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2100" b="0" i="1" dirty="0">
                  <a:solidFill>
                    <a:srgbClr val="B8823E"/>
                  </a:solidFill>
                  <a:latin typeface="Cambria"/>
                </a:rPr>
                <a:t>Nobody in that room knew they had a toddler and a dog.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5313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HomifyOne needed?</a:t>
            </a:r>
            <a:endParaRPr lang="en-US" sz="3000" dirty="0">
              <a:solidFill>
                <a:srgbClr val="1B4A45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stakeholders, four unaddressed problems and no existing tool solves them together.</a:t>
            </a:r>
            <a:endParaRPr lang="en-US" sz="1400" dirty="0"/>
          </a:p>
        </p:txBody>
      </p:sp>
      <p:sp>
        <p:nvSpPr>
          <p:cNvPr id="24" name="Rounded Rectangle 23"/>
          <p:cNvSpPr/>
          <p:nvPr/>
        </p:nvSpPr>
        <p:spPr>
          <a:xfrm>
            <a:off x="548640" y="1600200"/>
            <a:ext cx="2601468" cy="324612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>
            <a:outerShdw blurRad="40000" dist="18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Oval 24"/>
          <p:cNvSpPr/>
          <p:nvPr/>
        </p:nvSpPr>
        <p:spPr>
          <a:xfrm>
            <a:off x="1483614" y="1874519"/>
            <a:ext cx="731520" cy="731520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23271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1B4A45"/>
                </a:solidFill>
                <a:latin typeface="Cambria"/>
              </a:rPr>
              <a:t>Buyers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172968"/>
            <a:ext cx="2199132" cy="1561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lang="en-GB" sz="1200" b="0" i="0" dirty="0">
                <a:solidFill>
                  <a:srgbClr val="101828"/>
                </a:solidFill>
                <a:latin typeface="Calibri"/>
              </a:rPr>
              <a:t>First-time buyers often pick from huge catalogues with little help. Many aren't sure what their budget really allows, or what would actually work for how they live, even though buying a home is a big, one-time decision.</a:t>
            </a:r>
            <a:endParaRPr sz="1200" b="0" i="0" dirty="0">
              <a:solidFill>
                <a:srgbClr val="101828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378708" y="1600200"/>
            <a:ext cx="2601468" cy="324612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>
            <a:outerShdw blurRad="40000" dist="18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Oval 28"/>
          <p:cNvSpPr/>
          <p:nvPr/>
        </p:nvSpPr>
        <p:spPr>
          <a:xfrm>
            <a:off x="4313682" y="1874519"/>
            <a:ext cx="731520" cy="731520"/>
          </a:xfrm>
          <a:prstGeom prst="ellipse">
            <a:avLst/>
          </a:prstGeom>
          <a:solidFill>
            <a:srgbClr val="1B4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7288" y="2698146"/>
            <a:ext cx="2464308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1B4A45"/>
                </a:solidFill>
                <a:latin typeface="Cambria"/>
              </a:rPr>
              <a:t>Developers</a:t>
            </a:r>
            <a:r>
              <a:rPr lang="en-US" sz="1600" b="1" dirty="0">
                <a:solidFill>
                  <a:srgbClr val="1B4A45"/>
                </a:solidFill>
                <a:latin typeface="Cambria"/>
              </a:rPr>
              <a:t> </a:t>
            </a:r>
          </a:p>
          <a:p>
            <a:pPr algn="ctr"/>
            <a:r>
              <a:rPr lang="en-US" sz="1600" b="1" dirty="0">
                <a:solidFill>
                  <a:srgbClr val="1B4A45"/>
                </a:solidFill>
                <a:latin typeface="Cambria"/>
              </a:rPr>
              <a:t>(</a:t>
            </a:r>
            <a:r>
              <a:rPr lang="en-US" sz="1600" b="1" i="0" dirty="0">
                <a:solidFill>
                  <a:srgbClr val="1B4A45"/>
                </a:solidFill>
                <a:latin typeface="Cambria"/>
              </a:rPr>
              <a:t>Site Managers)</a:t>
            </a:r>
            <a:endParaRPr sz="1600" b="1" i="0" dirty="0">
              <a:solidFill>
                <a:srgbClr val="1B4A45"/>
              </a:solidFill>
              <a:latin typeface="Cambri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79876" y="3223260"/>
            <a:ext cx="2199132" cy="1336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 i="0" dirty="0">
                <a:solidFill>
                  <a:srgbClr val="101828"/>
                </a:solidFill>
                <a:latin typeface="Calibri"/>
              </a:rPr>
              <a:t>Managing many buyers at once means juggling selection approvals, purchase orders and supplier communication</a:t>
            </a:r>
            <a:r>
              <a:rPr lang="en-US" sz="1200" dirty="0">
                <a:solidFill>
                  <a:srgbClr val="101828"/>
                </a:solidFill>
                <a:latin typeface="Calibri"/>
              </a:rPr>
              <a:t>, </a:t>
            </a:r>
            <a:r>
              <a:rPr sz="1200" b="0" i="0" dirty="0">
                <a:solidFill>
                  <a:srgbClr val="101828"/>
                </a:solidFill>
                <a:latin typeface="Calibri"/>
              </a:rPr>
              <a:t>split across email, spreadsheets and generic project tools.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1600200"/>
            <a:ext cx="2601468" cy="324612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>
            <a:outerShdw blurRad="40000" dist="18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Oval 32"/>
          <p:cNvSpPr/>
          <p:nvPr/>
        </p:nvSpPr>
        <p:spPr>
          <a:xfrm>
            <a:off x="7143750" y="1874519"/>
            <a:ext cx="731520" cy="731520"/>
          </a:xfrm>
          <a:prstGeom prst="ellipse">
            <a:avLst/>
          </a:prstGeom>
          <a:solidFill>
            <a:srgbClr val="2D6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2788920"/>
            <a:ext cx="23271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1B4A45"/>
                </a:solidFill>
                <a:latin typeface="Cambria"/>
              </a:rPr>
              <a:t>Suppliers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172968"/>
            <a:ext cx="2199132" cy="1110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 i="0" dirty="0">
                <a:solidFill>
                  <a:srgbClr val="101828"/>
                </a:solidFill>
                <a:latin typeface="Calibri"/>
              </a:rPr>
              <a:t>Order communication arrives unstructured, with no dedicated portal to accept orders, confirm delivery timelines, or submit invoices.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8844" y="1600200"/>
            <a:ext cx="2601468" cy="3246120"/>
          </a:xfrm>
          <a:prstGeom prst="roundRect">
            <a:avLst/>
          </a:prstGeom>
          <a:solidFill>
            <a:srgbClr val="EDEAE2"/>
          </a:solidFill>
          <a:ln>
            <a:noFill/>
          </a:ln>
          <a:effectLst>
            <a:outerShdw blurRad="40000" dist="18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Oval 36"/>
          <p:cNvSpPr/>
          <p:nvPr/>
        </p:nvSpPr>
        <p:spPr>
          <a:xfrm>
            <a:off x="9973817" y="1874519"/>
            <a:ext cx="731520" cy="731520"/>
          </a:xfrm>
          <a:prstGeom prst="ellipse">
            <a:avLst/>
          </a:prstGeom>
          <a:solidFill>
            <a:srgbClr val="6B5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6004" y="2788920"/>
            <a:ext cx="23271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1B4A45"/>
                </a:solidFill>
                <a:latin typeface="Cambria"/>
              </a:rPr>
              <a:t>Admin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0012" y="3172968"/>
            <a:ext cx="2199132" cy="8855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0" i="0" dirty="0">
                <a:solidFill>
                  <a:srgbClr val="101828"/>
                </a:solidFill>
                <a:latin typeface="Calibri"/>
              </a:rPr>
              <a:t>No centralised governance layer to manage user accounts, maintain product data, or monitor platform activity in one place.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074920"/>
            <a:ext cx="11064240" cy="1097280"/>
          </a:xfrm>
          <a:prstGeom prst="roundRect">
            <a:avLst/>
          </a:prstGeom>
          <a:solidFill>
            <a:srgbClr val="1B4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Box 40"/>
          <p:cNvSpPr txBox="1"/>
          <p:nvPr/>
        </p:nvSpPr>
        <p:spPr>
          <a:xfrm>
            <a:off x="914400" y="523036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E8C989"/>
                </a:solidFill>
                <a:latin typeface="Cambria"/>
              </a:rPr>
              <a:t>HomifyOne's premise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550408"/>
            <a:ext cx="101498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</a:rPr>
              <a:t>One platform that brings Buyers, Developers, Suppliers and Admins together</a:t>
            </a:r>
            <a:r>
              <a:rPr lang="en-GB" sz="1400" dirty="0">
                <a:solidFill>
                  <a:schemeClr val="bg1"/>
                </a:solidFill>
              </a:rPr>
              <a:t>, solving all four problems in one connected system instead of using four separate 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200" b="1" dirty="0">
                <a:solidFill>
                  <a:srgbClr val="1B4A45"/>
                </a:solidFill>
              </a:rPr>
              <a:t>What </a:t>
            </a:r>
            <a:r>
              <a:rPr lang="en-GB" sz="3200" b="1" dirty="0" err="1">
                <a:solidFill>
                  <a:srgbClr val="1B4A45"/>
                </a:solidFill>
              </a:rPr>
              <a:t>HomifyOne</a:t>
            </a:r>
            <a:r>
              <a:rPr lang="en-GB" sz="3200" b="1" dirty="0">
                <a:solidFill>
                  <a:srgbClr val="1B4A45"/>
                </a:solidFill>
              </a:rPr>
              <a:t> Set Out to Achieve?</a:t>
            </a:r>
            <a:endParaRPr lang="en-US" sz="3000" b="1" dirty="0">
              <a:solidFill>
                <a:srgbClr val="1B4A45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605279"/>
            <a:ext cx="4937760" cy="4429760"/>
          </a:xfrm>
          <a:prstGeom prst="roundRect">
            <a:avLst/>
          </a:prstGeom>
          <a:solidFill>
            <a:srgbClr val="1B4A45"/>
          </a:solidFill>
          <a:ln>
            <a:noFill/>
          </a:ln>
          <a:effectLst>
            <a:outerShdw blurRad="38000" dist="160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1879599"/>
            <a:ext cx="914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B8823E"/>
                </a:solidFill>
                <a:latin typeface="Cambria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839719"/>
            <a:ext cx="41148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1">
                <a:solidFill>
                  <a:srgbClr val="FFFFFF"/>
                </a:solidFill>
                <a:latin typeface="Cambria"/>
              </a:rPr>
              <a:t>To design, build and evaluate a centralised web application that improves the new-build home-personalisation process for buyers, while also coordinating developer, supplier and administrator workflows.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605279"/>
            <a:ext cx="5806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B4A45"/>
                </a:solidFill>
                <a:latin typeface="Cambria"/>
              </a:rPr>
              <a:t>Objectives</a:t>
            </a:r>
          </a:p>
        </p:txBody>
      </p:sp>
      <p:sp>
        <p:nvSpPr>
          <p:cNvPr id="23" name="Oval 22"/>
          <p:cNvSpPr/>
          <p:nvPr/>
        </p:nvSpPr>
        <p:spPr>
          <a:xfrm>
            <a:off x="5797294" y="2080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2080767"/>
            <a:ext cx="548640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1B4A45"/>
                </a:solidFill>
                <a:latin typeface="Calibri"/>
              </a:rPr>
              <a:t>Secure access</a:t>
            </a:r>
            <a:r>
              <a:rPr sz="1400" b="0" i="0" dirty="0">
                <a:solidFill>
                  <a:srgbClr val="101828"/>
                </a:solidFill>
                <a:latin typeface="Calibri"/>
              </a:rPr>
              <a:t> for four user roles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26478" y="2479039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97294" y="2588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2588767"/>
            <a:ext cx="548640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dirty="0">
                <a:solidFill>
                  <a:srgbClr val="1B4A45"/>
                </a:solidFill>
                <a:latin typeface="Calibri"/>
              </a:rPr>
              <a:t>Help buyers select</a:t>
            </a:r>
            <a:r>
              <a:rPr sz="1400" b="0" i="0" dirty="0">
                <a:solidFill>
                  <a:srgbClr val="101828"/>
                </a:solidFill>
                <a:latin typeface="Calibri"/>
              </a:rPr>
              <a:t> suitable </a:t>
            </a:r>
            <a:r>
              <a:rPr sz="1400" b="0" i="0" dirty="0" err="1">
                <a:solidFill>
                  <a:srgbClr val="101828"/>
                </a:solidFill>
                <a:latin typeface="Calibri"/>
              </a:rPr>
              <a:t>personalisation</a:t>
            </a:r>
            <a:r>
              <a:rPr sz="1400" b="0" i="0" dirty="0">
                <a:solidFill>
                  <a:srgbClr val="101828"/>
                </a:solidFill>
                <a:latin typeface="Calibri"/>
              </a:rPr>
              <a:t> products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126478" y="2987038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797294" y="3096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065237"/>
            <a:ext cx="54864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b="1" i="0" dirty="0">
                <a:solidFill>
                  <a:srgbClr val="38A59A"/>
                </a:solidFill>
                <a:latin typeface="Calibri"/>
              </a:rPr>
              <a:t>Lifestyle-based recommendations</a:t>
            </a:r>
            <a:r>
              <a:rPr b="0" i="0" dirty="0">
                <a:solidFill>
                  <a:srgbClr val="38A59A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101828"/>
                </a:solidFill>
                <a:latin typeface="Calibri"/>
              </a:rPr>
              <a:t>for paid upgrades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126478" y="3495038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797294" y="3604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3604767"/>
            <a:ext cx="548640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4A45"/>
                </a:solidFill>
                <a:latin typeface="Calibri"/>
              </a:rPr>
              <a:t>Live spending view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> against the buyer's allocated allowance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26478" y="4003039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797294" y="4112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79" y="4070727"/>
            <a:ext cx="5486400" cy="299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b="1" i="0" dirty="0">
                <a:solidFill>
                  <a:srgbClr val="38A59A"/>
                </a:solidFill>
                <a:latin typeface="Calibri"/>
              </a:rPr>
              <a:t>Workflow management </a:t>
            </a:r>
            <a:r>
              <a:rPr lang="en-US" sz="1400" i="0" dirty="0">
                <a:solidFill>
                  <a:srgbClr val="1B4A45"/>
                </a:solidFill>
                <a:latin typeface="Calibri"/>
              </a:rPr>
              <a:t>from developer to supplier</a:t>
            </a:r>
            <a:endParaRPr sz="1400" i="0" dirty="0">
              <a:solidFill>
                <a:srgbClr val="101828"/>
              </a:solidFill>
              <a:latin typeface="Calibri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6126478" y="4511039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797294" y="4620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79" y="4620767"/>
            <a:ext cx="548640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4A45"/>
                </a:solidFill>
                <a:latin typeface="Calibri"/>
              </a:rPr>
              <a:t>Automatic purchase orders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>, grouped by supplier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26478" y="5019039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797294" y="5128766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79" y="5128767"/>
            <a:ext cx="548640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4A45"/>
                </a:solidFill>
                <a:latin typeface="Calibri"/>
              </a:rPr>
              <a:t>Supplier management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> of fulfilment, delivery dates and invoices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26478" y="5527039"/>
            <a:ext cx="5486401" cy="0"/>
          </a:xfrm>
          <a:prstGeom prst="line">
            <a:avLst/>
          </a:prstGeom>
          <a:ln w="9525">
            <a:solidFill>
              <a:srgbClr val="E4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797294" y="5636767"/>
            <a:ext cx="219456" cy="219456"/>
          </a:xfrm>
          <a:prstGeom prst="ellipse">
            <a:avLst/>
          </a:prstGeom>
          <a:solidFill>
            <a:srgbClr val="B88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79" y="5636767"/>
            <a:ext cx="548640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4A45"/>
                </a:solidFill>
                <a:latin typeface="Calibri"/>
              </a:rPr>
              <a:t>Notifications, calendar</a:t>
            </a:r>
            <a:r>
              <a:rPr sz="1400" b="0" i="0">
                <a:solidFill>
                  <a:srgbClr val="101828"/>
                </a:solidFill>
                <a:latin typeface="Calibri"/>
              </a:rPr>
              <a:t> and communication facilities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HomifyOne Compares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typical new-build personalisation tool on the market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35808" y="1554480"/>
            <a:ext cx="4224528" cy="502920"/>
          </a:xfrm>
          <a:prstGeom prst="roundRect">
            <a:avLst>
              <a:gd name="adj" fmla="val 12727"/>
            </a:avLst>
          </a:prstGeom>
          <a:solidFill>
            <a:srgbClr val="8A8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35808" y="1554480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New-Build Platforms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415784" y="1554480"/>
            <a:ext cx="4224528" cy="502920"/>
          </a:xfrm>
          <a:prstGeom prst="roundRect">
            <a:avLst>
              <a:gd name="adj" fmla="val 12727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5784" y="1554480"/>
            <a:ext cx="4224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9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HomifyOne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6712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Personalisation guidance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35808" y="2167128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172968" y="2308860"/>
            <a:ext cx="292608" cy="292608"/>
          </a:xfrm>
          <a:prstGeom prst="ellipse">
            <a:avLst/>
          </a:prstGeom>
          <a:solidFill>
            <a:srgbClr val="B7B7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72968" y="23088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3566160" y="2167128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catalogue browsing only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15784" y="2167128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E9F1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552944" y="2308860"/>
            <a:ext cx="292608" cy="292608"/>
          </a:xfrm>
          <a:prstGeom prst="ellipse">
            <a:avLst/>
          </a:prstGeom>
          <a:solidFill>
            <a:srgbClr val="3F85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52944" y="23088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7946136" y="2167128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from a lifestyle questionnaire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2834640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support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035808" y="2834640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172968" y="2976372"/>
            <a:ext cx="292608" cy="292608"/>
          </a:xfrm>
          <a:prstGeom prst="ellipse">
            <a:avLst/>
          </a:prstGeom>
          <a:solidFill>
            <a:srgbClr val="B7B7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72968" y="29763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3566160" y="2834640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choose upgrades unaided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15784" y="2834640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E9F1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7552944" y="2976372"/>
            <a:ext cx="292608" cy="292608"/>
          </a:xfrm>
          <a:prstGeom prst="ellipse">
            <a:avLst/>
          </a:prstGeom>
          <a:solidFill>
            <a:srgbClr val="3F85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52944" y="29763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7946136" y="2834640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Budget-aware, semantically-matched suggestions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502152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visibility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035808" y="3502152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172968" y="3643884"/>
            <a:ext cx="292608" cy="292608"/>
          </a:xfrm>
          <a:prstGeom prst="ellipse">
            <a:avLst/>
          </a:prstGeom>
          <a:solidFill>
            <a:srgbClr val="B7B7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172968" y="36438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3566160" y="3502152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worked out by hand and shared later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15784" y="3502152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E9F1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552944" y="3643884"/>
            <a:ext cx="292608" cy="292608"/>
          </a:xfrm>
          <a:prstGeom prst="ellipse">
            <a:avLst/>
          </a:prstGeom>
          <a:solidFill>
            <a:srgbClr val="3F85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52944" y="36438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7946136" y="3502152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engine, recalculated instantly as choices are selected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4169664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coverage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035808" y="4169664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172968" y="4311396"/>
            <a:ext cx="292608" cy="292608"/>
          </a:xfrm>
          <a:prstGeom prst="ellipse">
            <a:avLst/>
          </a:prstGeom>
          <a:solidFill>
            <a:srgbClr val="B7B7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72968" y="43113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3566160" y="4169664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Buyer-facing only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415784" y="4169664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E9F1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7552944" y="4311396"/>
            <a:ext cx="292608" cy="292608"/>
          </a:xfrm>
          <a:prstGeom prst="ellipse">
            <a:avLst/>
          </a:prstGeom>
          <a:solidFill>
            <a:srgbClr val="3F85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552944" y="43113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7946136" y="4169664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platform for Buyer, Developer, Supplier &amp; Admin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48640" y="4837176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coordination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035808" y="4837176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3172968" y="4978908"/>
            <a:ext cx="292608" cy="292608"/>
          </a:xfrm>
          <a:prstGeom prst="ellipse">
            <a:avLst/>
          </a:prstGeom>
          <a:solidFill>
            <a:srgbClr val="B7B7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172968" y="49789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960" dirty="0"/>
          </a:p>
        </p:txBody>
      </p:sp>
      <p:sp>
        <p:nvSpPr>
          <p:cNvPr id="48" name="Text 46"/>
          <p:cNvSpPr/>
          <p:nvPr/>
        </p:nvSpPr>
        <p:spPr>
          <a:xfrm>
            <a:off x="3566160" y="4837176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email, spreadsheets and multiple project management tools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15784" y="4837176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E9F1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7552944" y="4978908"/>
            <a:ext cx="292608" cy="292608"/>
          </a:xfrm>
          <a:prstGeom prst="ellipse">
            <a:avLst/>
          </a:prstGeom>
          <a:solidFill>
            <a:srgbClr val="3F85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552944" y="49789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7946136" y="4837176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approvals, PO generation &amp; invoicing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48640" y="550468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integration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035808" y="5504688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F1F0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3172968" y="5646420"/>
            <a:ext cx="292608" cy="292608"/>
          </a:xfrm>
          <a:prstGeom prst="ellipse">
            <a:avLst/>
          </a:prstGeom>
          <a:solidFill>
            <a:srgbClr val="B7B7A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172968" y="56464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3566160" y="5504688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 per stakeholder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415784" y="5504688"/>
            <a:ext cx="4224528" cy="576072"/>
          </a:xfrm>
          <a:prstGeom prst="roundRect">
            <a:avLst>
              <a:gd name="adj" fmla="val 9524"/>
            </a:avLst>
          </a:prstGeom>
          <a:solidFill>
            <a:srgbClr val="E9F1E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7552944" y="5646420"/>
            <a:ext cx="292608" cy="292608"/>
          </a:xfrm>
          <a:prstGeom prst="ellipse">
            <a:avLst/>
          </a:prstGeom>
          <a:solidFill>
            <a:srgbClr val="3F85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552944" y="56464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960" dirty="0"/>
          </a:p>
        </p:txBody>
      </p:sp>
      <p:sp>
        <p:nvSpPr>
          <p:cNvPr id="61" name="Text 59"/>
          <p:cNvSpPr/>
          <p:nvPr/>
        </p:nvSpPr>
        <p:spPr>
          <a:xfrm>
            <a:off x="7946136" y="5504688"/>
            <a:ext cx="3538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platform for the whole journey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System Architecture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</a:rPr>
              <a:t>From the four roles, through a React client and Node.js/FastAPI backend, to managed data and cloud services</a:t>
            </a:r>
            <a:endParaRPr lang="en-US" sz="1400" dirty="0"/>
          </a:p>
        </p:txBody>
      </p:sp>
      <p:sp>
        <p:nvSpPr>
          <p:cNvPr id="4" name="RolesContainer"/>
          <p:cNvSpPr/>
          <p:nvPr/>
        </p:nvSpPr>
        <p:spPr>
          <a:xfrm>
            <a:off x="548640" y="1400000"/>
            <a:ext cx="11094415" cy="1100000"/>
          </a:xfrm>
          <a:prstGeom prst="roundRect">
            <a:avLst>
              <a:gd name="adj" fmla="val 900"/>
            </a:avLst>
          </a:prstGeom>
          <a:solidFill>
            <a:srgbClr val="EAF2F0"/>
          </a:solidFill>
          <a:ln w="12700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olesKicker"/>
          <p:cNvSpPr/>
          <p:nvPr/>
        </p:nvSpPr>
        <p:spPr>
          <a:xfrm>
            <a:off x="768640" y="1460000"/>
            <a:ext cx="3000000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👤  USER ROLES</a:t>
            </a:r>
            <a:endParaRPr lang="en-US" sz="1200" dirty="0"/>
          </a:p>
        </p:txBody>
      </p:sp>
      <p:sp>
        <p:nvSpPr>
          <p:cNvPr id="6" name="Badge"/>
          <p:cNvSpPr/>
          <p:nvPr/>
        </p:nvSpPr>
        <p:spPr>
          <a:xfrm>
            <a:off x="1695441" y="1680000"/>
            <a:ext cx="480000" cy="48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BadgeNum"/>
          <p:cNvSpPr/>
          <p:nvPr/>
        </p:nvSpPr>
        <p:spPr>
          <a:xfrm>
            <a:off x="1695441" y="1680000"/>
            <a:ext cx="480000" cy="4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B</a:t>
            </a:r>
            <a:endParaRPr lang="en-US" sz="1400" dirty="0"/>
          </a:p>
        </p:txBody>
      </p:sp>
      <p:sp>
        <p:nvSpPr>
          <p:cNvPr id="8" name="RoleName0"/>
          <p:cNvSpPr/>
          <p:nvPr/>
        </p:nvSpPr>
        <p:spPr>
          <a:xfrm>
            <a:off x="1035441" y="2220000"/>
            <a:ext cx="1800000" cy="2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mbria" pitchFamily="34" charset="0"/>
              </a:rPr>
              <a:t>Buyer</a:t>
            </a:r>
            <a:endParaRPr lang="en-US" sz="1300" dirty="0"/>
          </a:p>
        </p:txBody>
      </p:sp>
      <p:sp>
        <p:nvSpPr>
          <p:cNvPr id="9" name="Badge"/>
          <p:cNvSpPr/>
          <p:nvPr/>
        </p:nvSpPr>
        <p:spPr>
          <a:xfrm>
            <a:off x="4469045" y="1680000"/>
            <a:ext cx="480000" cy="48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BadgeNum"/>
          <p:cNvSpPr/>
          <p:nvPr/>
        </p:nvSpPr>
        <p:spPr>
          <a:xfrm>
            <a:off x="4469045" y="1680000"/>
            <a:ext cx="480000" cy="4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D</a:t>
            </a:r>
            <a:endParaRPr lang="en-US" sz="1400" dirty="0"/>
          </a:p>
        </p:txBody>
      </p:sp>
      <p:sp>
        <p:nvSpPr>
          <p:cNvPr id="11" name="RoleName1"/>
          <p:cNvSpPr/>
          <p:nvPr/>
        </p:nvSpPr>
        <p:spPr>
          <a:xfrm>
            <a:off x="3809045" y="2220000"/>
            <a:ext cx="1800000" cy="2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mbria" pitchFamily="34" charset="0"/>
              </a:rPr>
              <a:t>Developer</a:t>
            </a:r>
            <a:endParaRPr lang="en-US" sz="1300" dirty="0"/>
          </a:p>
        </p:txBody>
      </p:sp>
      <p:sp>
        <p:nvSpPr>
          <p:cNvPr id="12" name="Badge"/>
          <p:cNvSpPr/>
          <p:nvPr/>
        </p:nvSpPr>
        <p:spPr>
          <a:xfrm>
            <a:off x="7242649" y="1680000"/>
            <a:ext cx="480000" cy="48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BadgeNum"/>
          <p:cNvSpPr/>
          <p:nvPr/>
        </p:nvSpPr>
        <p:spPr>
          <a:xfrm>
            <a:off x="7242649" y="1680000"/>
            <a:ext cx="480000" cy="4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S</a:t>
            </a:r>
            <a:endParaRPr lang="en-US" sz="1400" dirty="0"/>
          </a:p>
        </p:txBody>
      </p:sp>
      <p:sp>
        <p:nvSpPr>
          <p:cNvPr id="14" name="RoleName2"/>
          <p:cNvSpPr/>
          <p:nvPr/>
        </p:nvSpPr>
        <p:spPr>
          <a:xfrm>
            <a:off x="6582649" y="2220000"/>
            <a:ext cx="1800000" cy="2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mbria" pitchFamily="34" charset="0"/>
              </a:rPr>
              <a:t>Supplier</a:t>
            </a:r>
            <a:endParaRPr lang="en-US" sz="1300" dirty="0"/>
          </a:p>
        </p:txBody>
      </p:sp>
      <p:sp>
        <p:nvSpPr>
          <p:cNvPr id="15" name="Badge"/>
          <p:cNvSpPr/>
          <p:nvPr/>
        </p:nvSpPr>
        <p:spPr>
          <a:xfrm>
            <a:off x="10016253" y="1680000"/>
            <a:ext cx="480000" cy="48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BadgeNum"/>
          <p:cNvSpPr/>
          <p:nvPr/>
        </p:nvSpPr>
        <p:spPr>
          <a:xfrm>
            <a:off x="10016253" y="1680000"/>
            <a:ext cx="480000" cy="4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A</a:t>
            </a:r>
            <a:endParaRPr lang="en-US" sz="1400" dirty="0"/>
          </a:p>
        </p:txBody>
      </p:sp>
      <p:sp>
        <p:nvSpPr>
          <p:cNvPr id="17" name="RoleName3"/>
          <p:cNvSpPr/>
          <p:nvPr/>
        </p:nvSpPr>
        <p:spPr>
          <a:xfrm>
            <a:off x="9356253" y="2220000"/>
            <a:ext cx="1800000" cy="2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mbria" pitchFamily="34" charset="0"/>
              </a:rPr>
              <a:t>Admin</a:t>
            </a:r>
            <a:endParaRPr lang="en-US" sz="1300" dirty="0"/>
          </a:p>
        </p:txBody>
      </p:sp>
      <p:cxnSp>
        <p:nvCxnSpPr>
          <p:cNvPr id="18" name="ArrowDown"/>
          <p:cNvCxnSpPr/>
          <p:nvPr/>
        </p:nvCxnSpPr>
        <p:spPr>
          <a:xfrm>
            <a:off x="1935441" y="2500000"/>
            <a:ext cx="1" cy="190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19" name="ArrowDownHead"/>
          <p:cNvSpPr/>
          <p:nvPr/>
        </p:nvSpPr>
        <p:spPr>
          <a:xfrm rot="10800000">
            <a:off x="1885441" y="2670000"/>
            <a:ext cx="10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20" name="ArrowDown"/>
          <p:cNvCxnSpPr/>
          <p:nvPr/>
        </p:nvCxnSpPr>
        <p:spPr>
          <a:xfrm>
            <a:off x="4709045" y="2500000"/>
            <a:ext cx="1" cy="190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21" name="ArrowDownHead"/>
          <p:cNvSpPr/>
          <p:nvPr/>
        </p:nvSpPr>
        <p:spPr>
          <a:xfrm rot="10800000">
            <a:off x="4659045" y="2670000"/>
            <a:ext cx="10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22" name="ArrowDown"/>
          <p:cNvCxnSpPr/>
          <p:nvPr/>
        </p:nvCxnSpPr>
        <p:spPr>
          <a:xfrm>
            <a:off x="7482649" y="2500000"/>
            <a:ext cx="1" cy="190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23" name="ArrowDownHead"/>
          <p:cNvSpPr/>
          <p:nvPr/>
        </p:nvSpPr>
        <p:spPr>
          <a:xfrm rot="10800000">
            <a:off x="7432649" y="2670000"/>
            <a:ext cx="10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24" name="ArrowDown"/>
          <p:cNvCxnSpPr/>
          <p:nvPr/>
        </p:nvCxnSpPr>
        <p:spPr>
          <a:xfrm>
            <a:off x="10256253" y="2500000"/>
            <a:ext cx="1" cy="190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25" name="ArrowDownHead"/>
          <p:cNvSpPr/>
          <p:nvPr/>
        </p:nvSpPr>
        <p:spPr>
          <a:xfrm rot="10800000">
            <a:off x="10206253" y="2670000"/>
            <a:ext cx="10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ClientContainer"/>
          <p:cNvSpPr/>
          <p:nvPr/>
        </p:nvSpPr>
        <p:spPr>
          <a:xfrm>
            <a:off x="548640" y="2760000"/>
            <a:ext cx="11094415" cy="840000"/>
          </a:xfrm>
          <a:prstGeom prst="roundRect">
            <a:avLst>
              <a:gd name="adj" fmla="val 900"/>
            </a:avLst>
          </a:prstGeom>
          <a:solidFill>
            <a:srgbClr val="EAF2F0"/>
          </a:solidFill>
          <a:ln w="12700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ClientHeading"/>
          <p:cNvSpPr/>
          <p:nvPr/>
        </p:nvSpPr>
        <p:spPr>
          <a:xfrm>
            <a:off x="808640" y="2850000"/>
            <a:ext cx="10574415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🖥  React Single-Page Application</a:t>
            </a:r>
            <a:endParaRPr lang="en-US" sz="1400" dirty="0"/>
          </a:p>
        </p:txBody>
      </p:sp>
      <p:sp>
        <p:nvSpPr>
          <p:cNvPr id="28" name="Box"/>
          <p:cNvSpPr/>
          <p:nvPr/>
        </p:nvSpPr>
        <p:spPr>
          <a:xfrm>
            <a:off x="748640" y="3220000"/>
            <a:ext cx="2042883" cy="2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BoxTxt"/>
          <p:cNvSpPr/>
          <p:nvPr/>
        </p:nvSpPr>
        <p:spPr>
          <a:xfrm>
            <a:off x="788640" y="3220000"/>
            <a:ext cx="1962883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🧭  React Router</a:t>
            </a:r>
            <a:endParaRPr lang="en-US" sz="1300" dirty="0"/>
          </a:p>
        </p:txBody>
      </p:sp>
      <p:sp>
        <p:nvSpPr>
          <p:cNvPr id="30" name="Box"/>
          <p:cNvSpPr/>
          <p:nvPr/>
        </p:nvSpPr>
        <p:spPr>
          <a:xfrm>
            <a:off x="2911523" y="3220000"/>
            <a:ext cx="2042883" cy="2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BoxTxt"/>
          <p:cNvSpPr/>
          <p:nvPr/>
        </p:nvSpPr>
        <p:spPr>
          <a:xfrm>
            <a:off x="2951523" y="3220000"/>
            <a:ext cx="1962883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🔁  Axios</a:t>
            </a:r>
            <a:endParaRPr lang="en-US" sz="1300" dirty="0"/>
          </a:p>
        </p:txBody>
      </p:sp>
      <p:sp>
        <p:nvSpPr>
          <p:cNvPr id="32" name="Box"/>
          <p:cNvSpPr/>
          <p:nvPr/>
        </p:nvSpPr>
        <p:spPr>
          <a:xfrm>
            <a:off x="5074406" y="3220000"/>
            <a:ext cx="2042883" cy="2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oxTxt"/>
          <p:cNvSpPr/>
          <p:nvPr/>
        </p:nvSpPr>
        <p:spPr>
          <a:xfrm>
            <a:off x="5114406" y="3220000"/>
            <a:ext cx="1962883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🔌  Socket.io Client</a:t>
            </a:r>
            <a:endParaRPr lang="en-US" sz="1300" dirty="0"/>
          </a:p>
        </p:txBody>
      </p:sp>
      <p:sp>
        <p:nvSpPr>
          <p:cNvPr id="34" name="Box"/>
          <p:cNvSpPr/>
          <p:nvPr/>
        </p:nvSpPr>
        <p:spPr>
          <a:xfrm>
            <a:off x="7237289" y="3220000"/>
            <a:ext cx="2042883" cy="2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BoxTxt"/>
          <p:cNvSpPr/>
          <p:nvPr/>
        </p:nvSpPr>
        <p:spPr>
          <a:xfrm>
            <a:off x="7277289" y="3220000"/>
            <a:ext cx="1962883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🗺  Leaflet</a:t>
            </a:r>
            <a:endParaRPr lang="en-US" sz="1300" dirty="0"/>
          </a:p>
        </p:txBody>
      </p:sp>
      <p:sp>
        <p:nvSpPr>
          <p:cNvPr id="36" name="Box"/>
          <p:cNvSpPr/>
          <p:nvPr/>
        </p:nvSpPr>
        <p:spPr>
          <a:xfrm>
            <a:off x="9400172" y="3220000"/>
            <a:ext cx="2042883" cy="2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7" name="BoxTxt"/>
          <p:cNvSpPr/>
          <p:nvPr/>
        </p:nvSpPr>
        <p:spPr>
          <a:xfrm>
            <a:off x="9440172" y="3220000"/>
            <a:ext cx="1962883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📈  Recharts</a:t>
            </a:r>
            <a:endParaRPr lang="en-US" sz="1300" dirty="0"/>
          </a:p>
        </p:txBody>
      </p:sp>
      <p:cxnSp>
        <p:nvCxnSpPr>
          <p:cNvPr id="38" name="ArrowDown"/>
          <p:cNvCxnSpPr/>
          <p:nvPr/>
        </p:nvCxnSpPr>
        <p:spPr>
          <a:xfrm>
            <a:off x="6095847" y="3600000"/>
            <a:ext cx="1" cy="160000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sp>
        <p:nvSpPr>
          <p:cNvPr id="39" name="ArrowDownHead"/>
          <p:cNvSpPr/>
          <p:nvPr/>
        </p:nvSpPr>
        <p:spPr>
          <a:xfrm rot="10800000">
            <a:off x="6020847" y="3740000"/>
            <a:ext cx="150000" cy="12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Arrow1Label"/>
          <p:cNvSpPr/>
          <p:nvPr/>
        </p:nvSpPr>
        <p:spPr>
          <a:xfrm>
            <a:off x="6265847" y="3620000"/>
            <a:ext cx="360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C6B66"/>
                </a:solidFill>
                <a:latin typeface="Calibri" pitchFamily="34" charset="0"/>
              </a:rPr>
              <a:t>HTTPS (REST) + WebSocket</a:t>
            </a:r>
            <a:endParaRPr lang="en-US" sz="1200" dirty="0"/>
          </a:p>
        </p:txBody>
      </p:sp>
      <p:sp>
        <p:nvSpPr>
          <p:cNvPr id="41" name="AppServerContainer"/>
          <p:cNvSpPr/>
          <p:nvPr/>
        </p:nvSpPr>
        <p:spPr>
          <a:xfrm>
            <a:off x="548640" y="3860000"/>
            <a:ext cx="6900000" cy="1400000"/>
          </a:xfrm>
          <a:prstGeom prst="roundRect">
            <a:avLst>
              <a:gd name="adj" fmla="val 900"/>
            </a:avLst>
          </a:prstGeom>
          <a:solidFill>
            <a:srgbClr val="EAF2F0"/>
          </a:solidFill>
          <a:ln w="12700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AppHeading"/>
          <p:cNvSpPr/>
          <p:nvPr/>
        </p:nvSpPr>
        <p:spPr>
          <a:xfrm>
            <a:off x="768640" y="3950000"/>
            <a:ext cx="646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4A45"/>
                </a:solidFill>
                <a:latin typeface="Cambria" pitchFamily="34" charset="0"/>
              </a:rPr>
              <a:t>⚙  Application Server - Node.js + Express</a:t>
            </a:r>
            <a:endParaRPr lang="en-US" sz="1250" dirty="0"/>
          </a:p>
        </p:txBody>
      </p:sp>
      <p:sp>
        <p:nvSpPr>
          <p:cNvPr id="43" name="Box"/>
          <p:cNvSpPr/>
          <p:nvPr/>
        </p:nvSpPr>
        <p:spPr>
          <a:xfrm>
            <a:off x="748640" y="4320000"/>
            <a:ext cx="2086666" cy="3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BoxTxt"/>
          <p:cNvSpPr/>
          <p:nvPr/>
        </p:nvSpPr>
        <p:spPr>
          <a:xfrm>
            <a:off x="788640" y="4320000"/>
            <a:ext cx="2006666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🔒  Auth &amp; RBAC</a:t>
            </a:r>
            <a:endParaRPr lang="en-US" sz="1200" dirty="0"/>
          </a:p>
        </p:txBody>
      </p:sp>
      <p:sp>
        <p:nvSpPr>
          <p:cNvPr id="45" name="Box"/>
          <p:cNvSpPr/>
          <p:nvPr/>
        </p:nvSpPr>
        <p:spPr>
          <a:xfrm>
            <a:off x="2955306" y="4320000"/>
            <a:ext cx="2086666" cy="3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BoxTxt"/>
          <p:cNvSpPr/>
          <p:nvPr/>
        </p:nvSpPr>
        <p:spPr>
          <a:xfrm>
            <a:off x="2995306" y="4320000"/>
            <a:ext cx="2006666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🔗  REST API Layer</a:t>
            </a:r>
            <a:endParaRPr lang="en-US" sz="1200" dirty="0"/>
          </a:p>
        </p:txBody>
      </p:sp>
      <p:sp>
        <p:nvSpPr>
          <p:cNvPr id="47" name="Box"/>
          <p:cNvSpPr/>
          <p:nvPr/>
        </p:nvSpPr>
        <p:spPr>
          <a:xfrm>
            <a:off x="5161972" y="4320000"/>
            <a:ext cx="2086666" cy="3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BoxTxt"/>
          <p:cNvSpPr/>
          <p:nvPr/>
        </p:nvSpPr>
        <p:spPr>
          <a:xfrm>
            <a:off x="5201972" y="4320000"/>
            <a:ext cx="2006666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🔌  Socket.io</a:t>
            </a:r>
            <a:endParaRPr lang="en-US" sz="1200" dirty="0"/>
          </a:p>
        </p:txBody>
      </p:sp>
      <p:sp>
        <p:nvSpPr>
          <p:cNvPr id="49" name="Box"/>
          <p:cNvSpPr/>
          <p:nvPr/>
        </p:nvSpPr>
        <p:spPr>
          <a:xfrm>
            <a:off x="748640" y="4770000"/>
            <a:ext cx="2086666" cy="3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BoxTxt"/>
          <p:cNvSpPr/>
          <p:nvPr/>
        </p:nvSpPr>
        <p:spPr>
          <a:xfrm>
            <a:off x="788640" y="4770000"/>
            <a:ext cx="2006666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📤  File Uploads (S3)</a:t>
            </a:r>
            <a:endParaRPr lang="en-US" sz="1200" dirty="0"/>
          </a:p>
        </p:txBody>
      </p:sp>
      <p:sp>
        <p:nvSpPr>
          <p:cNvPr id="51" name="Box"/>
          <p:cNvSpPr/>
          <p:nvPr/>
        </p:nvSpPr>
        <p:spPr>
          <a:xfrm>
            <a:off x="2955306" y="4770000"/>
            <a:ext cx="2086666" cy="3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BoxTxt"/>
          <p:cNvSpPr/>
          <p:nvPr/>
        </p:nvSpPr>
        <p:spPr>
          <a:xfrm>
            <a:off x="2995306" y="4770000"/>
            <a:ext cx="2006666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⏱  node-cron</a:t>
            </a:r>
            <a:endParaRPr lang="en-US" sz="1200" dirty="0"/>
          </a:p>
        </p:txBody>
      </p:sp>
      <p:sp>
        <p:nvSpPr>
          <p:cNvPr id="53" name="Box"/>
          <p:cNvSpPr/>
          <p:nvPr/>
        </p:nvSpPr>
        <p:spPr>
          <a:xfrm>
            <a:off x="5161972" y="4770000"/>
            <a:ext cx="2086666" cy="33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BoxTxt"/>
          <p:cNvSpPr/>
          <p:nvPr/>
        </p:nvSpPr>
        <p:spPr>
          <a:xfrm>
            <a:off x="5201972" y="4770000"/>
            <a:ext cx="2006666" cy="3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📘  Swagger</a:t>
            </a:r>
            <a:endParaRPr lang="en-US" sz="1200" dirty="0"/>
          </a:p>
        </p:txBody>
      </p:sp>
      <p:sp>
        <p:nvSpPr>
          <p:cNvPr id="55" name="AIContainer"/>
          <p:cNvSpPr/>
          <p:nvPr/>
        </p:nvSpPr>
        <p:spPr>
          <a:xfrm>
            <a:off x="7708640" y="3860000"/>
            <a:ext cx="3934415" cy="1174998"/>
          </a:xfrm>
          <a:prstGeom prst="roundRect">
            <a:avLst>
              <a:gd name="adj" fmla="val 900"/>
            </a:avLst>
          </a:prstGeom>
          <a:solidFill>
            <a:srgbClr val="EAF2F0"/>
          </a:solidFill>
          <a:ln w="12700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AIHeading"/>
          <p:cNvSpPr/>
          <p:nvPr/>
        </p:nvSpPr>
        <p:spPr>
          <a:xfrm>
            <a:off x="7888640" y="3950000"/>
            <a:ext cx="3574415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mbria" pitchFamily="34" charset="0"/>
              </a:rPr>
              <a:t>🧠  AI Microservice - FastAPI</a:t>
            </a:r>
            <a:endParaRPr lang="en-US" sz="1200" dirty="0"/>
          </a:p>
        </p:txBody>
      </p:sp>
      <p:sp>
        <p:nvSpPr>
          <p:cNvPr id="57" name="Box"/>
          <p:cNvSpPr/>
          <p:nvPr/>
        </p:nvSpPr>
        <p:spPr>
          <a:xfrm>
            <a:off x="7908640" y="4320000"/>
            <a:ext cx="3534415" cy="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BoxTxt"/>
          <p:cNvSpPr/>
          <p:nvPr/>
        </p:nvSpPr>
        <p:spPr>
          <a:xfrm>
            <a:off x="7948640" y="4320000"/>
            <a:ext cx="3454415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🧬  Sentence-Transformers</a:t>
            </a:r>
            <a:endParaRPr lang="en-US" sz="1200" dirty="0"/>
          </a:p>
        </p:txBody>
      </p:sp>
      <p:sp>
        <p:nvSpPr>
          <p:cNvPr id="59" name="Box"/>
          <p:cNvSpPr/>
          <p:nvPr/>
        </p:nvSpPr>
        <p:spPr>
          <a:xfrm>
            <a:off x="7908640" y="4620000"/>
            <a:ext cx="3534415" cy="18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BoxTxt"/>
          <p:cNvSpPr/>
          <p:nvPr/>
        </p:nvSpPr>
        <p:spPr>
          <a:xfrm>
            <a:off x="7948640" y="4620000"/>
            <a:ext cx="3454415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🔎  FAISS vector search</a:t>
            </a:r>
            <a:endParaRPr lang="en-US" sz="1200" dirty="0"/>
          </a:p>
        </p:txBody>
      </p:sp>
      <p:cxnSp>
        <p:nvCxnSpPr>
          <p:cNvPr id="63" name="ArrowRight"/>
          <p:cNvCxnSpPr/>
          <p:nvPr/>
        </p:nvCxnSpPr>
        <p:spPr>
          <a:xfrm>
            <a:off x="7468640" y="4560000"/>
            <a:ext cx="110000" cy="1"/>
          </a:xfrm>
          <a:prstGeom prst="line">
            <a:avLst/>
          </a:prstGeom>
          <a:ln w="19050">
            <a:solidFill>
              <a:srgbClr val="B8823E"/>
            </a:solidFill>
          </a:ln>
        </p:spPr>
      </p:cxnSp>
      <p:sp>
        <p:nvSpPr>
          <p:cNvPr id="64" name="ArrowRightHead"/>
          <p:cNvSpPr/>
          <p:nvPr/>
        </p:nvSpPr>
        <p:spPr>
          <a:xfrm rot="5400000">
            <a:off x="7568640" y="4505000"/>
            <a:ext cx="110000" cy="13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5" name="InternalArrowLabel"/>
          <p:cNvSpPr/>
          <p:nvPr/>
        </p:nvSpPr>
        <p:spPr>
          <a:xfrm>
            <a:off x="5948640" y="4100000"/>
            <a:ext cx="150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C6B66"/>
                </a:solidFill>
                <a:latin typeface="Calibri" pitchFamily="34" charset="0"/>
              </a:rPr>
              <a:t>internal REST</a:t>
            </a:r>
            <a:endParaRPr lang="en-US" sz="900" dirty="0"/>
          </a:p>
        </p:txBody>
      </p:sp>
      <p:cxnSp>
        <p:nvCxnSpPr>
          <p:cNvPr id="66" name="Trunk1"/>
          <p:cNvCxnSpPr/>
          <p:nvPr/>
        </p:nvCxnSpPr>
        <p:spPr>
          <a:xfrm>
            <a:off x="3998640" y="5260000"/>
            <a:ext cx="1" cy="180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cxnSp>
        <p:nvCxnSpPr>
          <p:cNvPr id="68" name="Bus"/>
          <p:cNvCxnSpPr/>
          <p:nvPr/>
        </p:nvCxnSpPr>
        <p:spPr>
          <a:xfrm>
            <a:off x="1578081" y="5379999"/>
            <a:ext cx="9035532" cy="1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cxnSp>
        <p:nvCxnSpPr>
          <p:cNvPr id="69" name="Stem0"/>
          <p:cNvCxnSpPr>
            <a:cxnSpLocks/>
          </p:cNvCxnSpPr>
          <p:nvPr/>
        </p:nvCxnSpPr>
        <p:spPr>
          <a:xfrm>
            <a:off x="1578081" y="5379999"/>
            <a:ext cx="1" cy="130001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70" name="Stem0Head"/>
          <p:cNvSpPr/>
          <p:nvPr/>
        </p:nvSpPr>
        <p:spPr>
          <a:xfrm rot="10800000">
            <a:off x="1523081" y="5490000"/>
            <a:ext cx="11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1" name="Svc0"/>
          <p:cNvSpPr/>
          <p:nvPr/>
        </p:nvSpPr>
        <p:spPr>
          <a:xfrm>
            <a:off x="548640" y="5580000"/>
            <a:ext cx="2058883" cy="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2" name="Svc0Txt"/>
          <p:cNvSpPr/>
          <p:nvPr/>
        </p:nvSpPr>
        <p:spPr>
          <a:xfrm>
            <a:off x="588640" y="5580000"/>
            <a:ext cx="1978883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🗄  MongoDB Atlas</a:t>
            </a:r>
            <a:endParaRPr lang="en-US" sz="1300" dirty="0"/>
          </a:p>
        </p:txBody>
      </p:sp>
      <p:cxnSp>
        <p:nvCxnSpPr>
          <p:cNvPr id="73" name="Stem1"/>
          <p:cNvCxnSpPr>
            <a:cxnSpLocks/>
          </p:cNvCxnSpPr>
          <p:nvPr/>
        </p:nvCxnSpPr>
        <p:spPr>
          <a:xfrm>
            <a:off x="3836963" y="5395000"/>
            <a:ext cx="2" cy="115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74" name="Stem1Head"/>
          <p:cNvSpPr/>
          <p:nvPr/>
        </p:nvSpPr>
        <p:spPr>
          <a:xfrm rot="10800000">
            <a:off x="3781964" y="5490000"/>
            <a:ext cx="11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5" name="Svc1"/>
          <p:cNvSpPr/>
          <p:nvPr/>
        </p:nvSpPr>
        <p:spPr>
          <a:xfrm>
            <a:off x="2807523" y="5580000"/>
            <a:ext cx="2058883" cy="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 anchor="ctr"/>
          <a:lstStyle/>
          <a:p>
            <a:pPr algn="ctr"/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🖼  </a:t>
            </a:r>
            <a:r>
              <a:rPr lang="en-US" sz="1300" b="1" dirty="0" err="1">
                <a:solidFill>
                  <a:srgbClr val="1B4A45"/>
                </a:solidFill>
                <a:latin typeface="Calibri" pitchFamily="34" charset="0"/>
              </a:rPr>
              <a:t>Cloudinary</a:t>
            </a:r>
            <a:endParaRPr lang="en-US" sz="1300" dirty="0"/>
          </a:p>
        </p:txBody>
      </p:sp>
      <p:sp>
        <p:nvSpPr>
          <p:cNvPr id="76" name="Svc1Txt"/>
          <p:cNvSpPr/>
          <p:nvPr/>
        </p:nvSpPr>
        <p:spPr>
          <a:xfrm>
            <a:off x="2847523" y="5580000"/>
            <a:ext cx="1978883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endParaRPr lang="en-US" sz="1300" dirty="0"/>
          </a:p>
        </p:txBody>
      </p:sp>
      <p:cxnSp>
        <p:nvCxnSpPr>
          <p:cNvPr id="77" name="Stem2"/>
          <p:cNvCxnSpPr>
            <a:cxnSpLocks/>
          </p:cNvCxnSpPr>
          <p:nvPr/>
        </p:nvCxnSpPr>
        <p:spPr>
          <a:xfrm>
            <a:off x="6095848" y="5395000"/>
            <a:ext cx="0" cy="115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78" name="Stem2Head"/>
          <p:cNvSpPr/>
          <p:nvPr/>
        </p:nvSpPr>
        <p:spPr>
          <a:xfrm rot="10800000">
            <a:off x="6040847" y="5490000"/>
            <a:ext cx="11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9" name="Svc2"/>
          <p:cNvSpPr/>
          <p:nvPr/>
        </p:nvSpPr>
        <p:spPr>
          <a:xfrm>
            <a:off x="5066406" y="5580000"/>
            <a:ext cx="2058883" cy="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0" name="Svc2Txt"/>
          <p:cNvSpPr/>
          <p:nvPr/>
        </p:nvSpPr>
        <p:spPr>
          <a:xfrm>
            <a:off x="5066406" y="5720000"/>
            <a:ext cx="2018883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04000"/>
              </a:lnSpc>
            </a:pPr>
            <a:r>
              <a:rPr lang="en-US" sz="1300" b="1" dirty="0">
                <a:solidFill>
                  <a:srgbClr val="1B4A45"/>
                </a:solidFill>
              </a:rPr>
              <a:t>☁  AWS S3</a:t>
            </a:r>
            <a:endParaRPr lang="en-US" sz="1300" dirty="0"/>
          </a:p>
          <a:p>
            <a:pPr marL="0" indent="0" algn="ctr">
              <a:lnSpc>
                <a:spcPct val="104000"/>
              </a:lnSpc>
              <a:buNone/>
            </a:pPr>
            <a:endParaRPr lang="en-US" sz="1300" dirty="0"/>
          </a:p>
        </p:txBody>
      </p:sp>
      <p:cxnSp>
        <p:nvCxnSpPr>
          <p:cNvPr id="81" name="Stem3"/>
          <p:cNvCxnSpPr>
            <a:cxnSpLocks/>
          </p:cNvCxnSpPr>
          <p:nvPr/>
        </p:nvCxnSpPr>
        <p:spPr>
          <a:xfrm>
            <a:off x="8354731" y="5375000"/>
            <a:ext cx="0" cy="135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82" name="Stem3Head"/>
          <p:cNvSpPr/>
          <p:nvPr/>
        </p:nvSpPr>
        <p:spPr>
          <a:xfrm rot="10800000">
            <a:off x="8299730" y="5490000"/>
            <a:ext cx="11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3" name="Svc3"/>
          <p:cNvSpPr/>
          <p:nvPr/>
        </p:nvSpPr>
        <p:spPr>
          <a:xfrm>
            <a:off x="7325289" y="5580000"/>
            <a:ext cx="2058883" cy="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4" name="Svc3Txt"/>
          <p:cNvSpPr/>
          <p:nvPr/>
        </p:nvSpPr>
        <p:spPr>
          <a:xfrm>
            <a:off x="7365289" y="5580000"/>
            <a:ext cx="1978883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✨  Gemini API</a:t>
            </a:r>
            <a:endParaRPr lang="en-US" sz="1300" dirty="0"/>
          </a:p>
        </p:txBody>
      </p:sp>
      <p:cxnSp>
        <p:nvCxnSpPr>
          <p:cNvPr id="85" name="Stem4"/>
          <p:cNvCxnSpPr>
            <a:cxnSpLocks/>
          </p:cNvCxnSpPr>
          <p:nvPr/>
        </p:nvCxnSpPr>
        <p:spPr>
          <a:xfrm>
            <a:off x="10613613" y="5375000"/>
            <a:ext cx="1" cy="135000"/>
          </a:xfrm>
          <a:prstGeom prst="line">
            <a:avLst/>
          </a:prstGeom>
          <a:ln w="15875">
            <a:solidFill>
              <a:srgbClr val="B8823E"/>
            </a:solidFill>
          </a:ln>
        </p:spPr>
      </p:cxnSp>
      <p:sp>
        <p:nvSpPr>
          <p:cNvPr id="86" name="Stem4Head"/>
          <p:cNvSpPr/>
          <p:nvPr/>
        </p:nvSpPr>
        <p:spPr>
          <a:xfrm rot="10800000">
            <a:off x="10558613" y="5490000"/>
            <a:ext cx="110000" cy="9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7" name="Svc4"/>
          <p:cNvSpPr/>
          <p:nvPr/>
        </p:nvSpPr>
        <p:spPr>
          <a:xfrm>
            <a:off x="9584172" y="5580000"/>
            <a:ext cx="2058883" cy="7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88" name="Svc4Txt"/>
          <p:cNvSpPr/>
          <p:nvPr/>
        </p:nvSpPr>
        <p:spPr>
          <a:xfrm>
            <a:off x="9624172" y="5580000"/>
            <a:ext cx="1978883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✉  Email (</a:t>
            </a:r>
            <a:r>
              <a:rPr lang="en-US" sz="1300" b="1" dirty="0" err="1">
                <a:solidFill>
                  <a:srgbClr val="1B4A45"/>
                </a:solidFill>
                <a:latin typeface="Calibri" pitchFamily="34" charset="0"/>
              </a:rPr>
              <a:t>NodeMailer</a:t>
            </a: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 SMTP)</a:t>
            </a:r>
            <a:endParaRPr lang="en-US" sz="1300" dirty="0"/>
          </a:p>
        </p:txBody>
      </p:sp>
      <p:cxnSp>
        <p:nvCxnSpPr>
          <p:cNvPr id="89" name="ArrowDown">
            <a:extLst>
              <a:ext uri="{FF2B5EF4-FFF2-40B4-BE49-F238E27FC236}">
                <a16:creationId xmlns:a16="http://schemas.microsoft.com/office/drawing/2014/main" id="{ADCCA9C8-A0F0-3175-985A-8230C029DB3F}"/>
              </a:ext>
            </a:extLst>
          </p:cNvPr>
          <p:cNvCxnSpPr>
            <a:cxnSpLocks/>
          </p:cNvCxnSpPr>
          <p:nvPr/>
        </p:nvCxnSpPr>
        <p:spPr>
          <a:xfrm flipV="1">
            <a:off x="6265847" y="3620000"/>
            <a:ext cx="0" cy="240000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sp>
        <p:nvSpPr>
          <p:cNvPr id="92" name="ArrowDownHead">
            <a:extLst>
              <a:ext uri="{FF2B5EF4-FFF2-40B4-BE49-F238E27FC236}">
                <a16:creationId xmlns:a16="http://schemas.microsoft.com/office/drawing/2014/main" id="{0786B415-ECC3-CDCA-1D83-503B49430A90}"/>
              </a:ext>
            </a:extLst>
          </p:cNvPr>
          <p:cNvSpPr/>
          <p:nvPr/>
        </p:nvSpPr>
        <p:spPr>
          <a:xfrm>
            <a:off x="6189710" y="3592468"/>
            <a:ext cx="150000" cy="12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3" name="ArrowRightHead">
            <a:extLst>
              <a:ext uri="{FF2B5EF4-FFF2-40B4-BE49-F238E27FC236}">
                <a16:creationId xmlns:a16="http://schemas.microsoft.com/office/drawing/2014/main" id="{4F09F245-3AA6-68BE-55D5-3F14A976C74C}"/>
              </a:ext>
            </a:extLst>
          </p:cNvPr>
          <p:cNvSpPr/>
          <p:nvPr/>
        </p:nvSpPr>
        <p:spPr>
          <a:xfrm rot="16200000">
            <a:off x="7438640" y="4621435"/>
            <a:ext cx="110000" cy="13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94" name="ArrowRight">
            <a:extLst>
              <a:ext uri="{FF2B5EF4-FFF2-40B4-BE49-F238E27FC236}">
                <a16:creationId xmlns:a16="http://schemas.microsoft.com/office/drawing/2014/main" id="{979B7451-713A-0376-140C-9297188744BD}"/>
              </a:ext>
            </a:extLst>
          </p:cNvPr>
          <p:cNvCxnSpPr>
            <a:cxnSpLocks/>
          </p:cNvCxnSpPr>
          <p:nvPr/>
        </p:nvCxnSpPr>
        <p:spPr>
          <a:xfrm>
            <a:off x="7553640" y="4694998"/>
            <a:ext cx="155000" cy="1"/>
          </a:xfrm>
          <a:prstGeom prst="line">
            <a:avLst/>
          </a:prstGeom>
          <a:ln w="19050">
            <a:solidFill>
              <a:srgbClr val="B8823E"/>
            </a:solidFill>
          </a:ln>
        </p:spPr>
      </p:cxnSp>
      <p:cxnSp>
        <p:nvCxnSpPr>
          <p:cNvPr id="104" name="Elbow1">
            <a:extLst>
              <a:ext uri="{FF2B5EF4-FFF2-40B4-BE49-F238E27FC236}">
                <a16:creationId xmlns:a16="http://schemas.microsoft.com/office/drawing/2014/main" id="{4C1B6B2C-D43C-1E80-4255-026364DDDBBD}"/>
              </a:ext>
            </a:extLst>
          </p:cNvPr>
          <p:cNvCxnSpPr>
            <a:cxnSpLocks/>
          </p:cNvCxnSpPr>
          <p:nvPr/>
        </p:nvCxnSpPr>
        <p:spPr>
          <a:xfrm flipV="1">
            <a:off x="8897832" y="5034998"/>
            <a:ext cx="0" cy="440002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cxnSp>
        <p:nvCxnSpPr>
          <p:cNvPr id="105" name="Elbow2">
            <a:extLst>
              <a:ext uri="{FF2B5EF4-FFF2-40B4-BE49-F238E27FC236}">
                <a16:creationId xmlns:a16="http://schemas.microsoft.com/office/drawing/2014/main" id="{724E503B-5037-199B-9B5E-B5BDFFBADAEC}"/>
              </a:ext>
            </a:extLst>
          </p:cNvPr>
          <p:cNvCxnSpPr>
            <a:cxnSpLocks/>
          </p:cNvCxnSpPr>
          <p:nvPr/>
        </p:nvCxnSpPr>
        <p:spPr>
          <a:xfrm flipH="1">
            <a:off x="8510337" y="5475000"/>
            <a:ext cx="396940" cy="0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sp>
        <p:nvSpPr>
          <p:cNvPr id="106" name="ElbowHead">
            <a:extLst>
              <a:ext uri="{FF2B5EF4-FFF2-40B4-BE49-F238E27FC236}">
                <a16:creationId xmlns:a16="http://schemas.microsoft.com/office/drawing/2014/main" id="{18959E97-2823-E3E9-D92B-3C98DDF1E815}"/>
              </a:ext>
            </a:extLst>
          </p:cNvPr>
          <p:cNvSpPr/>
          <p:nvPr/>
        </p:nvSpPr>
        <p:spPr>
          <a:xfrm rot="10800000">
            <a:off x="8469726" y="5510392"/>
            <a:ext cx="110001" cy="70001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111" name="Elbow1">
            <a:extLst>
              <a:ext uri="{FF2B5EF4-FFF2-40B4-BE49-F238E27FC236}">
                <a16:creationId xmlns:a16="http://schemas.microsoft.com/office/drawing/2014/main" id="{DB2B2FEB-D9F1-14D4-EC92-2C39DCA8769D}"/>
              </a:ext>
            </a:extLst>
          </p:cNvPr>
          <p:cNvCxnSpPr>
            <a:cxnSpLocks/>
          </p:cNvCxnSpPr>
          <p:nvPr/>
        </p:nvCxnSpPr>
        <p:spPr>
          <a:xfrm flipV="1">
            <a:off x="8516445" y="5475000"/>
            <a:ext cx="0" cy="57166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cxnSp>
        <p:nvCxnSpPr>
          <p:cNvPr id="118" name="Elbow1">
            <a:extLst>
              <a:ext uri="{FF2B5EF4-FFF2-40B4-BE49-F238E27FC236}">
                <a16:creationId xmlns:a16="http://schemas.microsoft.com/office/drawing/2014/main" id="{7E9E6791-790C-B1FF-7384-79EBCB828FF1}"/>
              </a:ext>
            </a:extLst>
          </p:cNvPr>
          <p:cNvCxnSpPr>
            <a:cxnSpLocks/>
          </p:cNvCxnSpPr>
          <p:nvPr/>
        </p:nvCxnSpPr>
        <p:spPr>
          <a:xfrm flipV="1">
            <a:off x="8006746" y="5034998"/>
            <a:ext cx="0" cy="428926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cxnSp>
        <p:nvCxnSpPr>
          <p:cNvPr id="119" name="Elbow2">
            <a:extLst>
              <a:ext uri="{FF2B5EF4-FFF2-40B4-BE49-F238E27FC236}">
                <a16:creationId xmlns:a16="http://schemas.microsoft.com/office/drawing/2014/main" id="{11C48CA3-D97C-39E9-4C7D-6F5ADD61F8D1}"/>
              </a:ext>
            </a:extLst>
          </p:cNvPr>
          <p:cNvCxnSpPr>
            <a:cxnSpLocks/>
          </p:cNvCxnSpPr>
          <p:nvPr/>
        </p:nvCxnSpPr>
        <p:spPr>
          <a:xfrm flipH="1">
            <a:off x="6410960" y="5463924"/>
            <a:ext cx="1605231" cy="0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sp>
        <p:nvSpPr>
          <p:cNvPr id="120" name="ElbowHead">
            <a:extLst>
              <a:ext uri="{FF2B5EF4-FFF2-40B4-BE49-F238E27FC236}">
                <a16:creationId xmlns:a16="http://schemas.microsoft.com/office/drawing/2014/main" id="{4D778739-73B2-8DBE-C656-8581F6A99FEB}"/>
              </a:ext>
            </a:extLst>
          </p:cNvPr>
          <p:cNvSpPr/>
          <p:nvPr/>
        </p:nvSpPr>
        <p:spPr>
          <a:xfrm rot="10800000">
            <a:off x="6365084" y="5502799"/>
            <a:ext cx="110001" cy="70001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122" name="Elbow1">
            <a:extLst>
              <a:ext uri="{FF2B5EF4-FFF2-40B4-BE49-F238E27FC236}">
                <a16:creationId xmlns:a16="http://schemas.microsoft.com/office/drawing/2014/main" id="{9085FF32-70BA-54C7-F75C-31FFFB1490AE}"/>
              </a:ext>
            </a:extLst>
          </p:cNvPr>
          <p:cNvCxnSpPr>
            <a:cxnSpLocks/>
            <a:stCxn id="120" idx="3"/>
          </p:cNvCxnSpPr>
          <p:nvPr/>
        </p:nvCxnSpPr>
        <p:spPr>
          <a:xfrm flipV="1">
            <a:off x="6420084" y="5465000"/>
            <a:ext cx="0" cy="37799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The Whole User Journey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</a:rPr>
              <a:t>From the Buyer's first questionnaire to the Supplier's final delivery, coordinated by Admin throughout</a:t>
            </a:r>
            <a:endParaRPr lang="en-US" sz="1400" dirty="0"/>
          </a:p>
        </p:txBody>
      </p:sp>
      <p:sp>
        <p:nvSpPr>
          <p:cNvPr id="4" name="Card0"/>
          <p:cNvSpPr/>
          <p:nvPr/>
        </p:nvSpPr>
        <p:spPr>
          <a:xfrm>
            <a:off x="548640" y="1500000"/>
            <a:ext cx="3498138" cy="1850000"/>
          </a:xfrm>
          <a:prstGeom prst="roundRect">
            <a:avLst>
              <a:gd name="adj" fmla="val 3600"/>
            </a:avLst>
          </a:prstGeom>
          <a:solidFill>
            <a:srgbClr val="1B4A45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Badge"/>
          <p:cNvSpPr/>
          <p:nvPr/>
        </p:nvSpPr>
        <p:spPr>
          <a:xfrm>
            <a:off x="768640" y="1710000"/>
            <a:ext cx="460000" cy="4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BadgeNum"/>
          <p:cNvSpPr/>
          <p:nvPr/>
        </p:nvSpPr>
        <p:spPr>
          <a:xfrm>
            <a:off x="768640" y="1710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400" dirty="0"/>
          </a:p>
        </p:txBody>
      </p:sp>
      <p:sp>
        <p:nvSpPr>
          <p:cNvPr id="7" name="Label0"/>
          <p:cNvSpPr/>
          <p:nvPr/>
        </p:nvSpPr>
        <p:spPr>
          <a:xfrm>
            <a:off x="1248640" y="1689876"/>
            <a:ext cx="2638138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</a:rPr>
              <a:t>Questionnaire &amp; AI Match</a:t>
            </a:r>
            <a:endParaRPr lang="en-US" sz="1600" dirty="0"/>
          </a:p>
        </p:txBody>
      </p:sp>
      <p:sp>
        <p:nvSpPr>
          <p:cNvPr id="8" name="Body0"/>
          <p:cNvSpPr/>
          <p:nvPr/>
        </p:nvSpPr>
        <p:spPr>
          <a:xfrm>
            <a:off x="768640" y="2300000"/>
            <a:ext cx="3058138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</a:rPr>
              <a:t>Buyer completes a lifestyle questionnaire; the engine recommends paid upgrades by semantic match.</a:t>
            </a:r>
            <a:endParaRPr lang="en-US" sz="1400" dirty="0"/>
          </a:p>
        </p:txBody>
      </p:sp>
      <p:sp>
        <p:nvSpPr>
          <p:cNvPr id="9" name="Card1"/>
          <p:cNvSpPr/>
          <p:nvPr/>
        </p:nvSpPr>
        <p:spPr>
          <a:xfrm>
            <a:off x="4346778" y="1500000"/>
            <a:ext cx="3498138" cy="1850000"/>
          </a:xfrm>
          <a:prstGeom prst="roundRect">
            <a:avLst>
              <a:gd name="adj" fmla="val 3600"/>
            </a:avLst>
          </a:prstGeom>
          <a:solidFill>
            <a:srgbClr val="2D6B62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Badge"/>
          <p:cNvSpPr/>
          <p:nvPr/>
        </p:nvSpPr>
        <p:spPr>
          <a:xfrm>
            <a:off x="4566778" y="1710000"/>
            <a:ext cx="460000" cy="4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BadgeNum"/>
          <p:cNvSpPr/>
          <p:nvPr/>
        </p:nvSpPr>
        <p:spPr>
          <a:xfrm>
            <a:off x="4566778" y="1710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400" dirty="0"/>
          </a:p>
        </p:txBody>
      </p:sp>
      <p:sp>
        <p:nvSpPr>
          <p:cNvPr id="12" name="Label1"/>
          <p:cNvSpPr/>
          <p:nvPr/>
        </p:nvSpPr>
        <p:spPr>
          <a:xfrm>
            <a:off x="5206778" y="1670000"/>
            <a:ext cx="2478138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</a:rPr>
              <a:t>Selects &amp; Submits</a:t>
            </a:r>
            <a:endParaRPr lang="en-US" sz="1600" dirty="0"/>
          </a:p>
        </p:txBody>
      </p:sp>
      <p:sp>
        <p:nvSpPr>
          <p:cNvPr id="13" name="Body1"/>
          <p:cNvSpPr/>
          <p:nvPr/>
        </p:nvSpPr>
        <p:spPr>
          <a:xfrm>
            <a:off x="4566778" y="2300000"/>
            <a:ext cx="3058138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</a:rPr>
              <a:t>Builds selections in the live basket against their allowance, then submits for approval.</a:t>
            </a:r>
            <a:endParaRPr lang="en-US" sz="1400" dirty="0"/>
          </a:p>
        </p:txBody>
      </p:sp>
      <p:sp>
        <p:nvSpPr>
          <p:cNvPr id="14" name="Card2"/>
          <p:cNvSpPr/>
          <p:nvPr/>
        </p:nvSpPr>
        <p:spPr>
          <a:xfrm>
            <a:off x="8144916" y="1500000"/>
            <a:ext cx="3498138" cy="1850000"/>
          </a:xfrm>
          <a:prstGeom prst="roundRect">
            <a:avLst>
              <a:gd name="adj" fmla="val 3600"/>
            </a:avLst>
          </a:prstGeom>
          <a:solidFill>
            <a:srgbClr val="1B4A45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Badge"/>
          <p:cNvSpPr/>
          <p:nvPr/>
        </p:nvSpPr>
        <p:spPr>
          <a:xfrm>
            <a:off x="8364916" y="1710000"/>
            <a:ext cx="460000" cy="4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BadgeNum"/>
          <p:cNvSpPr/>
          <p:nvPr/>
        </p:nvSpPr>
        <p:spPr>
          <a:xfrm>
            <a:off x="8364916" y="1710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  <a:endParaRPr lang="en-US" sz="1400" dirty="0"/>
          </a:p>
        </p:txBody>
      </p:sp>
      <p:sp>
        <p:nvSpPr>
          <p:cNvPr id="17" name="Label2"/>
          <p:cNvSpPr/>
          <p:nvPr/>
        </p:nvSpPr>
        <p:spPr>
          <a:xfrm>
            <a:off x="9004916" y="1670000"/>
            <a:ext cx="2478138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</a:rPr>
              <a:t>Developer Reviews</a:t>
            </a:r>
            <a:endParaRPr lang="en-US" sz="1600" dirty="0"/>
          </a:p>
        </p:txBody>
      </p:sp>
      <p:sp>
        <p:nvSpPr>
          <p:cNvPr id="18" name="Body2"/>
          <p:cNvSpPr/>
          <p:nvPr/>
        </p:nvSpPr>
        <p:spPr>
          <a:xfrm>
            <a:off x="8364916" y="2300000"/>
            <a:ext cx="3058138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</a:rPr>
              <a:t>Developer approves or rejects with a reason; the buyer re-selects if needed.</a:t>
            </a:r>
            <a:endParaRPr lang="en-US" sz="1400" dirty="0"/>
          </a:p>
        </p:txBody>
      </p:sp>
      <p:sp>
        <p:nvSpPr>
          <p:cNvPr id="19" name="Card3"/>
          <p:cNvSpPr/>
          <p:nvPr/>
        </p:nvSpPr>
        <p:spPr>
          <a:xfrm>
            <a:off x="548640" y="3650000"/>
            <a:ext cx="3498138" cy="1850000"/>
          </a:xfrm>
          <a:prstGeom prst="roundRect">
            <a:avLst>
              <a:gd name="adj" fmla="val 3600"/>
            </a:avLst>
          </a:prstGeom>
          <a:solidFill>
            <a:srgbClr val="2D6B62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Badge"/>
          <p:cNvSpPr/>
          <p:nvPr/>
        </p:nvSpPr>
        <p:spPr>
          <a:xfrm>
            <a:off x="768640" y="3860000"/>
            <a:ext cx="460000" cy="4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BadgeNum"/>
          <p:cNvSpPr/>
          <p:nvPr/>
        </p:nvSpPr>
        <p:spPr>
          <a:xfrm>
            <a:off x="768640" y="3860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400" dirty="0"/>
          </a:p>
        </p:txBody>
      </p:sp>
      <p:sp>
        <p:nvSpPr>
          <p:cNvPr id="22" name="Label3"/>
          <p:cNvSpPr/>
          <p:nvPr/>
        </p:nvSpPr>
        <p:spPr>
          <a:xfrm>
            <a:off x="1408640" y="3820000"/>
            <a:ext cx="2478138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</a:rPr>
              <a:t>Auto Purchase Orders</a:t>
            </a:r>
            <a:endParaRPr lang="en-US" sz="1600" dirty="0"/>
          </a:p>
        </p:txBody>
      </p:sp>
      <p:sp>
        <p:nvSpPr>
          <p:cNvPr id="23" name="Body3"/>
          <p:cNvSpPr/>
          <p:nvPr/>
        </p:nvSpPr>
        <p:spPr>
          <a:xfrm>
            <a:off x="768640" y="4450000"/>
            <a:ext cx="3058138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</a:rPr>
              <a:t>Approved items are grouped and sent automatically to the right Suppliers.</a:t>
            </a:r>
            <a:endParaRPr lang="en-US" sz="1400" dirty="0"/>
          </a:p>
        </p:txBody>
      </p:sp>
      <p:sp>
        <p:nvSpPr>
          <p:cNvPr id="24" name="Card4"/>
          <p:cNvSpPr/>
          <p:nvPr/>
        </p:nvSpPr>
        <p:spPr>
          <a:xfrm>
            <a:off x="4346778" y="3650000"/>
            <a:ext cx="3498138" cy="1850000"/>
          </a:xfrm>
          <a:prstGeom prst="roundRect">
            <a:avLst>
              <a:gd name="adj" fmla="val 3600"/>
            </a:avLst>
          </a:prstGeom>
          <a:solidFill>
            <a:srgbClr val="1B4A45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Badge"/>
          <p:cNvSpPr/>
          <p:nvPr/>
        </p:nvSpPr>
        <p:spPr>
          <a:xfrm>
            <a:off x="4566778" y="3860000"/>
            <a:ext cx="460000" cy="4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BadgeNum"/>
          <p:cNvSpPr/>
          <p:nvPr/>
        </p:nvSpPr>
        <p:spPr>
          <a:xfrm>
            <a:off x="4566778" y="3860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5</a:t>
            </a:r>
            <a:endParaRPr lang="en-US" sz="1400" dirty="0"/>
          </a:p>
        </p:txBody>
      </p:sp>
      <p:sp>
        <p:nvSpPr>
          <p:cNvPr id="27" name="Label4"/>
          <p:cNvSpPr/>
          <p:nvPr/>
        </p:nvSpPr>
        <p:spPr>
          <a:xfrm>
            <a:off x="5206778" y="3820000"/>
            <a:ext cx="2478138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</a:rPr>
              <a:t>Supplier Fulfils</a:t>
            </a:r>
            <a:endParaRPr lang="en-US" sz="1600" dirty="0"/>
          </a:p>
        </p:txBody>
      </p:sp>
      <p:sp>
        <p:nvSpPr>
          <p:cNvPr id="28" name="Body4"/>
          <p:cNvSpPr/>
          <p:nvPr/>
        </p:nvSpPr>
        <p:spPr>
          <a:xfrm>
            <a:off x="4566778" y="4450000"/>
            <a:ext cx="3058138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</a:rPr>
              <a:t>Supplier sets a delivery ETA, procures the items, and uploads the invoice.</a:t>
            </a:r>
            <a:endParaRPr lang="en-US" sz="1400" dirty="0"/>
          </a:p>
        </p:txBody>
      </p:sp>
      <p:sp>
        <p:nvSpPr>
          <p:cNvPr id="29" name="Card5"/>
          <p:cNvSpPr/>
          <p:nvPr/>
        </p:nvSpPr>
        <p:spPr>
          <a:xfrm>
            <a:off x="8144916" y="3650000"/>
            <a:ext cx="3498138" cy="1850000"/>
          </a:xfrm>
          <a:prstGeom prst="roundRect">
            <a:avLst>
              <a:gd name="adj" fmla="val 3600"/>
            </a:avLst>
          </a:prstGeom>
          <a:solidFill>
            <a:srgbClr val="2D6B62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Badge"/>
          <p:cNvSpPr/>
          <p:nvPr/>
        </p:nvSpPr>
        <p:spPr>
          <a:xfrm>
            <a:off x="8364916" y="3860000"/>
            <a:ext cx="460000" cy="4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BadgeNum"/>
          <p:cNvSpPr/>
          <p:nvPr/>
        </p:nvSpPr>
        <p:spPr>
          <a:xfrm>
            <a:off x="8364916" y="3860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6</a:t>
            </a:r>
            <a:endParaRPr lang="en-US" sz="1400" dirty="0"/>
          </a:p>
        </p:txBody>
      </p:sp>
      <p:sp>
        <p:nvSpPr>
          <p:cNvPr id="32" name="Label5"/>
          <p:cNvSpPr/>
          <p:nvPr/>
        </p:nvSpPr>
        <p:spPr>
          <a:xfrm>
            <a:off x="9004916" y="3820000"/>
            <a:ext cx="2478138" cy="5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</a:rPr>
              <a:t>Delivery &amp; Handover</a:t>
            </a:r>
            <a:endParaRPr lang="en-US" sz="1600" dirty="0"/>
          </a:p>
        </p:txBody>
      </p:sp>
      <p:sp>
        <p:nvSpPr>
          <p:cNvPr id="33" name="Body5"/>
          <p:cNvSpPr/>
          <p:nvPr/>
        </p:nvSpPr>
        <p:spPr>
          <a:xfrm>
            <a:off x="8364916" y="4450000"/>
            <a:ext cx="3058138" cy="9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</a:rPr>
              <a:t>Buyer is updated as the order is delivered and the finished home is handed over.</a:t>
            </a:r>
            <a:endParaRPr lang="en-US" sz="1400" dirty="0"/>
          </a:p>
        </p:txBody>
      </p:sp>
      <p:sp>
        <p:nvSpPr>
          <p:cNvPr id="34" name="Chevron"/>
          <p:cNvSpPr/>
          <p:nvPr/>
        </p:nvSpPr>
        <p:spPr>
          <a:xfrm>
            <a:off x="4096778" y="2335000"/>
            <a:ext cx="200000" cy="180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5" name="Chevron"/>
          <p:cNvSpPr/>
          <p:nvPr/>
        </p:nvSpPr>
        <p:spPr>
          <a:xfrm>
            <a:off x="7894916" y="2335000"/>
            <a:ext cx="200000" cy="180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Chevron"/>
          <p:cNvSpPr/>
          <p:nvPr/>
        </p:nvSpPr>
        <p:spPr>
          <a:xfrm>
            <a:off x="4096778" y="4485000"/>
            <a:ext cx="200000" cy="180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Chevron"/>
          <p:cNvSpPr/>
          <p:nvPr/>
        </p:nvSpPr>
        <p:spPr>
          <a:xfrm>
            <a:off x="7894916" y="4485000"/>
            <a:ext cx="200000" cy="180000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cxnSp>
        <p:nvCxnSpPr>
          <p:cNvPr id="38" name="Elbow1"/>
          <p:cNvCxnSpPr/>
          <p:nvPr/>
        </p:nvCxnSpPr>
        <p:spPr>
          <a:xfrm>
            <a:off x="9893985" y="3350000"/>
            <a:ext cx="1" cy="150000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cxnSp>
        <p:nvCxnSpPr>
          <p:cNvPr id="39" name="Elbow2"/>
          <p:cNvCxnSpPr/>
          <p:nvPr/>
        </p:nvCxnSpPr>
        <p:spPr>
          <a:xfrm flipH="1">
            <a:off x="2297709" y="3500000"/>
            <a:ext cx="7596276" cy="1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cxnSp>
        <p:nvCxnSpPr>
          <p:cNvPr id="40" name="Elbow3"/>
          <p:cNvCxnSpPr/>
          <p:nvPr/>
        </p:nvCxnSpPr>
        <p:spPr>
          <a:xfrm>
            <a:off x="2297709" y="3500000"/>
            <a:ext cx="1" cy="150000"/>
          </a:xfrm>
          <a:prstGeom prst="line">
            <a:avLst/>
          </a:prstGeom>
          <a:ln w="22225">
            <a:solidFill>
              <a:srgbClr val="B8823E"/>
            </a:solidFill>
          </a:ln>
        </p:spPr>
      </p:cxnSp>
      <p:sp>
        <p:nvSpPr>
          <p:cNvPr id="41" name="ElbowHead"/>
          <p:cNvSpPr/>
          <p:nvPr/>
        </p:nvSpPr>
        <p:spPr>
          <a:xfrm rot="10800000">
            <a:off x="2212709" y="3520000"/>
            <a:ext cx="170000" cy="130000"/>
          </a:xfrm>
          <a:prstGeom prst="triangl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2" name="AdminBanner"/>
          <p:cNvSpPr/>
          <p:nvPr/>
        </p:nvSpPr>
        <p:spPr>
          <a:xfrm>
            <a:off x="548640" y="5700000"/>
            <a:ext cx="11094415" cy="620000"/>
          </a:xfrm>
          <a:prstGeom prst="roundRect">
            <a:avLst>
              <a:gd name="adj" fmla="val 8000"/>
            </a:avLst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AdminBannerText"/>
          <p:cNvSpPr/>
          <p:nvPr/>
        </p:nvSpPr>
        <p:spPr>
          <a:xfrm>
            <a:off x="848640" y="5700000"/>
            <a:ext cx="10494415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8823E"/>
                </a:solidFill>
                <a:latin typeface="Cambria" pitchFamily="34" charset="0"/>
              </a:rPr>
              <a:t>ADMIN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</a:rPr>
              <a:t>oversees users, product catalogue and platform-wide analytics across every step above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Two Things Existing Platforms Simply Don't Do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</a:rPr>
              <a:t>What are the major contributions</a:t>
            </a:r>
            <a:endParaRPr lang="en-US" sz="1400" dirty="0"/>
          </a:p>
        </p:txBody>
      </p:sp>
      <p:sp>
        <p:nvSpPr>
          <p:cNvPr id="4" name="Card0"/>
          <p:cNvSpPr/>
          <p:nvPr/>
        </p:nvSpPr>
        <p:spPr>
          <a:xfrm>
            <a:off x="548640" y="1550000"/>
            <a:ext cx="5397207" cy="4300000"/>
          </a:xfrm>
          <a:prstGeom prst="roundRect">
            <a:avLst>
              <a:gd name="adj" fmla="val 22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Badge"/>
          <p:cNvSpPr/>
          <p:nvPr/>
        </p:nvSpPr>
        <p:spPr>
          <a:xfrm>
            <a:off x="808640" y="1810000"/>
            <a:ext cx="560000" cy="5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BadgeNum"/>
          <p:cNvSpPr/>
          <p:nvPr/>
        </p:nvSpPr>
        <p:spPr>
          <a:xfrm>
            <a:off x="808640" y="1810000"/>
            <a:ext cx="56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400" dirty="0"/>
          </a:p>
        </p:txBody>
      </p:sp>
      <p:sp>
        <p:nvSpPr>
          <p:cNvPr id="7" name="Heading0"/>
          <p:cNvSpPr/>
          <p:nvPr/>
        </p:nvSpPr>
        <p:spPr>
          <a:xfrm>
            <a:off x="1548640" y="1810000"/>
            <a:ext cx="4137207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1B4A45"/>
                </a:solidFill>
                <a:latin typeface="Cambria" pitchFamily="34" charset="0"/>
              </a:rPr>
              <a:t>Hybrid AI Recommendation Engine</a:t>
            </a:r>
            <a:endParaRPr lang="en-US" dirty="0"/>
          </a:p>
        </p:txBody>
      </p:sp>
      <p:sp>
        <p:nvSpPr>
          <p:cNvPr id="8" name="Subhead0"/>
          <p:cNvSpPr/>
          <p:nvPr/>
        </p:nvSpPr>
        <p:spPr>
          <a:xfrm>
            <a:off x="808640" y="2420000"/>
            <a:ext cx="4877207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C6B66"/>
                </a:solidFill>
                <a:latin typeface="Calibri" pitchFamily="34" charset="0"/>
              </a:rPr>
              <a:t>From lifestyle signals and budget to a ranked, on-brand shortlist</a:t>
            </a:r>
            <a:endParaRPr lang="en-US" sz="1200" dirty="0"/>
          </a:p>
        </p:txBody>
      </p:sp>
      <p:sp>
        <p:nvSpPr>
          <p:cNvPr id="9" name="Card1"/>
          <p:cNvSpPr/>
          <p:nvPr/>
        </p:nvSpPr>
        <p:spPr>
          <a:xfrm>
            <a:off x="6245847" y="1550000"/>
            <a:ext cx="5397207" cy="4300000"/>
          </a:xfrm>
          <a:prstGeom prst="roundRect">
            <a:avLst>
              <a:gd name="adj" fmla="val 22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Badge"/>
          <p:cNvSpPr/>
          <p:nvPr/>
        </p:nvSpPr>
        <p:spPr>
          <a:xfrm>
            <a:off x="6505847" y="1810000"/>
            <a:ext cx="560000" cy="5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BadgeNum"/>
          <p:cNvSpPr/>
          <p:nvPr/>
        </p:nvSpPr>
        <p:spPr>
          <a:xfrm>
            <a:off x="6505847" y="1810000"/>
            <a:ext cx="56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400" dirty="0"/>
          </a:p>
        </p:txBody>
      </p:sp>
      <p:sp>
        <p:nvSpPr>
          <p:cNvPr id="12" name="Heading1"/>
          <p:cNvSpPr/>
          <p:nvPr/>
        </p:nvSpPr>
        <p:spPr>
          <a:xfrm>
            <a:off x="7245847" y="1810000"/>
            <a:ext cx="4137207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1B4A45"/>
                </a:solidFill>
                <a:latin typeface="Cambria" pitchFamily="34" charset="0"/>
              </a:rPr>
              <a:t>Unified Four-Role Workflow Platform</a:t>
            </a:r>
            <a:endParaRPr lang="en-US" dirty="0"/>
          </a:p>
        </p:txBody>
      </p:sp>
      <p:sp>
        <p:nvSpPr>
          <p:cNvPr id="13" name="Subhead1"/>
          <p:cNvSpPr/>
          <p:nvPr/>
        </p:nvSpPr>
        <p:spPr>
          <a:xfrm>
            <a:off x="6505847" y="2420000"/>
            <a:ext cx="4877207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C6B66"/>
                </a:solidFill>
                <a:latin typeface="Calibri" pitchFamily="34" charset="0"/>
              </a:rPr>
              <a:t>One connected platform behind every role, start to finish</a:t>
            </a:r>
            <a:endParaRPr lang="en-US" sz="1200" dirty="0"/>
          </a:p>
        </p:txBody>
      </p:sp>
      <p:sp>
        <p:nvSpPr>
          <p:cNvPr id="14" name="In0_0"/>
          <p:cNvSpPr/>
          <p:nvPr/>
        </p:nvSpPr>
        <p:spPr>
          <a:xfrm>
            <a:off x="808640" y="2980000"/>
            <a:ext cx="1136801" cy="6200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In0_0Txt"/>
          <p:cNvSpPr/>
          <p:nvPr/>
        </p:nvSpPr>
        <p:spPr>
          <a:xfrm>
            <a:off x="848640" y="2980000"/>
            <a:ext cx="1056801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Lifestyle Answers</a:t>
            </a:r>
            <a:endParaRPr lang="en-US" sz="1200" dirty="0"/>
          </a:p>
        </p:txBody>
      </p:sp>
      <p:sp>
        <p:nvSpPr>
          <p:cNvPr id="16" name="In0_1"/>
          <p:cNvSpPr/>
          <p:nvPr/>
        </p:nvSpPr>
        <p:spPr>
          <a:xfrm>
            <a:off x="2055441" y="2980000"/>
            <a:ext cx="1136801" cy="6200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In0_1Txt"/>
          <p:cNvSpPr/>
          <p:nvPr/>
        </p:nvSpPr>
        <p:spPr>
          <a:xfrm>
            <a:off x="2095441" y="2980000"/>
            <a:ext cx="1056801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Budget Range</a:t>
            </a:r>
            <a:endParaRPr lang="en-US" sz="1200" dirty="0"/>
          </a:p>
        </p:txBody>
      </p:sp>
      <p:sp>
        <p:nvSpPr>
          <p:cNvPr id="18" name="In0_2"/>
          <p:cNvSpPr/>
          <p:nvPr/>
        </p:nvSpPr>
        <p:spPr>
          <a:xfrm>
            <a:off x="3302242" y="2980000"/>
            <a:ext cx="1136801" cy="6200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In0_2Txt"/>
          <p:cNvSpPr/>
          <p:nvPr/>
        </p:nvSpPr>
        <p:spPr>
          <a:xfrm>
            <a:off x="3342242" y="2980000"/>
            <a:ext cx="1056801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Style Preference</a:t>
            </a:r>
            <a:endParaRPr lang="en-US" sz="1200" dirty="0"/>
          </a:p>
        </p:txBody>
      </p:sp>
      <p:sp>
        <p:nvSpPr>
          <p:cNvPr id="20" name="In0_3"/>
          <p:cNvSpPr/>
          <p:nvPr/>
        </p:nvSpPr>
        <p:spPr>
          <a:xfrm>
            <a:off x="4549043" y="2980000"/>
            <a:ext cx="1136801" cy="6200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In0_3Txt"/>
          <p:cNvSpPr/>
          <p:nvPr/>
        </p:nvSpPr>
        <p:spPr>
          <a:xfrm>
            <a:off x="4589043" y="2980000"/>
            <a:ext cx="1056801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Product Catalog</a:t>
            </a:r>
            <a:endParaRPr lang="en-US" sz="1200" dirty="0"/>
          </a:p>
        </p:txBody>
      </p:sp>
      <p:sp>
        <p:nvSpPr>
          <p:cNvPr id="22" name="Engine0"/>
          <p:cNvSpPr/>
          <p:nvPr/>
        </p:nvSpPr>
        <p:spPr>
          <a:xfrm>
            <a:off x="808640" y="3800000"/>
            <a:ext cx="4877207" cy="560000"/>
          </a:xfrm>
          <a:prstGeom prst="roundRect">
            <a:avLst>
              <a:gd name="adj" fmla="val 9000"/>
            </a:avLst>
          </a:prstGeom>
          <a:solidFill>
            <a:srgbClr val="1B4A45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EngineTxt0"/>
          <p:cNvSpPr/>
          <p:nvPr/>
        </p:nvSpPr>
        <p:spPr>
          <a:xfrm>
            <a:off x="808640" y="3800000"/>
            <a:ext cx="4877207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Semantic Matching Engine (Embeddings)</a:t>
            </a:r>
            <a:endParaRPr lang="en-US" sz="1200" dirty="0"/>
          </a:p>
        </p:txBody>
      </p:sp>
      <p:cxnSp>
        <p:nvCxnSpPr>
          <p:cNvPr id="24" name="InLine0_1377040"/>
          <p:cNvCxnSpPr/>
          <p:nvPr/>
        </p:nvCxnSpPr>
        <p:spPr>
          <a:xfrm>
            <a:off x="1377040" y="3590000"/>
            <a:ext cx="1870203" cy="220000"/>
          </a:xfrm>
          <a:prstGeom prst="line">
            <a:avLst/>
          </a:prstGeom>
          <a:ln w="11113">
            <a:solidFill>
              <a:srgbClr val="6E8983"/>
            </a:solidFill>
          </a:ln>
        </p:spPr>
      </p:cxnSp>
      <p:cxnSp>
        <p:nvCxnSpPr>
          <p:cNvPr id="25" name="InLine0_2623841"/>
          <p:cNvCxnSpPr/>
          <p:nvPr/>
        </p:nvCxnSpPr>
        <p:spPr>
          <a:xfrm>
            <a:off x="2623841" y="3590000"/>
            <a:ext cx="623402" cy="220000"/>
          </a:xfrm>
          <a:prstGeom prst="line">
            <a:avLst/>
          </a:prstGeom>
          <a:ln w="11113">
            <a:solidFill>
              <a:srgbClr val="6E8983"/>
            </a:solidFill>
          </a:ln>
        </p:spPr>
      </p:cxnSp>
      <p:cxnSp>
        <p:nvCxnSpPr>
          <p:cNvPr id="26" name="InLine0_3870642"/>
          <p:cNvCxnSpPr/>
          <p:nvPr/>
        </p:nvCxnSpPr>
        <p:spPr>
          <a:xfrm flipH="1">
            <a:off x="3247243" y="3590000"/>
            <a:ext cx="623399" cy="220000"/>
          </a:xfrm>
          <a:prstGeom prst="line">
            <a:avLst/>
          </a:prstGeom>
          <a:ln w="11113">
            <a:solidFill>
              <a:srgbClr val="6E8983"/>
            </a:solidFill>
          </a:ln>
        </p:spPr>
      </p:cxnSp>
      <p:cxnSp>
        <p:nvCxnSpPr>
          <p:cNvPr id="27" name="InLine0_5117443"/>
          <p:cNvCxnSpPr/>
          <p:nvPr/>
        </p:nvCxnSpPr>
        <p:spPr>
          <a:xfrm flipH="1">
            <a:off x="3247243" y="3590000"/>
            <a:ext cx="1870200" cy="220000"/>
          </a:xfrm>
          <a:prstGeom prst="line">
            <a:avLst/>
          </a:prstGeom>
          <a:ln w="11113">
            <a:solidFill>
              <a:srgbClr val="6E8983"/>
            </a:solidFill>
          </a:ln>
        </p:spPr>
      </p:cxnSp>
      <p:sp>
        <p:nvSpPr>
          <p:cNvPr id="28" name="Out0_0"/>
          <p:cNvSpPr/>
          <p:nvPr/>
        </p:nvSpPr>
        <p:spPr>
          <a:xfrm>
            <a:off x="808640" y="4560000"/>
            <a:ext cx="4837204" cy="580000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Out0_0Txt"/>
          <p:cNvSpPr/>
          <p:nvPr/>
        </p:nvSpPr>
        <p:spPr>
          <a:xfrm>
            <a:off x="848640" y="4560000"/>
            <a:ext cx="4494069" cy="5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Ranked Upgrade recommendations  </a:t>
            </a:r>
            <a:endParaRPr lang="en-US" sz="1200" dirty="0"/>
          </a:p>
        </p:txBody>
      </p:sp>
      <p:cxnSp>
        <p:nvCxnSpPr>
          <p:cNvPr id="32" name="OutLine0_0"/>
          <p:cNvCxnSpPr>
            <a:cxnSpLocks/>
            <a:stCxn id="22" idx="2"/>
            <a:endCxn id="28" idx="0"/>
          </p:cNvCxnSpPr>
          <p:nvPr/>
        </p:nvCxnSpPr>
        <p:spPr>
          <a:xfrm flipH="1">
            <a:off x="3227242" y="4360000"/>
            <a:ext cx="20002" cy="200000"/>
          </a:xfrm>
          <a:prstGeom prst="line">
            <a:avLst/>
          </a:prstGeom>
          <a:ln w="11113">
            <a:solidFill>
              <a:srgbClr val="6E8983"/>
            </a:solidFill>
          </a:ln>
        </p:spPr>
      </p:cxnSp>
      <p:sp>
        <p:nvSpPr>
          <p:cNvPr id="35" name="Engine1"/>
          <p:cNvSpPr/>
          <p:nvPr/>
        </p:nvSpPr>
        <p:spPr>
          <a:xfrm>
            <a:off x="6505847" y="2980000"/>
            <a:ext cx="4877207" cy="520000"/>
          </a:xfrm>
          <a:prstGeom prst="roundRect">
            <a:avLst>
              <a:gd name="adj" fmla="val 9000"/>
            </a:avLst>
          </a:prstGeom>
          <a:solidFill>
            <a:srgbClr val="2D6B62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EngineTxt1"/>
          <p:cNvSpPr/>
          <p:nvPr/>
        </p:nvSpPr>
        <p:spPr>
          <a:xfrm>
            <a:off x="6505847" y="2980000"/>
            <a:ext cx="4877207" cy="5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One Connected Workflow Platform</a:t>
            </a:r>
            <a:endParaRPr lang="en-US" sz="1200" dirty="0"/>
          </a:p>
        </p:txBody>
      </p:sp>
      <p:sp>
        <p:nvSpPr>
          <p:cNvPr id="37" name="GridLabel"/>
          <p:cNvSpPr/>
          <p:nvPr/>
        </p:nvSpPr>
        <p:spPr>
          <a:xfrm>
            <a:off x="6505847" y="3630000"/>
            <a:ext cx="4877207" cy="30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What the platform delivers:</a:t>
            </a:r>
            <a:endParaRPr lang="en-US" sz="1200" dirty="0"/>
          </a:p>
        </p:txBody>
      </p:sp>
      <p:sp>
        <p:nvSpPr>
          <p:cNvPr id="38" name="Chip0"/>
          <p:cNvSpPr/>
          <p:nvPr/>
        </p:nvSpPr>
        <p:spPr>
          <a:xfrm>
            <a:off x="6505847" y="3990000"/>
            <a:ext cx="2358603" cy="4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ChipDot0"/>
          <p:cNvSpPr/>
          <p:nvPr/>
        </p:nvSpPr>
        <p:spPr>
          <a:xfrm>
            <a:off x="6675847" y="4125000"/>
            <a:ext cx="190000" cy="1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ChipTxt0"/>
          <p:cNvSpPr/>
          <p:nvPr/>
        </p:nvSpPr>
        <p:spPr>
          <a:xfrm>
            <a:off x="7005847" y="3990000"/>
            <a:ext cx="1758603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Personalisation guidance</a:t>
            </a:r>
            <a:endParaRPr lang="en-US" sz="1200" dirty="0"/>
          </a:p>
        </p:txBody>
      </p:sp>
      <p:sp>
        <p:nvSpPr>
          <p:cNvPr id="41" name="Chip1"/>
          <p:cNvSpPr/>
          <p:nvPr/>
        </p:nvSpPr>
        <p:spPr>
          <a:xfrm>
            <a:off x="9024450" y="3990000"/>
            <a:ext cx="2358603" cy="4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ChipDot1"/>
          <p:cNvSpPr/>
          <p:nvPr/>
        </p:nvSpPr>
        <p:spPr>
          <a:xfrm>
            <a:off x="9194450" y="4125000"/>
            <a:ext cx="190000" cy="1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ChipTxt1"/>
          <p:cNvSpPr/>
          <p:nvPr/>
        </p:nvSpPr>
        <p:spPr>
          <a:xfrm>
            <a:off x="9524450" y="3990000"/>
            <a:ext cx="1758603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Decision support</a:t>
            </a:r>
            <a:endParaRPr lang="en-US" sz="1200" dirty="0"/>
          </a:p>
        </p:txBody>
      </p:sp>
      <p:sp>
        <p:nvSpPr>
          <p:cNvPr id="44" name="Chip2"/>
          <p:cNvSpPr/>
          <p:nvPr/>
        </p:nvSpPr>
        <p:spPr>
          <a:xfrm>
            <a:off x="6505847" y="4560000"/>
            <a:ext cx="2358603" cy="4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ChipDot2"/>
          <p:cNvSpPr/>
          <p:nvPr/>
        </p:nvSpPr>
        <p:spPr>
          <a:xfrm>
            <a:off x="6675847" y="4695000"/>
            <a:ext cx="190000" cy="1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ChipTxt2"/>
          <p:cNvSpPr/>
          <p:nvPr/>
        </p:nvSpPr>
        <p:spPr>
          <a:xfrm>
            <a:off x="7005847" y="4560000"/>
            <a:ext cx="1758603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Pricing visibility</a:t>
            </a:r>
            <a:endParaRPr lang="en-US" sz="1200" dirty="0"/>
          </a:p>
        </p:txBody>
      </p:sp>
      <p:sp>
        <p:nvSpPr>
          <p:cNvPr id="47" name="Chip3"/>
          <p:cNvSpPr/>
          <p:nvPr/>
        </p:nvSpPr>
        <p:spPr>
          <a:xfrm>
            <a:off x="9024450" y="4560000"/>
            <a:ext cx="2358603" cy="4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ChipDot3"/>
          <p:cNvSpPr/>
          <p:nvPr/>
        </p:nvSpPr>
        <p:spPr>
          <a:xfrm>
            <a:off x="9194450" y="4695000"/>
            <a:ext cx="190000" cy="1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ChipTxt3"/>
          <p:cNvSpPr/>
          <p:nvPr/>
        </p:nvSpPr>
        <p:spPr>
          <a:xfrm>
            <a:off x="9524450" y="4560000"/>
            <a:ext cx="1758603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Stakeholder coverage</a:t>
            </a:r>
            <a:endParaRPr lang="en-US" sz="1200" dirty="0"/>
          </a:p>
        </p:txBody>
      </p:sp>
      <p:sp>
        <p:nvSpPr>
          <p:cNvPr id="50" name="Chip4"/>
          <p:cNvSpPr/>
          <p:nvPr/>
        </p:nvSpPr>
        <p:spPr>
          <a:xfrm>
            <a:off x="6505847" y="5130000"/>
            <a:ext cx="2358603" cy="4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ChipDot4"/>
          <p:cNvSpPr/>
          <p:nvPr/>
        </p:nvSpPr>
        <p:spPr>
          <a:xfrm>
            <a:off x="6675847" y="5265000"/>
            <a:ext cx="190000" cy="1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ChipTxt4"/>
          <p:cNvSpPr/>
          <p:nvPr/>
        </p:nvSpPr>
        <p:spPr>
          <a:xfrm>
            <a:off x="7005847" y="5130000"/>
            <a:ext cx="1758603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Workflow coordination</a:t>
            </a:r>
            <a:endParaRPr lang="en-US" sz="1200" dirty="0"/>
          </a:p>
        </p:txBody>
      </p:sp>
      <p:sp>
        <p:nvSpPr>
          <p:cNvPr id="53" name="Chip5"/>
          <p:cNvSpPr/>
          <p:nvPr/>
        </p:nvSpPr>
        <p:spPr>
          <a:xfrm>
            <a:off x="9024450" y="5130000"/>
            <a:ext cx="2358603" cy="46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ChipDot5"/>
          <p:cNvSpPr/>
          <p:nvPr/>
        </p:nvSpPr>
        <p:spPr>
          <a:xfrm>
            <a:off x="9194450" y="5265000"/>
            <a:ext cx="190000" cy="1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5" name="ChipTxt5"/>
          <p:cNvSpPr/>
          <p:nvPr/>
        </p:nvSpPr>
        <p:spPr>
          <a:xfrm>
            <a:off x="9524450" y="5130000"/>
            <a:ext cx="1758603" cy="4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1B4A45"/>
                </a:solidFill>
                <a:latin typeface="Calibri" pitchFamily="34" charset="0"/>
              </a:rPr>
              <a:t>Platform integration</a:t>
            </a:r>
            <a:endParaRPr lang="en-US" sz="1200" dirty="0"/>
          </a:p>
        </p:txBody>
      </p:sp>
      <p:sp>
        <p:nvSpPr>
          <p:cNvPr id="56" name="FooterNote"/>
          <p:cNvSpPr/>
          <p:nvPr/>
        </p:nvSpPr>
        <p:spPr>
          <a:xfrm>
            <a:off x="548640" y="5970000"/>
            <a:ext cx="11094415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C6B66"/>
                </a:solidFill>
                <a:latin typeface="Calibri" pitchFamily="34" charset="0"/>
              </a:rPr>
              <a:t>Full breakdown of both contributions on the next two slides</a:t>
            </a:r>
            <a:r>
              <a:rPr lang="en-US" sz="1200" b="1" i="1" dirty="0">
                <a:solidFill>
                  <a:srgbClr val="B8823E"/>
                </a:solidFill>
                <a:latin typeface="Calibri" pitchFamily="34" charset="0"/>
              </a:rPr>
              <a:t>  →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Four-Role Workflow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773936" cy="3650768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138428" y="1984248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842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/>
          <p:nvPr/>
        </p:nvSpPr>
        <p:spPr>
          <a:xfrm>
            <a:off x="640080" y="2587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Questionnaire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" y="3314700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completes lifestyle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questionnaire; first-timers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 promo discount and personalized credit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921508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423160" y="1783080"/>
            <a:ext cx="1773936" cy="3650768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12948" y="1984248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1294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2514600" y="2587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Recommend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3204972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surfaces paid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choices matched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lifestyle profile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69080" y="2921508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297680" y="1783080"/>
            <a:ext cx="1773936" cy="3650768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887468" y="1984248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8746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8" name="Text 16"/>
          <p:cNvSpPr/>
          <p:nvPr/>
        </p:nvSpPr>
        <p:spPr>
          <a:xfrm>
            <a:off x="4389120" y="2587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Basket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07408" y="3204972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bar tracks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 as items are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/ removed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2921508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1773936" cy="3650768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761988" y="1984248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6198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6263640" y="2587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81928" y="3204972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approves or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with reason;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re-selects if rejected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818120" y="2921508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8046720" y="1783080"/>
            <a:ext cx="1773936" cy="3650768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8636508" y="1984248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63650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80" dirty="0"/>
          </a:p>
        </p:txBody>
      </p:sp>
      <p:sp>
        <p:nvSpPr>
          <p:cNvPr id="30" name="Text 28"/>
          <p:cNvSpPr/>
          <p:nvPr/>
        </p:nvSpPr>
        <p:spPr>
          <a:xfrm>
            <a:off x="8138160" y="2587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 &amp; Delivery ETA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56448" y="3204972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auto-generated per Supplier. ETA synced to Developer’s calendar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692640" y="2921508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9921240" y="1783080"/>
            <a:ext cx="1773936" cy="3650768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511028" y="1984248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511028" y="19842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10012680" y="258775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&amp; Delivery Status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030968" y="3314700"/>
            <a:ext cx="15819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uploads invoice.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marks the status and the buyers are updated with the order delivery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4572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548640" y="500000"/>
            <a:ext cx="2050000" cy="5860000"/>
          </a:xfrm>
          <a:prstGeom prst="roundRect">
            <a:avLst>
              <a:gd name="adj" fmla="val 1800"/>
            </a:avLst>
          </a:prstGeom>
          <a:solidFill>
            <a:srgbClr val="1B4A45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idebarKicker"/>
          <p:cNvSpPr/>
          <p:nvPr/>
        </p:nvSpPr>
        <p:spPr>
          <a:xfrm>
            <a:off x="698640" y="800000"/>
            <a:ext cx="175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ROLE JOURNEY</a:t>
            </a:r>
            <a:endParaRPr lang="en-US" sz="1200" dirty="0"/>
          </a:p>
        </p:txBody>
      </p:sp>
      <p:sp>
        <p:nvSpPr>
          <p:cNvPr id="4" name="Badge"/>
          <p:cNvSpPr/>
          <p:nvPr/>
        </p:nvSpPr>
        <p:spPr>
          <a:xfrm>
            <a:off x="1098640" y="1200000"/>
            <a:ext cx="950000" cy="95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BadgeNum"/>
          <p:cNvSpPr/>
          <p:nvPr/>
        </p:nvSpPr>
        <p:spPr>
          <a:xfrm>
            <a:off x="1098640" y="1200000"/>
            <a:ext cx="950000" cy="95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</a:rPr>
              <a:t>B</a:t>
            </a:r>
            <a:endParaRPr lang="en-US" sz="3200" dirty="0"/>
          </a:p>
        </p:txBody>
      </p:sp>
      <p:sp>
        <p:nvSpPr>
          <p:cNvPr id="6" name="SidebarName"/>
          <p:cNvSpPr/>
          <p:nvPr/>
        </p:nvSpPr>
        <p:spPr>
          <a:xfrm>
            <a:off x="648640" y="2370000"/>
            <a:ext cx="1850000" cy="4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</a:rPr>
              <a:t>Buyer</a:t>
            </a:r>
            <a:endParaRPr lang="en-US" sz="2000" dirty="0"/>
          </a:p>
        </p:txBody>
      </p:sp>
      <p:sp>
        <p:nvSpPr>
          <p:cNvPr id="7" name="SidebarDesc"/>
          <p:cNvSpPr/>
          <p:nvPr/>
        </p:nvSpPr>
        <p:spPr>
          <a:xfrm>
            <a:off x="768640" y="2850000"/>
            <a:ext cx="161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D9EBE6"/>
                </a:solidFill>
                <a:latin typeface="Calibri" pitchFamily="34" charset="0"/>
              </a:rPr>
              <a:t>First-time buyers personalising their new-build home</a:t>
            </a:r>
            <a:endParaRPr lang="en-US" sz="1200" dirty="0"/>
          </a:p>
        </p:txBody>
      </p:sp>
      <p:sp>
        <p:nvSpPr>
          <p:cNvPr id="8" name="Title"/>
          <p:cNvSpPr/>
          <p:nvPr/>
        </p:nvSpPr>
        <p:spPr>
          <a:xfrm>
            <a:off x="2858640" y="500000"/>
            <a:ext cx="8784415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A45"/>
                </a:solidFill>
                <a:latin typeface="Cambria" pitchFamily="34" charset="0"/>
              </a:rPr>
              <a:t>The Buyer Journey</a:t>
            </a:r>
            <a:endParaRPr lang="en-US" sz="2800" dirty="0"/>
          </a:p>
        </p:txBody>
      </p:sp>
      <p:sp>
        <p:nvSpPr>
          <p:cNvPr id="9" name="Subtitle"/>
          <p:cNvSpPr/>
          <p:nvPr/>
        </p:nvSpPr>
        <p:spPr>
          <a:xfrm>
            <a:off x="2858640" y="1140000"/>
            <a:ext cx="8784415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C6B66"/>
                </a:solidFill>
                <a:latin typeface="Calibri" pitchFamily="34" charset="0"/>
              </a:rPr>
              <a:t>From first login to a finished, personalised home</a:t>
            </a:r>
            <a:endParaRPr lang="en-US" sz="1300" dirty="0"/>
          </a:p>
        </p:txBody>
      </p:sp>
      <p:cxnSp>
        <p:nvCxnSpPr>
          <p:cNvPr id="10" name="TimelineLine"/>
          <p:cNvCxnSpPr/>
          <p:nvPr/>
        </p:nvCxnSpPr>
        <p:spPr>
          <a:xfrm>
            <a:off x="3649081" y="1980000"/>
            <a:ext cx="7203533" cy="1"/>
          </a:xfrm>
          <a:prstGeom prst="line">
            <a:avLst/>
          </a:prstGeom>
          <a:ln w="19050">
            <a:solidFill>
              <a:srgbClr val="B8823E"/>
            </a:solidFill>
          </a:ln>
        </p:spPr>
      </p:cxnSp>
      <p:sp>
        <p:nvSpPr>
          <p:cNvPr id="11" name="Badge"/>
          <p:cNvSpPr/>
          <p:nvPr/>
        </p:nvSpPr>
        <p:spPr>
          <a:xfrm>
            <a:off x="3479081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adgeNum"/>
          <p:cNvSpPr/>
          <p:nvPr/>
        </p:nvSpPr>
        <p:spPr>
          <a:xfrm>
            <a:off x="3479081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200" dirty="0"/>
          </a:p>
        </p:txBody>
      </p:sp>
      <p:sp>
        <p:nvSpPr>
          <p:cNvPr id="13" name="Card0"/>
          <p:cNvSpPr/>
          <p:nvPr/>
        </p:nvSpPr>
        <p:spPr>
          <a:xfrm>
            <a:off x="2858640" y="2319999"/>
            <a:ext cx="1580883" cy="3313539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Med0"/>
          <p:cNvSpPr/>
          <p:nvPr/>
        </p:nvSpPr>
        <p:spPr>
          <a:xfrm>
            <a:off x="3319081" y="2510000"/>
            <a:ext cx="660000" cy="6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MedIcon0"/>
          <p:cNvSpPr/>
          <p:nvPr/>
        </p:nvSpPr>
        <p:spPr>
          <a:xfrm>
            <a:off x="3319081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🔑</a:t>
            </a:r>
            <a:endParaRPr lang="en-US" sz="2000" dirty="0"/>
          </a:p>
        </p:txBody>
      </p:sp>
      <p:sp>
        <p:nvSpPr>
          <p:cNvPr id="16" name="Heading0"/>
          <p:cNvSpPr/>
          <p:nvPr/>
        </p:nvSpPr>
        <p:spPr>
          <a:xfrm>
            <a:off x="2948640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Login &amp; Plot Assigned</a:t>
            </a:r>
            <a:endParaRPr lang="en-US" sz="1400" dirty="0"/>
          </a:p>
        </p:txBody>
      </p:sp>
      <p:sp>
        <p:nvSpPr>
          <p:cNvPr id="17" name="Body0"/>
          <p:cNvSpPr/>
          <p:nvPr/>
        </p:nvSpPr>
        <p:spPr>
          <a:xfrm>
            <a:off x="2948640" y="4096769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Receives credentials once assigned a Developer and a plot.</a:t>
            </a:r>
            <a:endParaRPr lang="en-US" sz="1300" dirty="0"/>
          </a:p>
        </p:txBody>
      </p:sp>
      <p:sp>
        <p:nvSpPr>
          <p:cNvPr id="18" name="Badge"/>
          <p:cNvSpPr/>
          <p:nvPr/>
        </p:nvSpPr>
        <p:spPr>
          <a:xfrm>
            <a:off x="5279964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BadgeNum"/>
          <p:cNvSpPr/>
          <p:nvPr/>
        </p:nvSpPr>
        <p:spPr>
          <a:xfrm>
            <a:off x="5279964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200" dirty="0"/>
          </a:p>
        </p:txBody>
      </p:sp>
      <p:sp>
        <p:nvSpPr>
          <p:cNvPr id="20" name="Card1"/>
          <p:cNvSpPr/>
          <p:nvPr/>
        </p:nvSpPr>
        <p:spPr>
          <a:xfrm>
            <a:off x="4659523" y="2319999"/>
            <a:ext cx="1580883" cy="3313539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Med1"/>
          <p:cNvSpPr/>
          <p:nvPr/>
        </p:nvSpPr>
        <p:spPr>
          <a:xfrm>
            <a:off x="5119964" y="2510000"/>
            <a:ext cx="660000" cy="6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MedIcon1"/>
          <p:cNvSpPr/>
          <p:nvPr/>
        </p:nvSpPr>
        <p:spPr>
          <a:xfrm>
            <a:off x="5119964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📝</a:t>
            </a:r>
            <a:endParaRPr lang="en-US" sz="2000" dirty="0"/>
          </a:p>
        </p:txBody>
      </p:sp>
      <p:sp>
        <p:nvSpPr>
          <p:cNvPr id="23" name="Heading1"/>
          <p:cNvSpPr/>
          <p:nvPr/>
        </p:nvSpPr>
        <p:spPr>
          <a:xfrm>
            <a:off x="4749523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Lifestyle Questionnaire</a:t>
            </a:r>
            <a:endParaRPr lang="en-US" sz="1400" dirty="0"/>
          </a:p>
        </p:txBody>
      </p:sp>
      <p:sp>
        <p:nvSpPr>
          <p:cNvPr id="24" name="Body1"/>
          <p:cNvSpPr/>
          <p:nvPr/>
        </p:nvSpPr>
        <p:spPr>
          <a:xfrm>
            <a:off x="4748908" y="4096769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Answers style, budget and household questions.</a:t>
            </a:r>
            <a:endParaRPr lang="en-US" sz="1300" dirty="0"/>
          </a:p>
        </p:txBody>
      </p:sp>
      <p:sp>
        <p:nvSpPr>
          <p:cNvPr id="25" name="Badge"/>
          <p:cNvSpPr/>
          <p:nvPr/>
        </p:nvSpPr>
        <p:spPr>
          <a:xfrm>
            <a:off x="7080847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BadgeNum"/>
          <p:cNvSpPr/>
          <p:nvPr/>
        </p:nvSpPr>
        <p:spPr>
          <a:xfrm>
            <a:off x="7080847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  <a:endParaRPr lang="en-US" sz="1200" dirty="0"/>
          </a:p>
        </p:txBody>
      </p:sp>
      <p:sp>
        <p:nvSpPr>
          <p:cNvPr id="27" name="Card2"/>
          <p:cNvSpPr/>
          <p:nvPr/>
        </p:nvSpPr>
        <p:spPr>
          <a:xfrm>
            <a:off x="6460406" y="2319999"/>
            <a:ext cx="1580883" cy="3313539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Med2"/>
          <p:cNvSpPr/>
          <p:nvPr/>
        </p:nvSpPr>
        <p:spPr>
          <a:xfrm>
            <a:off x="6920847" y="2510000"/>
            <a:ext cx="660000" cy="6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MedIcon2"/>
          <p:cNvSpPr/>
          <p:nvPr/>
        </p:nvSpPr>
        <p:spPr>
          <a:xfrm>
            <a:off x="6920847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✨</a:t>
            </a:r>
            <a:endParaRPr lang="en-US" sz="2000" dirty="0"/>
          </a:p>
        </p:txBody>
      </p:sp>
      <p:sp>
        <p:nvSpPr>
          <p:cNvPr id="30" name="Heading2"/>
          <p:cNvSpPr/>
          <p:nvPr/>
        </p:nvSpPr>
        <p:spPr>
          <a:xfrm>
            <a:off x="6460406" y="3300000"/>
            <a:ext cx="149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AI-Recommended Upgrades</a:t>
            </a:r>
            <a:endParaRPr lang="en-US" sz="1400" dirty="0"/>
          </a:p>
        </p:txBody>
      </p:sp>
      <p:sp>
        <p:nvSpPr>
          <p:cNvPr id="31" name="Body2"/>
          <p:cNvSpPr/>
          <p:nvPr/>
        </p:nvSpPr>
        <p:spPr>
          <a:xfrm>
            <a:off x="6550406" y="4096769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Reviews a shortlist matched to their lifestyle profile.</a:t>
            </a:r>
            <a:endParaRPr lang="en-US" sz="1300" dirty="0"/>
          </a:p>
        </p:txBody>
      </p:sp>
      <p:sp>
        <p:nvSpPr>
          <p:cNvPr id="32" name="Badge"/>
          <p:cNvSpPr/>
          <p:nvPr/>
        </p:nvSpPr>
        <p:spPr>
          <a:xfrm>
            <a:off x="8881730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adgeNum"/>
          <p:cNvSpPr/>
          <p:nvPr/>
        </p:nvSpPr>
        <p:spPr>
          <a:xfrm>
            <a:off x="8881730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200" dirty="0"/>
          </a:p>
        </p:txBody>
      </p:sp>
      <p:sp>
        <p:nvSpPr>
          <p:cNvPr id="34" name="Card3"/>
          <p:cNvSpPr/>
          <p:nvPr/>
        </p:nvSpPr>
        <p:spPr>
          <a:xfrm>
            <a:off x="8261289" y="2319999"/>
            <a:ext cx="1580883" cy="3313539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Med3"/>
          <p:cNvSpPr/>
          <p:nvPr/>
        </p:nvSpPr>
        <p:spPr>
          <a:xfrm>
            <a:off x="8721730" y="2510000"/>
            <a:ext cx="660000" cy="6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MedIcon3"/>
          <p:cNvSpPr/>
          <p:nvPr/>
        </p:nvSpPr>
        <p:spPr>
          <a:xfrm>
            <a:off x="8721730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🛒</a:t>
            </a:r>
            <a:endParaRPr lang="en-US" sz="2000" dirty="0"/>
          </a:p>
        </p:txBody>
      </p:sp>
      <p:sp>
        <p:nvSpPr>
          <p:cNvPr id="37" name="Heading3"/>
          <p:cNvSpPr/>
          <p:nvPr/>
        </p:nvSpPr>
        <p:spPr>
          <a:xfrm>
            <a:off x="8351289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Live Basket &amp; Submission</a:t>
            </a:r>
            <a:endParaRPr lang="en-US" sz="1400" dirty="0"/>
          </a:p>
        </p:txBody>
      </p:sp>
      <p:sp>
        <p:nvSpPr>
          <p:cNvPr id="38" name="Body3"/>
          <p:cNvSpPr/>
          <p:nvPr/>
        </p:nvSpPr>
        <p:spPr>
          <a:xfrm>
            <a:off x="8351289" y="4096769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Builds choices and extras against their allowance, then submits.</a:t>
            </a:r>
            <a:endParaRPr lang="en-US" sz="1300" dirty="0"/>
          </a:p>
        </p:txBody>
      </p:sp>
      <p:sp>
        <p:nvSpPr>
          <p:cNvPr id="39" name="Badge"/>
          <p:cNvSpPr/>
          <p:nvPr/>
        </p:nvSpPr>
        <p:spPr>
          <a:xfrm>
            <a:off x="10682613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BadgeNum"/>
          <p:cNvSpPr/>
          <p:nvPr/>
        </p:nvSpPr>
        <p:spPr>
          <a:xfrm>
            <a:off x="10682613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5</a:t>
            </a:r>
            <a:endParaRPr lang="en-US" sz="1200" dirty="0"/>
          </a:p>
        </p:txBody>
      </p:sp>
      <p:sp>
        <p:nvSpPr>
          <p:cNvPr id="41" name="Card4"/>
          <p:cNvSpPr/>
          <p:nvPr/>
        </p:nvSpPr>
        <p:spPr>
          <a:xfrm>
            <a:off x="10062172" y="2319999"/>
            <a:ext cx="1580883" cy="3313539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2" name="Med4"/>
          <p:cNvSpPr/>
          <p:nvPr/>
        </p:nvSpPr>
        <p:spPr>
          <a:xfrm>
            <a:off x="10522613" y="2510000"/>
            <a:ext cx="660000" cy="6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MedIcon4"/>
          <p:cNvSpPr/>
          <p:nvPr/>
        </p:nvSpPr>
        <p:spPr>
          <a:xfrm>
            <a:off x="10522613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🚚</a:t>
            </a:r>
            <a:endParaRPr lang="en-US" sz="2000" dirty="0"/>
          </a:p>
        </p:txBody>
      </p:sp>
      <p:sp>
        <p:nvSpPr>
          <p:cNvPr id="44" name="Heading4"/>
          <p:cNvSpPr/>
          <p:nvPr/>
        </p:nvSpPr>
        <p:spPr>
          <a:xfrm>
            <a:off x="10152172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Tracks Approval &amp; Delivery</a:t>
            </a:r>
            <a:endParaRPr lang="en-US" sz="1400" dirty="0"/>
          </a:p>
        </p:txBody>
      </p:sp>
      <p:sp>
        <p:nvSpPr>
          <p:cNvPr id="45" name="Body4"/>
          <p:cNvSpPr/>
          <p:nvPr/>
        </p:nvSpPr>
        <p:spPr>
          <a:xfrm>
            <a:off x="10152172" y="4096769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Follows review, order and delivery status through to handover.</a:t>
            </a:r>
            <a:endParaRPr lang="en-US" sz="1300" dirty="0"/>
          </a:p>
        </p:txBody>
      </p:sp>
      <p:sp>
        <p:nvSpPr>
          <p:cNvPr id="46" name="NextStrip"/>
          <p:cNvSpPr/>
          <p:nvPr/>
        </p:nvSpPr>
        <p:spPr>
          <a:xfrm>
            <a:off x="2858639" y="5798000"/>
            <a:ext cx="8784415" cy="560000"/>
          </a:xfrm>
          <a:prstGeom prst="roundRect">
            <a:avLst>
              <a:gd name="adj" fmla="val 9000"/>
            </a:avLst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NextStripText"/>
          <p:cNvSpPr/>
          <p:nvPr/>
        </p:nvSpPr>
        <p:spPr>
          <a:xfrm>
            <a:off x="3118638" y="5798000"/>
            <a:ext cx="8264415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</a:rPr>
              <a:t>Continues with the Developer's review and approval</a:t>
            </a: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  →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AI Recommendation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lifestyle questionnaire to a ranked, budget-aware shortlist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548640" y="1721072"/>
            <a:ext cx="2578560" cy="3350000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Badge 5"/>
          <p:cNvSpPr/>
          <p:nvPr/>
        </p:nvSpPr>
        <p:spPr>
          <a:xfrm>
            <a:off x="1581888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Num 6"/>
          <p:cNvSpPr/>
          <p:nvPr/>
        </p:nvSpPr>
        <p:spPr>
          <a:xfrm>
            <a:off x="1581888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Label 7"/>
          <p:cNvSpPr/>
          <p:nvPr/>
        </p:nvSpPr>
        <p:spPr>
          <a:xfrm>
            <a:off x="648640" y="2513136"/>
            <a:ext cx="23785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Questionnaire to Query</a:t>
            </a:r>
            <a:endParaRPr lang="en-US" sz="1600" dirty="0"/>
          </a:p>
        </p:txBody>
      </p:sp>
      <p:sp>
        <p:nvSpPr>
          <p:cNvPr id="8" name="Body 8"/>
          <p:cNvSpPr/>
          <p:nvPr/>
        </p:nvSpPr>
        <p:spPr>
          <a:xfrm>
            <a:off x="658640" y="2933136"/>
            <a:ext cx="2358560" cy="2037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Household, lifestyle, style and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become one natural-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query , not like a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of filters.</a:t>
            </a:r>
            <a:endParaRPr lang="en-US" sz="1400" dirty="0"/>
          </a:p>
        </p:txBody>
      </p:sp>
      <p:sp>
        <p:nvSpPr>
          <p:cNvPr id="9" name="Chevron 9"/>
          <p:cNvSpPr/>
          <p:nvPr/>
        </p:nvSpPr>
        <p:spPr>
          <a:xfrm>
            <a:off x="3147200" y="3277200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10"/>
          <p:cNvSpPr/>
          <p:nvPr/>
        </p:nvSpPr>
        <p:spPr>
          <a:xfrm>
            <a:off x="3377200" y="1721072"/>
            <a:ext cx="2578560" cy="3350000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Badge 11"/>
          <p:cNvSpPr/>
          <p:nvPr/>
        </p:nvSpPr>
        <p:spPr>
          <a:xfrm>
            <a:off x="4410448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2" name="Num 12"/>
          <p:cNvSpPr/>
          <p:nvPr/>
        </p:nvSpPr>
        <p:spPr>
          <a:xfrm>
            <a:off x="4410448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3" name="Label 13"/>
          <p:cNvSpPr/>
          <p:nvPr/>
        </p:nvSpPr>
        <p:spPr>
          <a:xfrm>
            <a:off x="3477200" y="2513136"/>
            <a:ext cx="23785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Match (FAISS)</a:t>
            </a:r>
            <a:endParaRPr lang="en-US" sz="1600" dirty="0"/>
          </a:p>
        </p:txBody>
      </p:sp>
      <p:sp>
        <p:nvSpPr>
          <p:cNvPr id="14" name="Body 14"/>
          <p:cNvSpPr/>
          <p:nvPr/>
        </p:nvSpPr>
        <p:spPr>
          <a:xfrm>
            <a:off x="3487200" y="2933136"/>
            <a:ext cx="2358560" cy="2037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sentence-transformer embeds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product alike. FAISS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the full catalogue by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meaning.</a:t>
            </a:r>
            <a:endParaRPr lang="en-US" sz="1400" dirty="0"/>
          </a:p>
        </p:txBody>
      </p:sp>
      <p:sp>
        <p:nvSpPr>
          <p:cNvPr id="15" name="Chevron 15"/>
          <p:cNvSpPr/>
          <p:nvPr/>
        </p:nvSpPr>
        <p:spPr>
          <a:xfrm>
            <a:off x="5975760" y="3277200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6"/>
          <p:cNvSpPr/>
          <p:nvPr/>
        </p:nvSpPr>
        <p:spPr>
          <a:xfrm>
            <a:off x="6205760" y="1721072"/>
            <a:ext cx="2578560" cy="3350000"/>
          </a:xfrm>
          <a:prstGeom prst="roundRect">
            <a:avLst>
              <a:gd name="adj" fmla="val 4324"/>
            </a:avLst>
          </a:prstGeom>
          <a:solidFill>
            <a:srgbClr val="1B4A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Badge 17"/>
          <p:cNvSpPr/>
          <p:nvPr/>
        </p:nvSpPr>
        <p:spPr>
          <a:xfrm>
            <a:off x="7239008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Num 18"/>
          <p:cNvSpPr/>
          <p:nvPr/>
        </p:nvSpPr>
        <p:spPr>
          <a:xfrm>
            <a:off x="7239008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9" name="Label 19"/>
          <p:cNvSpPr/>
          <p:nvPr/>
        </p:nvSpPr>
        <p:spPr>
          <a:xfrm>
            <a:off x="6305760" y="2513136"/>
            <a:ext cx="23785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Before Ranking</a:t>
            </a:r>
            <a:endParaRPr lang="en-US" sz="1600" dirty="0"/>
          </a:p>
        </p:txBody>
      </p:sp>
      <p:sp>
        <p:nvSpPr>
          <p:cNvPr id="20" name="Body 20"/>
          <p:cNvSpPr/>
          <p:nvPr/>
        </p:nvSpPr>
        <p:spPr>
          <a:xfrm>
            <a:off x="6315760" y="2933136"/>
            <a:ext cx="2358560" cy="2037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first filtered based on the buyer’s allowance and style preferences, and then further refined by category.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only ever competes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options the buyer can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have.</a:t>
            </a:r>
            <a:endParaRPr lang="en-US" sz="1400" dirty="0"/>
          </a:p>
        </p:txBody>
      </p:sp>
      <p:sp>
        <p:nvSpPr>
          <p:cNvPr id="21" name="Chevron 21"/>
          <p:cNvSpPr/>
          <p:nvPr/>
        </p:nvSpPr>
        <p:spPr>
          <a:xfrm>
            <a:off x="8804320" y="3277200"/>
            <a:ext cx="256032" cy="237744"/>
          </a:xfrm>
          <a:prstGeom prst="chevron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22"/>
          <p:cNvSpPr/>
          <p:nvPr/>
        </p:nvSpPr>
        <p:spPr>
          <a:xfrm>
            <a:off x="9034320" y="1721072"/>
            <a:ext cx="2578560" cy="3350000"/>
          </a:xfrm>
          <a:prstGeom prst="roundRect">
            <a:avLst>
              <a:gd name="adj" fmla="val 4324"/>
            </a:avLst>
          </a:prstGeom>
          <a:solidFill>
            <a:srgbClr val="2D6B6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3" name="Badge 23"/>
          <p:cNvSpPr/>
          <p:nvPr/>
        </p:nvSpPr>
        <p:spPr>
          <a:xfrm>
            <a:off x="10067568" y="1911072"/>
            <a:ext cx="512064" cy="512064"/>
          </a:xfrm>
          <a:prstGeom prst="ellipse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Num 24"/>
          <p:cNvSpPr/>
          <p:nvPr/>
        </p:nvSpPr>
        <p:spPr>
          <a:xfrm>
            <a:off x="10067568" y="19110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80" dirty="0"/>
          </a:p>
        </p:txBody>
      </p:sp>
      <p:sp>
        <p:nvSpPr>
          <p:cNvPr id="25" name="Label 25"/>
          <p:cNvSpPr/>
          <p:nvPr/>
        </p:nvSpPr>
        <p:spPr>
          <a:xfrm>
            <a:off x="9134320" y="2513136"/>
            <a:ext cx="237856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Score (60/40)</a:t>
            </a:r>
            <a:endParaRPr lang="en-US" sz="1600" dirty="0"/>
          </a:p>
        </p:txBody>
      </p:sp>
      <p:sp>
        <p:nvSpPr>
          <p:cNvPr id="26" name="Body 26"/>
          <p:cNvSpPr/>
          <p:nvPr/>
        </p:nvSpPr>
        <p:spPr>
          <a:xfrm>
            <a:off x="9144320" y="2933136"/>
            <a:ext cx="2358560" cy="2037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semantic similarity &amp;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category boost helps in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results back to what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D9E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literally requested.</a:t>
            </a:r>
            <a:endParaRPr lang="en-US" sz="1400" dirty="0"/>
          </a:p>
        </p:txBody>
      </p:sp>
      <p:sp>
        <p:nvSpPr>
          <p:cNvPr id="28" name="Insight 28"/>
          <p:cNvSpPr/>
          <p:nvPr/>
        </p:nvSpPr>
        <p:spPr>
          <a:xfrm>
            <a:off x="548640" y="5331072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1B4A45"/>
          </a:solidFill>
          <a:ln w="12700">
            <a:solidFill>
              <a:srgbClr val="0F3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InsightText 29"/>
          <p:cNvSpPr/>
          <p:nvPr/>
        </p:nvSpPr>
        <p:spPr>
          <a:xfrm>
            <a:off x="848640" y="5331072"/>
            <a:ext cx="104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technical contribution is teaching the engine to understand meaning that a ”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family kitchen” and “warm, durable worktop” read as related, which no keyword filter ever could.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3093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Recommendation Example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7955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a wardrobe request to show FAISS, filtering and category boost clearly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02920" y="1152144"/>
            <a:ext cx="11183112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325880"/>
            <a:ext cx="1234440" cy="237744"/>
          </a:xfrm>
          <a:prstGeom prst="roundRect">
            <a:avLst>
              <a:gd name="adj" fmla="val 46154"/>
            </a:avLst>
          </a:prstGeom>
          <a:solidFill>
            <a:srgbClr val="EABB84"/>
          </a:solidFill>
          <a:ln w="6350">
            <a:solidFill>
              <a:srgbClr val="EDE9FE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B4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request</a:t>
            </a:r>
            <a:endParaRPr lang="en-US" sz="1020" dirty="0">
              <a:solidFill>
                <a:srgbClr val="1B4A45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2139696" y="1252728"/>
            <a:ext cx="80924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“Modern wardrobe for my bedroom, under £1,000.”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26334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2194560"/>
            <a:ext cx="384048" cy="384048"/>
          </a:xfrm>
          <a:prstGeom prst="ellipse">
            <a:avLst/>
          </a:prstGeom>
          <a:solidFill>
            <a:srgbClr val="1B4A45"/>
          </a:solidFill>
          <a:ln w="6350">
            <a:solidFill>
              <a:srgbClr val="2563EB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" y="2130552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FAISS similarity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161288" y="2414016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buyer vector with every product vector once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3154680" y="23225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337560" y="1993392"/>
            <a:ext cx="26334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93008" y="2194560"/>
            <a:ext cx="384048" cy="384048"/>
          </a:xfrm>
          <a:prstGeom prst="ellipse">
            <a:avLst/>
          </a:prstGeom>
          <a:solidFill>
            <a:srgbClr val="1B4A45"/>
          </a:solidFill>
          <a:ln w="6350">
            <a:solidFill>
              <a:srgbClr val="D9770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5928" y="2130552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&amp; style filter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995928" y="2414016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only products that pass practical checks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5989320" y="23225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172200" y="1993392"/>
            <a:ext cx="26334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7648" y="2194560"/>
            <a:ext cx="384048" cy="384048"/>
          </a:xfrm>
          <a:prstGeom prst="ellipse">
            <a:avLst/>
          </a:prstGeom>
          <a:solidFill>
            <a:srgbClr val="1B4A45"/>
          </a:solidFill>
          <a:ln w="6350">
            <a:solidFill>
              <a:srgbClr val="16A34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0568" y="2130552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match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830568" y="2414016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 the exact stated need: “wardrobe”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8823960" y="232257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006840" y="1993392"/>
            <a:ext cx="263347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62288" y="2194560"/>
            <a:ext cx="384048" cy="384048"/>
          </a:xfrm>
          <a:prstGeom prst="ellipse">
            <a:avLst/>
          </a:prstGeom>
          <a:solidFill>
            <a:srgbClr val="1B4A45"/>
          </a:solidFill>
          <a:ln w="6350">
            <a:solidFill>
              <a:srgbClr val="7C3AED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65208" y="2130552"/>
            <a:ext cx="1810512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ranking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9665208" y="2414016"/>
            <a:ext cx="181051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Sorts by 60% similarity + 40% category match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02920" y="3154680"/>
            <a:ext cx="11183112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" y="3346704"/>
            <a:ext cx="56692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scoring after budget and style filtering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49808" y="3621024"/>
            <a:ext cx="6629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products pass the £1,000 budget and modern style checks. The FAISS scores stay unchanged.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4005072"/>
            <a:ext cx="28346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3584448" y="4005072"/>
            <a:ext cx="19202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FAISS similarity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5504688" y="4005072"/>
            <a:ext cx="2057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match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7562088" y="4005072"/>
            <a:ext cx="214884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9710928" y="4005072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749808" y="4279392"/>
            <a:ext cx="103601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49808" y="4443984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fitted wardrobe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749808" y="4690872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requested product type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4087368" y="4517136"/>
            <a:ext cx="694944" cy="27432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6350">
            <a:solidFill>
              <a:srgbClr val="DBEAFE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63056" y="4517136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 w="6350">
            <a:solidFill>
              <a:srgbClr val="DCFCE7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607808" y="4498848"/>
            <a:ext cx="2057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 × 60%  +  100 × 40%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9710928" y="4434840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89.2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749808" y="5074920"/>
            <a:ext cx="1036015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9808" y="5230368"/>
            <a:ext cx="28346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bedroom lighting</a:t>
            </a:r>
            <a:endParaRPr lang="en-US" sz="1230" dirty="0"/>
          </a:p>
        </p:txBody>
      </p:sp>
      <p:sp>
        <p:nvSpPr>
          <p:cNvPr id="44" name="Text 42"/>
          <p:cNvSpPr/>
          <p:nvPr/>
        </p:nvSpPr>
        <p:spPr>
          <a:xfrm>
            <a:off x="749808" y="5477256"/>
            <a:ext cx="28346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Related, but not a wardrobe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4087368" y="5303520"/>
            <a:ext cx="694944" cy="274320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 w="6350">
            <a:solidFill>
              <a:srgbClr val="DBEAFE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63056" y="5303520"/>
            <a:ext cx="713232" cy="274320"/>
          </a:xfrm>
          <a:prstGeom prst="roundRect">
            <a:avLst>
              <a:gd name="adj" fmla="val 40000"/>
            </a:avLst>
          </a:prstGeom>
          <a:solidFill>
            <a:srgbClr val="FEE2E2"/>
          </a:solidFill>
          <a:ln w="6350">
            <a:solidFill>
              <a:srgbClr val="FEE2E2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07808" y="5285232"/>
            <a:ext cx="2057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 × 60%  +  0 × 40%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9710928" y="5221224"/>
            <a:ext cx="9601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51.6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502920" y="5897880"/>
            <a:ext cx="11183112" cy="566928"/>
          </a:xfrm>
          <a:prstGeom prst="roundRect">
            <a:avLst>
              <a:gd name="adj" fmla="val 19355"/>
            </a:avLst>
          </a:prstGeom>
          <a:solidFill>
            <a:srgbClr val="1B4A45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45202" y="6080760"/>
            <a:ext cx="10588752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FAISS finds products with similar meaning, but the category rule makes sure the buyer’s exact request is not missed.</a:t>
            </a:r>
            <a:endParaRPr lang="en-US" sz="12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548640" y="500000"/>
            <a:ext cx="2050000" cy="5860000"/>
          </a:xfrm>
          <a:prstGeom prst="roundRect">
            <a:avLst>
              <a:gd name="adj" fmla="val 1800"/>
            </a:avLst>
          </a:prstGeom>
          <a:solidFill>
            <a:srgbClr val="2D6B62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idebarKicker"/>
          <p:cNvSpPr/>
          <p:nvPr/>
        </p:nvSpPr>
        <p:spPr>
          <a:xfrm>
            <a:off x="698640" y="800000"/>
            <a:ext cx="175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ROLE JOURNEY</a:t>
            </a:r>
            <a:endParaRPr lang="en-US" sz="1200" dirty="0"/>
          </a:p>
        </p:txBody>
      </p:sp>
      <p:sp>
        <p:nvSpPr>
          <p:cNvPr id="4" name="Badge"/>
          <p:cNvSpPr/>
          <p:nvPr/>
        </p:nvSpPr>
        <p:spPr>
          <a:xfrm>
            <a:off x="1098640" y="1200000"/>
            <a:ext cx="950000" cy="95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BadgeNum"/>
          <p:cNvSpPr/>
          <p:nvPr/>
        </p:nvSpPr>
        <p:spPr>
          <a:xfrm>
            <a:off x="1098640" y="1200000"/>
            <a:ext cx="950000" cy="95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</a:rPr>
              <a:t>D</a:t>
            </a:r>
            <a:endParaRPr lang="en-US" sz="3200" dirty="0"/>
          </a:p>
        </p:txBody>
      </p:sp>
      <p:sp>
        <p:nvSpPr>
          <p:cNvPr id="6" name="SidebarName"/>
          <p:cNvSpPr/>
          <p:nvPr/>
        </p:nvSpPr>
        <p:spPr>
          <a:xfrm>
            <a:off x="648640" y="2370000"/>
            <a:ext cx="1850000" cy="4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</a:rPr>
              <a:t>Developer</a:t>
            </a:r>
            <a:endParaRPr lang="en-US" sz="2000" dirty="0"/>
          </a:p>
        </p:txBody>
      </p:sp>
      <p:sp>
        <p:nvSpPr>
          <p:cNvPr id="7" name="SidebarDesc"/>
          <p:cNvSpPr/>
          <p:nvPr/>
        </p:nvSpPr>
        <p:spPr>
          <a:xfrm>
            <a:off x="768640" y="2850000"/>
            <a:ext cx="161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D9EBE6"/>
                </a:solidFill>
                <a:latin typeface="Calibri" pitchFamily="34" charset="0"/>
              </a:rPr>
              <a:t>Site managers coordinating buyers, approvals and suppliers</a:t>
            </a:r>
            <a:endParaRPr lang="en-US" sz="1200" dirty="0"/>
          </a:p>
        </p:txBody>
      </p:sp>
      <p:sp>
        <p:nvSpPr>
          <p:cNvPr id="8" name="Title"/>
          <p:cNvSpPr/>
          <p:nvPr/>
        </p:nvSpPr>
        <p:spPr>
          <a:xfrm>
            <a:off x="2858640" y="500000"/>
            <a:ext cx="8784415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A45"/>
                </a:solidFill>
                <a:latin typeface="Cambria" pitchFamily="34" charset="0"/>
              </a:rPr>
              <a:t>The Developer Journey</a:t>
            </a:r>
            <a:endParaRPr lang="en-US" sz="2800" dirty="0"/>
          </a:p>
        </p:txBody>
      </p:sp>
      <p:sp>
        <p:nvSpPr>
          <p:cNvPr id="9" name="Subtitle"/>
          <p:cNvSpPr/>
          <p:nvPr/>
        </p:nvSpPr>
        <p:spPr>
          <a:xfrm>
            <a:off x="2858640" y="1140000"/>
            <a:ext cx="8784415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C6B66"/>
                </a:solidFill>
                <a:latin typeface="Calibri" pitchFamily="34" charset="0"/>
              </a:rPr>
              <a:t>From onboarding a buyer to a fulfilled, delivered order</a:t>
            </a:r>
            <a:endParaRPr lang="en-US" sz="1300" dirty="0"/>
          </a:p>
        </p:txBody>
      </p:sp>
      <p:cxnSp>
        <p:nvCxnSpPr>
          <p:cNvPr id="10" name="TimelineLine"/>
          <p:cNvCxnSpPr/>
          <p:nvPr/>
        </p:nvCxnSpPr>
        <p:spPr>
          <a:xfrm>
            <a:off x="3649081" y="1980000"/>
            <a:ext cx="7203533" cy="1"/>
          </a:xfrm>
          <a:prstGeom prst="line">
            <a:avLst/>
          </a:prstGeom>
          <a:ln w="19050">
            <a:solidFill>
              <a:srgbClr val="B8823E"/>
            </a:solidFill>
          </a:ln>
        </p:spPr>
      </p:cxnSp>
      <p:sp>
        <p:nvSpPr>
          <p:cNvPr id="11" name="Badge"/>
          <p:cNvSpPr/>
          <p:nvPr/>
        </p:nvSpPr>
        <p:spPr>
          <a:xfrm>
            <a:off x="3479081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adgeNum"/>
          <p:cNvSpPr/>
          <p:nvPr/>
        </p:nvSpPr>
        <p:spPr>
          <a:xfrm>
            <a:off x="3479081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200" dirty="0"/>
          </a:p>
        </p:txBody>
      </p:sp>
      <p:sp>
        <p:nvSpPr>
          <p:cNvPr id="13" name="Card0"/>
          <p:cNvSpPr/>
          <p:nvPr/>
        </p:nvSpPr>
        <p:spPr>
          <a:xfrm>
            <a:off x="2858640" y="2319999"/>
            <a:ext cx="1580883" cy="3271495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Med0"/>
          <p:cNvSpPr/>
          <p:nvPr/>
        </p:nvSpPr>
        <p:spPr>
          <a:xfrm>
            <a:off x="3319081" y="2510000"/>
            <a:ext cx="660000" cy="6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MedIcon0"/>
          <p:cNvSpPr/>
          <p:nvPr/>
        </p:nvSpPr>
        <p:spPr>
          <a:xfrm>
            <a:off x="3319081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🤝</a:t>
            </a:r>
            <a:endParaRPr lang="en-US" sz="2000" dirty="0"/>
          </a:p>
        </p:txBody>
      </p:sp>
      <p:sp>
        <p:nvSpPr>
          <p:cNvPr id="16" name="Heading0"/>
          <p:cNvSpPr/>
          <p:nvPr/>
        </p:nvSpPr>
        <p:spPr>
          <a:xfrm>
            <a:off x="2948640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Sets selection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Deadlines</a:t>
            </a:r>
            <a:endParaRPr lang="en-US" sz="1400" dirty="0"/>
          </a:p>
        </p:txBody>
      </p:sp>
      <p:sp>
        <p:nvSpPr>
          <p:cNvPr id="17" name="Body0"/>
          <p:cNvSpPr/>
          <p:nvPr/>
        </p:nvSpPr>
        <p:spPr>
          <a:xfrm>
            <a:off x="2968639" y="4126506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Sets/changes selection deadlines.</a:t>
            </a:r>
            <a:endParaRPr lang="en-US" sz="1300" dirty="0"/>
          </a:p>
        </p:txBody>
      </p:sp>
      <p:sp>
        <p:nvSpPr>
          <p:cNvPr id="18" name="Badge"/>
          <p:cNvSpPr/>
          <p:nvPr/>
        </p:nvSpPr>
        <p:spPr>
          <a:xfrm>
            <a:off x="5279964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BadgeNum"/>
          <p:cNvSpPr/>
          <p:nvPr/>
        </p:nvSpPr>
        <p:spPr>
          <a:xfrm>
            <a:off x="5279964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200" dirty="0"/>
          </a:p>
        </p:txBody>
      </p:sp>
      <p:sp>
        <p:nvSpPr>
          <p:cNvPr id="20" name="Card1"/>
          <p:cNvSpPr/>
          <p:nvPr/>
        </p:nvSpPr>
        <p:spPr>
          <a:xfrm>
            <a:off x="4659523" y="2319999"/>
            <a:ext cx="1580883" cy="3271495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Med1"/>
          <p:cNvSpPr/>
          <p:nvPr/>
        </p:nvSpPr>
        <p:spPr>
          <a:xfrm>
            <a:off x="5119964" y="2510000"/>
            <a:ext cx="660000" cy="6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MedIcon1"/>
          <p:cNvSpPr/>
          <p:nvPr/>
        </p:nvSpPr>
        <p:spPr>
          <a:xfrm>
            <a:off x="5119964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🔍</a:t>
            </a:r>
            <a:endParaRPr lang="en-US" sz="2000" dirty="0"/>
          </a:p>
        </p:txBody>
      </p:sp>
      <p:sp>
        <p:nvSpPr>
          <p:cNvPr id="23" name="Heading1"/>
          <p:cNvSpPr/>
          <p:nvPr/>
        </p:nvSpPr>
        <p:spPr>
          <a:xfrm>
            <a:off x="4749523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Reviews Submission</a:t>
            </a:r>
            <a:endParaRPr lang="en-US" sz="1400" dirty="0"/>
          </a:p>
        </p:txBody>
      </p:sp>
      <p:sp>
        <p:nvSpPr>
          <p:cNvPr id="24" name="Body1"/>
          <p:cNvSpPr/>
          <p:nvPr/>
        </p:nvSpPr>
        <p:spPr>
          <a:xfrm>
            <a:off x="4769522" y="4126506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Checks the buyer's full set of selections against the plan.</a:t>
            </a:r>
            <a:endParaRPr lang="en-US" sz="1300" dirty="0"/>
          </a:p>
        </p:txBody>
      </p:sp>
      <p:sp>
        <p:nvSpPr>
          <p:cNvPr id="25" name="Badge"/>
          <p:cNvSpPr/>
          <p:nvPr/>
        </p:nvSpPr>
        <p:spPr>
          <a:xfrm>
            <a:off x="7080847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BadgeNum"/>
          <p:cNvSpPr/>
          <p:nvPr/>
        </p:nvSpPr>
        <p:spPr>
          <a:xfrm>
            <a:off x="7080847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  <a:endParaRPr lang="en-US" sz="1200" dirty="0"/>
          </a:p>
        </p:txBody>
      </p:sp>
      <p:sp>
        <p:nvSpPr>
          <p:cNvPr id="27" name="Card2"/>
          <p:cNvSpPr/>
          <p:nvPr/>
        </p:nvSpPr>
        <p:spPr>
          <a:xfrm>
            <a:off x="6460406" y="2319999"/>
            <a:ext cx="1580883" cy="3271495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Med2"/>
          <p:cNvSpPr/>
          <p:nvPr/>
        </p:nvSpPr>
        <p:spPr>
          <a:xfrm>
            <a:off x="6920847" y="2510000"/>
            <a:ext cx="660000" cy="6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MedIcon2"/>
          <p:cNvSpPr/>
          <p:nvPr/>
        </p:nvSpPr>
        <p:spPr>
          <a:xfrm>
            <a:off x="6920847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✅</a:t>
            </a:r>
            <a:endParaRPr lang="en-US" sz="2000" dirty="0"/>
          </a:p>
        </p:txBody>
      </p:sp>
      <p:sp>
        <p:nvSpPr>
          <p:cNvPr id="30" name="Heading2"/>
          <p:cNvSpPr/>
          <p:nvPr/>
        </p:nvSpPr>
        <p:spPr>
          <a:xfrm>
            <a:off x="6550406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Approves or Rejects</a:t>
            </a:r>
            <a:endParaRPr lang="en-US" sz="1400" dirty="0"/>
          </a:p>
        </p:txBody>
      </p:sp>
      <p:sp>
        <p:nvSpPr>
          <p:cNvPr id="31" name="Body2"/>
          <p:cNvSpPr/>
          <p:nvPr/>
        </p:nvSpPr>
        <p:spPr>
          <a:xfrm>
            <a:off x="6570405" y="4126506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Signs off or sends items back with a reason to re-select.</a:t>
            </a:r>
            <a:endParaRPr lang="en-US" sz="1300" dirty="0"/>
          </a:p>
        </p:txBody>
      </p:sp>
      <p:sp>
        <p:nvSpPr>
          <p:cNvPr id="32" name="Badge"/>
          <p:cNvSpPr/>
          <p:nvPr/>
        </p:nvSpPr>
        <p:spPr>
          <a:xfrm>
            <a:off x="8881730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adgeNum"/>
          <p:cNvSpPr/>
          <p:nvPr/>
        </p:nvSpPr>
        <p:spPr>
          <a:xfrm>
            <a:off x="8881730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200" dirty="0"/>
          </a:p>
        </p:txBody>
      </p:sp>
      <p:sp>
        <p:nvSpPr>
          <p:cNvPr id="34" name="Card3"/>
          <p:cNvSpPr/>
          <p:nvPr/>
        </p:nvSpPr>
        <p:spPr>
          <a:xfrm>
            <a:off x="8261289" y="2319999"/>
            <a:ext cx="1580883" cy="3271495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Med3"/>
          <p:cNvSpPr/>
          <p:nvPr/>
        </p:nvSpPr>
        <p:spPr>
          <a:xfrm>
            <a:off x="8721730" y="2510000"/>
            <a:ext cx="660000" cy="6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MedIcon3"/>
          <p:cNvSpPr/>
          <p:nvPr/>
        </p:nvSpPr>
        <p:spPr>
          <a:xfrm>
            <a:off x="8721730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📋</a:t>
            </a:r>
            <a:endParaRPr lang="en-US" sz="2000" dirty="0"/>
          </a:p>
        </p:txBody>
      </p:sp>
      <p:sp>
        <p:nvSpPr>
          <p:cNvPr id="37" name="Heading3"/>
          <p:cNvSpPr/>
          <p:nvPr/>
        </p:nvSpPr>
        <p:spPr>
          <a:xfrm>
            <a:off x="8351289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Purchase Orders Generated</a:t>
            </a:r>
            <a:endParaRPr lang="en-US" sz="1400" dirty="0"/>
          </a:p>
        </p:txBody>
      </p:sp>
      <p:sp>
        <p:nvSpPr>
          <p:cNvPr id="38" name="Body3"/>
          <p:cNvSpPr/>
          <p:nvPr/>
        </p:nvSpPr>
        <p:spPr>
          <a:xfrm>
            <a:off x="8371288" y="4126506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Approved items are grouped automatically per Supplier.</a:t>
            </a:r>
            <a:endParaRPr lang="en-US" sz="1300" dirty="0"/>
          </a:p>
        </p:txBody>
      </p:sp>
      <p:sp>
        <p:nvSpPr>
          <p:cNvPr id="39" name="Badge"/>
          <p:cNvSpPr/>
          <p:nvPr/>
        </p:nvSpPr>
        <p:spPr>
          <a:xfrm>
            <a:off x="10682613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BadgeNum"/>
          <p:cNvSpPr/>
          <p:nvPr/>
        </p:nvSpPr>
        <p:spPr>
          <a:xfrm>
            <a:off x="10682613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5</a:t>
            </a:r>
            <a:endParaRPr lang="en-US" sz="1200" dirty="0"/>
          </a:p>
        </p:txBody>
      </p:sp>
      <p:sp>
        <p:nvSpPr>
          <p:cNvPr id="41" name="Card4"/>
          <p:cNvSpPr/>
          <p:nvPr/>
        </p:nvSpPr>
        <p:spPr>
          <a:xfrm>
            <a:off x="10062172" y="2319999"/>
            <a:ext cx="1580883" cy="3271495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2" name="Med4"/>
          <p:cNvSpPr/>
          <p:nvPr/>
        </p:nvSpPr>
        <p:spPr>
          <a:xfrm>
            <a:off x="10522613" y="2510000"/>
            <a:ext cx="660000" cy="6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MedIcon4"/>
          <p:cNvSpPr/>
          <p:nvPr/>
        </p:nvSpPr>
        <p:spPr>
          <a:xfrm>
            <a:off x="10522613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📊</a:t>
            </a:r>
            <a:endParaRPr lang="en-US" sz="2000" dirty="0"/>
          </a:p>
        </p:txBody>
      </p:sp>
      <p:sp>
        <p:nvSpPr>
          <p:cNvPr id="44" name="Heading4"/>
          <p:cNvSpPr/>
          <p:nvPr/>
        </p:nvSpPr>
        <p:spPr>
          <a:xfrm>
            <a:off x="10152172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Tracks Fulfilment</a:t>
            </a:r>
            <a:endParaRPr lang="en-US" sz="1400" dirty="0"/>
          </a:p>
        </p:txBody>
      </p:sp>
      <p:sp>
        <p:nvSpPr>
          <p:cNvPr id="45" name="Body4"/>
          <p:cNvSpPr/>
          <p:nvPr/>
        </p:nvSpPr>
        <p:spPr>
          <a:xfrm>
            <a:off x="10172171" y="4126506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Monitors Supplier ETAs, invoices and delivery status to the buyer.</a:t>
            </a:r>
            <a:endParaRPr lang="en-US" sz="1300" dirty="0"/>
          </a:p>
        </p:txBody>
      </p:sp>
      <p:sp>
        <p:nvSpPr>
          <p:cNvPr id="46" name="NextStrip"/>
          <p:cNvSpPr/>
          <p:nvPr/>
        </p:nvSpPr>
        <p:spPr>
          <a:xfrm>
            <a:off x="2858640" y="5798000"/>
            <a:ext cx="8784415" cy="560000"/>
          </a:xfrm>
          <a:prstGeom prst="roundRect">
            <a:avLst>
              <a:gd name="adj" fmla="val 9000"/>
            </a:avLst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NextStripText"/>
          <p:cNvSpPr/>
          <p:nvPr/>
        </p:nvSpPr>
        <p:spPr>
          <a:xfrm>
            <a:off x="3118640" y="5798000"/>
            <a:ext cx="8264415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</a:rPr>
              <a:t>Continues with the Supplier's fulfilment and delivery</a:t>
            </a: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  →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548640" y="500000"/>
            <a:ext cx="2050000" cy="5860000"/>
          </a:xfrm>
          <a:prstGeom prst="roundRect">
            <a:avLst>
              <a:gd name="adj" fmla="val 1800"/>
            </a:avLst>
          </a:prstGeom>
          <a:solidFill>
            <a:srgbClr val="0F302D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" name="SidebarKicker"/>
          <p:cNvSpPr/>
          <p:nvPr/>
        </p:nvSpPr>
        <p:spPr>
          <a:xfrm>
            <a:off x="698640" y="800000"/>
            <a:ext cx="175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ROLE JOURNEY</a:t>
            </a:r>
            <a:endParaRPr lang="en-US" sz="1200" dirty="0"/>
          </a:p>
        </p:txBody>
      </p:sp>
      <p:sp>
        <p:nvSpPr>
          <p:cNvPr id="4" name="Badge"/>
          <p:cNvSpPr/>
          <p:nvPr/>
        </p:nvSpPr>
        <p:spPr>
          <a:xfrm>
            <a:off x="1098640" y="1200000"/>
            <a:ext cx="950000" cy="95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BadgeNum"/>
          <p:cNvSpPr/>
          <p:nvPr/>
        </p:nvSpPr>
        <p:spPr>
          <a:xfrm>
            <a:off x="1098640" y="1200000"/>
            <a:ext cx="950000" cy="95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</a:rPr>
              <a:t>S</a:t>
            </a:r>
            <a:endParaRPr lang="en-US" sz="3200" dirty="0"/>
          </a:p>
        </p:txBody>
      </p:sp>
      <p:sp>
        <p:nvSpPr>
          <p:cNvPr id="6" name="SidebarName"/>
          <p:cNvSpPr/>
          <p:nvPr/>
        </p:nvSpPr>
        <p:spPr>
          <a:xfrm>
            <a:off x="648640" y="2370000"/>
            <a:ext cx="1850000" cy="4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</a:rPr>
              <a:t>Supplier</a:t>
            </a:r>
            <a:endParaRPr lang="en-US" sz="2000" dirty="0"/>
          </a:p>
        </p:txBody>
      </p:sp>
      <p:sp>
        <p:nvSpPr>
          <p:cNvPr id="7" name="SidebarDesc"/>
          <p:cNvSpPr/>
          <p:nvPr/>
        </p:nvSpPr>
        <p:spPr>
          <a:xfrm>
            <a:off x="768640" y="2850000"/>
            <a:ext cx="161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D9EBE6"/>
                </a:solidFill>
                <a:latin typeface="Calibri" pitchFamily="34" charset="0"/>
              </a:rPr>
              <a:t>Partners fulfilling purchase orders raised by Developers</a:t>
            </a:r>
            <a:endParaRPr lang="en-US" sz="1200" dirty="0"/>
          </a:p>
        </p:txBody>
      </p:sp>
      <p:sp>
        <p:nvSpPr>
          <p:cNvPr id="8" name="Title"/>
          <p:cNvSpPr/>
          <p:nvPr/>
        </p:nvSpPr>
        <p:spPr>
          <a:xfrm>
            <a:off x="2858640" y="500000"/>
            <a:ext cx="8784415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4A45"/>
                </a:solidFill>
                <a:latin typeface="Cambria" pitchFamily="34" charset="0"/>
              </a:rPr>
              <a:t>The Supplier Journey</a:t>
            </a:r>
            <a:endParaRPr lang="en-US" sz="2800" dirty="0"/>
          </a:p>
        </p:txBody>
      </p:sp>
      <p:sp>
        <p:nvSpPr>
          <p:cNvPr id="9" name="Subtitle"/>
          <p:cNvSpPr/>
          <p:nvPr/>
        </p:nvSpPr>
        <p:spPr>
          <a:xfrm>
            <a:off x="2858640" y="1140000"/>
            <a:ext cx="8784415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C6B66"/>
                </a:solidFill>
                <a:latin typeface="Calibri" pitchFamily="34" charset="0"/>
              </a:rPr>
              <a:t>From receiving a purchase order to final delivery</a:t>
            </a:r>
            <a:endParaRPr lang="en-US" sz="1300" dirty="0"/>
          </a:p>
        </p:txBody>
      </p:sp>
      <p:cxnSp>
        <p:nvCxnSpPr>
          <p:cNvPr id="10" name="TimelineLine"/>
          <p:cNvCxnSpPr/>
          <p:nvPr/>
        </p:nvCxnSpPr>
        <p:spPr>
          <a:xfrm>
            <a:off x="3649081" y="1980000"/>
            <a:ext cx="7203533" cy="1"/>
          </a:xfrm>
          <a:prstGeom prst="line">
            <a:avLst/>
          </a:prstGeom>
          <a:ln w="19050">
            <a:solidFill>
              <a:srgbClr val="B8823E"/>
            </a:solidFill>
          </a:ln>
        </p:spPr>
      </p:cxnSp>
      <p:sp>
        <p:nvSpPr>
          <p:cNvPr id="11" name="Badge"/>
          <p:cNvSpPr/>
          <p:nvPr/>
        </p:nvSpPr>
        <p:spPr>
          <a:xfrm>
            <a:off x="3479081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BadgeNum"/>
          <p:cNvSpPr/>
          <p:nvPr/>
        </p:nvSpPr>
        <p:spPr>
          <a:xfrm>
            <a:off x="3479081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1</a:t>
            </a:r>
            <a:endParaRPr lang="en-US" sz="1200" dirty="0"/>
          </a:p>
        </p:txBody>
      </p:sp>
      <p:sp>
        <p:nvSpPr>
          <p:cNvPr id="13" name="Card0"/>
          <p:cNvSpPr/>
          <p:nvPr/>
        </p:nvSpPr>
        <p:spPr>
          <a:xfrm>
            <a:off x="2858640" y="2319999"/>
            <a:ext cx="1580883" cy="3324051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Med0"/>
          <p:cNvSpPr/>
          <p:nvPr/>
        </p:nvSpPr>
        <p:spPr>
          <a:xfrm>
            <a:off x="3319081" y="2510000"/>
            <a:ext cx="660000" cy="6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MedIcon0"/>
          <p:cNvSpPr/>
          <p:nvPr/>
        </p:nvSpPr>
        <p:spPr>
          <a:xfrm>
            <a:off x="3319081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📥</a:t>
            </a:r>
            <a:endParaRPr lang="en-US" sz="2000" dirty="0"/>
          </a:p>
        </p:txBody>
      </p:sp>
      <p:sp>
        <p:nvSpPr>
          <p:cNvPr id="16" name="Heading0"/>
          <p:cNvSpPr/>
          <p:nvPr/>
        </p:nvSpPr>
        <p:spPr>
          <a:xfrm>
            <a:off x="2948640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Receives Purchase Order</a:t>
            </a:r>
            <a:endParaRPr lang="en-US" sz="1400" dirty="0"/>
          </a:p>
        </p:txBody>
      </p:sp>
      <p:sp>
        <p:nvSpPr>
          <p:cNvPr id="17" name="Body0"/>
          <p:cNvSpPr/>
          <p:nvPr/>
        </p:nvSpPr>
        <p:spPr>
          <a:xfrm>
            <a:off x="2948640" y="4207088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Gets an auto-generated PO grouped for their items only.</a:t>
            </a:r>
            <a:endParaRPr lang="en-US" sz="1300" dirty="0"/>
          </a:p>
        </p:txBody>
      </p:sp>
      <p:sp>
        <p:nvSpPr>
          <p:cNvPr id="18" name="Badge"/>
          <p:cNvSpPr/>
          <p:nvPr/>
        </p:nvSpPr>
        <p:spPr>
          <a:xfrm>
            <a:off x="5279964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BadgeNum"/>
          <p:cNvSpPr/>
          <p:nvPr/>
        </p:nvSpPr>
        <p:spPr>
          <a:xfrm>
            <a:off x="5279964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2</a:t>
            </a:r>
            <a:endParaRPr lang="en-US" sz="1200" dirty="0"/>
          </a:p>
        </p:txBody>
      </p:sp>
      <p:sp>
        <p:nvSpPr>
          <p:cNvPr id="20" name="Card1"/>
          <p:cNvSpPr/>
          <p:nvPr/>
        </p:nvSpPr>
        <p:spPr>
          <a:xfrm>
            <a:off x="4659523" y="2319999"/>
            <a:ext cx="1580883" cy="3324051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Med1"/>
          <p:cNvSpPr/>
          <p:nvPr/>
        </p:nvSpPr>
        <p:spPr>
          <a:xfrm>
            <a:off x="5119964" y="2510000"/>
            <a:ext cx="660000" cy="6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MedIcon1"/>
          <p:cNvSpPr/>
          <p:nvPr/>
        </p:nvSpPr>
        <p:spPr>
          <a:xfrm>
            <a:off x="5119964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📅</a:t>
            </a:r>
            <a:endParaRPr lang="en-US" sz="2000" dirty="0"/>
          </a:p>
        </p:txBody>
      </p:sp>
      <p:sp>
        <p:nvSpPr>
          <p:cNvPr id="23" name="Heading1"/>
          <p:cNvSpPr/>
          <p:nvPr/>
        </p:nvSpPr>
        <p:spPr>
          <a:xfrm>
            <a:off x="4749523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Acknowledges &amp; Sets ETA</a:t>
            </a:r>
            <a:endParaRPr lang="en-US" sz="1400" dirty="0"/>
          </a:p>
        </p:txBody>
      </p:sp>
      <p:sp>
        <p:nvSpPr>
          <p:cNvPr id="24" name="Body1"/>
          <p:cNvSpPr/>
          <p:nvPr/>
        </p:nvSpPr>
        <p:spPr>
          <a:xfrm>
            <a:off x="4749523" y="4207088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Confirms the order and syncs a delivery estimate to the calendar.</a:t>
            </a:r>
            <a:endParaRPr lang="en-US" sz="1300" dirty="0"/>
          </a:p>
        </p:txBody>
      </p:sp>
      <p:sp>
        <p:nvSpPr>
          <p:cNvPr id="25" name="Badge"/>
          <p:cNvSpPr/>
          <p:nvPr/>
        </p:nvSpPr>
        <p:spPr>
          <a:xfrm>
            <a:off x="7080847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BadgeNum"/>
          <p:cNvSpPr/>
          <p:nvPr/>
        </p:nvSpPr>
        <p:spPr>
          <a:xfrm>
            <a:off x="7080847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3</a:t>
            </a:r>
            <a:endParaRPr lang="en-US" sz="1200" dirty="0"/>
          </a:p>
        </p:txBody>
      </p:sp>
      <p:sp>
        <p:nvSpPr>
          <p:cNvPr id="27" name="Card2"/>
          <p:cNvSpPr/>
          <p:nvPr/>
        </p:nvSpPr>
        <p:spPr>
          <a:xfrm>
            <a:off x="6460406" y="2319999"/>
            <a:ext cx="1580883" cy="3324051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Med2"/>
          <p:cNvSpPr/>
          <p:nvPr/>
        </p:nvSpPr>
        <p:spPr>
          <a:xfrm>
            <a:off x="6920847" y="2510000"/>
            <a:ext cx="660000" cy="6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MedIcon2"/>
          <p:cNvSpPr/>
          <p:nvPr/>
        </p:nvSpPr>
        <p:spPr>
          <a:xfrm>
            <a:off x="6920847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🏭</a:t>
            </a:r>
            <a:endParaRPr lang="en-US" sz="2000" dirty="0"/>
          </a:p>
        </p:txBody>
      </p:sp>
      <p:sp>
        <p:nvSpPr>
          <p:cNvPr id="30" name="Heading2"/>
          <p:cNvSpPr/>
          <p:nvPr/>
        </p:nvSpPr>
        <p:spPr>
          <a:xfrm>
            <a:off x="6550406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Procures &amp; Prepares</a:t>
            </a:r>
            <a:endParaRPr lang="en-US" sz="1400" dirty="0"/>
          </a:p>
        </p:txBody>
      </p:sp>
      <p:sp>
        <p:nvSpPr>
          <p:cNvPr id="31" name="Body2"/>
          <p:cNvSpPr/>
          <p:nvPr/>
        </p:nvSpPr>
        <p:spPr>
          <a:xfrm>
            <a:off x="6550406" y="4207088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Sources the items ready for delivery to the plot.</a:t>
            </a:r>
            <a:endParaRPr lang="en-US" sz="1300" dirty="0"/>
          </a:p>
        </p:txBody>
      </p:sp>
      <p:sp>
        <p:nvSpPr>
          <p:cNvPr id="32" name="Badge"/>
          <p:cNvSpPr/>
          <p:nvPr/>
        </p:nvSpPr>
        <p:spPr>
          <a:xfrm>
            <a:off x="8881730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BadgeNum"/>
          <p:cNvSpPr/>
          <p:nvPr/>
        </p:nvSpPr>
        <p:spPr>
          <a:xfrm>
            <a:off x="8881730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  <a:endParaRPr lang="en-US" sz="1200" dirty="0"/>
          </a:p>
        </p:txBody>
      </p:sp>
      <p:sp>
        <p:nvSpPr>
          <p:cNvPr id="34" name="Card3"/>
          <p:cNvSpPr/>
          <p:nvPr/>
        </p:nvSpPr>
        <p:spPr>
          <a:xfrm>
            <a:off x="8261289" y="2319999"/>
            <a:ext cx="1580883" cy="3324051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Med3"/>
          <p:cNvSpPr/>
          <p:nvPr/>
        </p:nvSpPr>
        <p:spPr>
          <a:xfrm>
            <a:off x="8721730" y="2510000"/>
            <a:ext cx="660000" cy="6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MedIcon3"/>
          <p:cNvSpPr/>
          <p:nvPr/>
        </p:nvSpPr>
        <p:spPr>
          <a:xfrm>
            <a:off x="8721730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🧾</a:t>
            </a:r>
            <a:endParaRPr lang="en-US" sz="2000" dirty="0"/>
          </a:p>
        </p:txBody>
      </p:sp>
      <p:sp>
        <p:nvSpPr>
          <p:cNvPr id="37" name="Heading3"/>
          <p:cNvSpPr/>
          <p:nvPr/>
        </p:nvSpPr>
        <p:spPr>
          <a:xfrm>
            <a:off x="8351289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Uploads Invoice</a:t>
            </a:r>
            <a:endParaRPr lang="en-US" sz="1400" dirty="0"/>
          </a:p>
        </p:txBody>
      </p:sp>
      <p:sp>
        <p:nvSpPr>
          <p:cNvPr id="38" name="Body3"/>
          <p:cNvSpPr/>
          <p:nvPr/>
        </p:nvSpPr>
        <p:spPr>
          <a:xfrm>
            <a:off x="8351289" y="4207088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Submits the invoice for the Developer to process.</a:t>
            </a:r>
            <a:endParaRPr lang="en-US" sz="1300" dirty="0"/>
          </a:p>
        </p:txBody>
      </p:sp>
      <p:sp>
        <p:nvSpPr>
          <p:cNvPr id="39" name="Badge"/>
          <p:cNvSpPr/>
          <p:nvPr/>
        </p:nvSpPr>
        <p:spPr>
          <a:xfrm>
            <a:off x="10682613" y="1810000"/>
            <a:ext cx="340000" cy="34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BadgeNum"/>
          <p:cNvSpPr/>
          <p:nvPr/>
        </p:nvSpPr>
        <p:spPr>
          <a:xfrm>
            <a:off x="10682613" y="1810000"/>
            <a:ext cx="340000" cy="3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</a:rPr>
              <a:t>5</a:t>
            </a:r>
            <a:endParaRPr lang="en-US" sz="1200" dirty="0"/>
          </a:p>
        </p:txBody>
      </p:sp>
      <p:sp>
        <p:nvSpPr>
          <p:cNvPr id="41" name="Card4"/>
          <p:cNvSpPr/>
          <p:nvPr/>
        </p:nvSpPr>
        <p:spPr>
          <a:xfrm>
            <a:off x="10062172" y="2319999"/>
            <a:ext cx="1580883" cy="3324051"/>
          </a:xfrm>
          <a:prstGeom prst="roundRect">
            <a:avLst>
              <a:gd name="adj" fmla="val 6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2" name="Med4"/>
          <p:cNvSpPr/>
          <p:nvPr/>
        </p:nvSpPr>
        <p:spPr>
          <a:xfrm>
            <a:off x="10522613" y="2510000"/>
            <a:ext cx="660000" cy="6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MedIcon4"/>
          <p:cNvSpPr/>
          <p:nvPr/>
        </p:nvSpPr>
        <p:spPr>
          <a:xfrm>
            <a:off x="10522613" y="2510000"/>
            <a:ext cx="660000" cy="6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</a:rPr>
              <a:t>🚚</a:t>
            </a:r>
            <a:endParaRPr lang="en-US" sz="2000" dirty="0"/>
          </a:p>
        </p:txBody>
      </p:sp>
      <p:sp>
        <p:nvSpPr>
          <p:cNvPr id="44" name="Heading4"/>
          <p:cNvSpPr/>
          <p:nvPr/>
        </p:nvSpPr>
        <p:spPr>
          <a:xfrm>
            <a:off x="10152172" y="3300000"/>
            <a:ext cx="1400883" cy="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Developer Delivers &amp; Updates Status</a:t>
            </a:r>
            <a:endParaRPr lang="en-US" sz="1400" dirty="0"/>
          </a:p>
        </p:txBody>
      </p:sp>
      <p:sp>
        <p:nvSpPr>
          <p:cNvPr id="45" name="Body4"/>
          <p:cNvSpPr/>
          <p:nvPr/>
        </p:nvSpPr>
        <p:spPr>
          <a:xfrm>
            <a:off x="10152172" y="4207088"/>
            <a:ext cx="1360883" cy="1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Suppliers fulfills the delivery; the buyer is notified by the Developer after that.</a:t>
            </a:r>
            <a:endParaRPr lang="en-US" sz="1300" dirty="0"/>
          </a:p>
        </p:txBody>
      </p:sp>
      <p:sp>
        <p:nvSpPr>
          <p:cNvPr id="46" name="NextStrip"/>
          <p:cNvSpPr/>
          <p:nvPr/>
        </p:nvSpPr>
        <p:spPr>
          <a:xfrm>
            <a:off x="2858640" y="5798000"/>
            <a:ext cx="8784415" cy="560000"/>
          </a:xfrm>
          <a:prstGeom prst="roundRect">
            <a:avLst>
              <a:gd name="adj" fmla="val 9000"/>
            </a:avLst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NextStripText"/>
          <p:cNvSpPr/>
          <p:nvPr/>
        </p:nvSpPr>
        <p:spPr>
          <a:xfrm>
            <a:off x="3118640" y="5798000"/>
            <a:ext cx="8264415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</a:rPr>
              <a:t>Completes the procurement journey</a:t>
            </a:r>
            <a:r>
              <a:rPr lang="en-US" sz="1200" b="1" dirty="0">
                <a:solidFill>
                  <a:srgbClr val="B8823E"/>
                </a:solidFill>
                <a:latin typeface="Calibri" pitchFamily="34" charset="0"/>
              </a:rPr>
              <a:t>  →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Admin Role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centralised governance layer spanning every other role</a:t>
            </a:r>
            <a:endParaRPr lang="en-US" sz="1400" dirty="0"/>
          </a:p>
        </p:txBody>
      </p:sp>
      <p:cxnSp>
        <p:nvCxnSpPr>
          <p:cNvPr id="4" name="Arrow 4"/>
          <p:cNvCxnSpPr/>
          <p:nvPr/>
        </p:nvCxnSpPr>
        <p:spPr>
          <a:xfrm flipV="1">
            <a:off x="4847729" y="2969420"/>
            <a:ext cx="2104657" cy="709435"/>
          </a:xfrm>
          <a:prstGeom prst="line">
            <a:avLst/>
          </a:prstGeom>
          <a:ln w="28575">
            <a:solidFill>
              <a:srgbClr val="B8823E"/>
            </a:solidFill>
            <a:tailEnd type="triangle" w="med" len="med"/>
          </a:ln>
        </p:spPr>
      </p:cxnSp>
      <p:cxnSp>
        <p:nvCxnSpPr>
          <p:cNvPr id="5" name="Arrow 5"/>
          <p:cNvCxnSpPr/>
          <p:nvPr/>
        </p:nvCxnSpPr>
        <p:spPr>
          <a:xfrm>
            <a:off x="4924575" y="4185389"/>
            <a:ext cx="3650748" cy="87617"/>
          </a:xfrm>
          <a:prstGeom prst="line">
            <a:avLst/>
          </a:prstGeom>
          <a:ln w="28575">
            <a:solidFill>
              <a:srgbClr val="B8823E"/>
            </a:solidFill>
            <a:tailEnd type="triangle" w="med" len="med"/>
          </a:ln>
        </p:spPr>
      </p:cxnSp>
      <p:cxnSp>
        <p:nvCxnSpPr>
          <p:cNvPr id="6" name="Arrow 6"/>
          <p:cNvCxnSpPr/>
          <p:nvPr/>
        </p:nvCxnSpPr>
        <p:spPr>
          <a:xfrm>
            <a:off x="4842921" y="4635174"/>
            <a:ext cx="2112724" cy="735892"/>
          </a:xfrm>
          <a:prstGeom prst="line">
            <a:avLst/>
          </a:prstGeom>
          <a:ln w="28575">
            <a:solidFill>
              <a:srgbClr val="B8823E"/>
            </a:solidFill>
            <a:tailEnd type="triangle" w="med" len="med"/>
          </a:ln>
        </p:spPr>
      </p:cxnSp>
      <p:sp>
        <p:nvSpPr>
          <p:cNvPr id="7" name="Bubble 7"/>
          <p:cNvSpPr/>
          <p:nvPr/>
        </p:nvSpPr>
        <p:spPr>
          <a:xfrm>
            <a:off x="1975000" y="2675000"/>
            <a:ext cx="2950000" cy="2950000"/>
          </a:xfrm>
          <a:prstGeom prst="ellipse">
            <a:avLst/>
          </a:prstGeom>
          <a:solidFill>
            <a:srgbClr val="6B5B54"/>
          </a:solidFill>
          <a:ln>
            <a:noFill/>
          </a:ln>
          <a:effectLst>
            <a:outerShdw blurRad="114300" dist="381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BubbleText 8"/>
          <p:cNvSpPr/>
          <p:nvPr/>
        </p:nvSpPr>
        <p:spPr>
          <a:xfrm>
            <a:off x="2358500" y="3235500"/>
            <a:ext cx="2183000" cy="18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spc="150" dirty="0">
                <a:solidFill>
                  <a:srgbClr val="F0C9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</a:t>
            </a:r>
            <a:endParaRPr lang="en-US" sz="17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do?</a:t>
            </a:r>
            <a:endParaRPr lang="en-US" sz="1700" dirty="0"/>
          </a:p>
        </p:txBody>
      </p:sp>
      <p:sp>
        <p:nvSpPr>
          <p:cNvPr id="9" name="Bubble 9"/>
          <p:cNvSpPr/>
          <p:nvPr/>
        </p:nvSpPr>
        <p:spPr>
          <a:xfrm>
            <a:off x="6900000" y="1650000"/>
            <a:ext cx="2000000" cy="2000000"/>
          </a:xfrm>
          <a:prstGeom prst="ellipse">
            <a:avLst/>
          </a:prstGeom>
          <a:solidFill>
            <a:srgbClr val="B8823E"/>
          </a:solidFill>
          <a:ln>
            <a:noFill/>
          </a:ln>
          <a:effectLst>
            <a:outerShdw blurRad="114300" dist="381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BubbleText 10"/>
          <p:cNvSpPr/>
          <p:nvPr/>
        </p:nvSpPr>
        <p:spPr>
          <a:xfrm>
            <a:off x="7160000" y="2030000"/>
            <a:ext cx="1480000" cy="1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latin typeface="Calibri" pitchFamily="34" charset="0"/>
              </a:rPr>
              <a:t>👥</a:t>
            </a:r>
            <a:endParaRPr lang="en-US" sz="3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</a:t>
            </a:r>
            <a:endParaRPr lang="en-US" sz="11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150" dirty="0"/>
          </a:p>
        </p:txBody>
      </p:sp>
      <p:sp>
        <p:nvSpPr>
          <p:cNvPr id="11" name="Bubble 11"/>
          <p:cNvSpPr/>
          <p:nvPr/>
        </p:nvSpPr>
        <p:spPr>
          <a:xfrm>
            <a:off x="8575000" y="3175000"/>
            <a:ext cx="2250000" cy="2250000"/>
          </a:xfrm>
          <a:prstGeom prst="ellipse">
            <a:avLst/>
          </a:prstGeom>
          <a:solidFill>
            <a:srgbClr val="2D6B62"/>
          </a:solidFill>
          <a:ln>
            <a:noFill/>
          </a:ln>
          <a:effectLst>
            <a:outerShdw blurRad="114300" dist="381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BubbleText 12"/>
          <p:cNvSpPr/>
          <p:nvPr/>
        </p:nvSpPr>
        <p:spPr>
          <a:xfrm>
            <a:off x="8867500" y="3602500"/>
            <a:ext cx="1665000" cy="139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75" dirty="0">
                <a:latin typeface="Calibri" pitchFamily="34" charset="0"/>
              </a:rPr>
              <a:t>📦</a:t>
            </a:r>
            <a:endParaRPr lang="en-US" sz="3375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Product</a:t>
            </a:r>
            <a:endParaRPr lang="en-US" sz="11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Catalogue</a:t>
            </a:r>
            <a:endParaRPr lang="en-US" sz="1150" dirty="0"/>
          </a:p>
        </p:txBody>
      </p:sp>
      <p:sp>
        <p:nvSpPr>
          <p:cNvPr id="13" name="Bubble 13"/>
          <p:cNvSpPr/>
          <p:nvPr/>
        </p:nvSpPr>
        <p:spPr>
          <a:xfrm>
            <a:off x="6900000" y="4700000"/>
            <a:ext cx="2000000" cy="2000000"/>
          </a:xfrm>
          <a:prstGeom prst="ellipse">
            <a:avLst/>
          </a:prstGeom>
          <a:solidFill>
            <a:srgbClr val="1B4A45"/>
          </a:solidFill>
          <a:ln>
            <a:noFill/>
          </a:ln>
          <a:effectLst>
            <a:outerShdw blurRad="114300" dist="38100" dir="5400000" algn="t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BubbleText 14"/>
          <p:cNvSpPr/>
          <p:nvPr/>
        </p:nvSpPr>
        <p:spPr>
          <a:xfrm>
            <a:off x="7160000" y="5080000"/>
            <a:ext cx="1480000" cy="1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latin typeface="Calibri" pitchFamily="34" charset="0"/>
              </a:rPr>
              <a:t>📊</a:t>
            </a:r>
            <a:endParaRPr lang="en-US" sz="3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Platform-Wide</a:t>
            </a:r>
            <a:endParaRPr lang="en-US" sz="115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Key Platform Features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</a:rPr>
              <a:t>Beyond the core workflow, the tools that keep every role informed and connected</a:t>
            </a:r>
            <a:endParaRPr lang="en-US" sz="1400" dirty="0"/>
          </a:p>
        </p:txBody>
      </p:sp>
      <p:sp>
        <p:nvSpPr>
          <p:cNvPr id="4" name="Card0"/>
          <p:cNvSpPr/>
          <p:nvPr/>
        </p:nvSpPr>
        <p:spPr>
          <a:xfrm>
            <a:off x="548640" y="15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Med0"/>
          <p:cNvSpPr/>
          <p:nvPr/>
        </p:nvSpPr>
        <p:spPr>
          <a:xfrm>
            <a:off x="1527941" y="1740000"/>
            <a:ext cx="620000" cy="62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MedIcon0"/>
          <p:cNvSpPr/>
          <p:nvPr/>
        </p:nvSpPr>
        <p:spPr>
          <a:xfrm>
            <a:off x="1527941" y="17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🎯</a:t>
            </a:r>
            <a:endParaRPr lang="en-US" sz="2100" dirty="0"/>
          </a:p>
        </p:txBody>
      </p:sp>
      <p:sp>
        <p:nvSpPr>
          <p:cNvPr id="7" name="Heading0"/>
          <p:cNvSpPr/>
          <p:nvPr/>
        </p:nvSpPr>
        <p:spPr>
          <a:xfrm>
            <a:off x="630622" y="25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Hybrid AI Recommendation Engine</a:t>
            </a:r>
            <a:endParaRPr lang="en-US" sz="1400" dirty="0"/>
          </a:p>
        </p:txBody>
      </p:sp>
      <p:sp>
        <p:nvSpPr>
          <p:cNvPr id="8" name="Body0"/>
          <p:cNvSpPr/>
          <p:nvPr/>
        </p:nvSpPr>
        <p:spPr>
          <a:xfrm>
            <a:off x="630622" y="31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Ranks paid upgrades against the buyer's lifestyle and budget.</a:t>
            </a:r>
            <a:endParaRPr lang="en-US" sz="1300" dirty="0"/>
          </a:p>
        </p:txBody>
      </p:sp>
      <p:sp>
        <p:nvSpPr>
          <p:cNvPr id="9" name="Card1"/>
          <p:cNvSpPr/>
          <p:nvPr/>
        </p:nvSpPr>
        <p:spPr>
          <a:xfrm>
            <a:off x="3387243" y="15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Med1"/>
          <p:cNvSpPr/>
          <p:nvPr/>
        </p:nvSpPr>
        <p:spPr>
          <a:xfrm>
            <a:off x="4366544" y="1740000"/>
            <a:ext cx="620000" cy="62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MedIcon1"/>
          <p:cNvSpPr/>
          <p:nvPr/>
        </p:nvSpPr>
        <p:spPr>
          <a:xfrm>
            <a:off x="4366544" y="17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🤖</a:t>
            </a:r>
            <a:endParaRPr lang="en-US" sz="2100" dirty="0"/>
          </a:p>
        </p:txBody>
      </p:sp>
      <p:sp>
        <p:nvSpPr>
          <p:cNvPr id="12" name="Heading1"/>
          <p:cNvSpPr/>
          <p:nvPr/>
        </p:nvSpPr>
        <p:spPr>
          <a:xfrm>
            <a:off x="3469225" y="25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Conversational AI Assistant</a:t>
            </a:r>
            <a:endParaRPr lang="en-US" sz="1400" dirty="0"/>
          </a:p>
        </p:txBody>
      </p:sp>
      <p:sp>
        <p:nvSpPr>
          <p:cNvPr id="13" name="Body1"/>
          <p:cNvSpPr/>
          <p:nvPr/>
        </p:nvSpPr>
        <p:spPr>
          <a:xfrm>
            <a:off x="3469225" y="31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An in-app assistant that helps buyers navigate choices.</a:t>
            </a:r>
            <a:endParaRPr lang="en-US" sz="1300" dirty="0"/>
          </a:p>
        </p:txBody>
      </p:sp>
      <p:sp>
        <p:nvSpPr>
          <p:cNvPr id="14" name="Card2"/>
          <p:cNvSpPr/>
          <p:nvPr/>
        </p:nvSpPr>
        <p:spPr>
          <a:xfrm>
            <a:off x="6225846" y="15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Med2"/>
          <p:cNvSpPr/>
          <p:nvPr/>
        </p:nvSpPr>
        <p:spPr>
          <a:xfrm>
            <a:off x="7205147" y="1740000"/>
            <a:ext cx="620000" cy="62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MedIcon2"/>
          <p:cNvSpPr/>
          <p:nvPr/>
        </p:nvSpPr>
        <p:spPr>
          <a:xfrm>
            <a:off x="7205147" y="17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💬</a:t>
            </a:r>
            <a:endParaRPr lang="en-US" sz="2100" dirty="0"/>
          </a:p>
        </p:txBody>
      </p:sp>
      <p:sp>
        <p:nvSpPr>
          <p:cNvPr id="17" name="Heading2"/>
          <p:cNvSpPr/>
          <p:nvPr/>
        </p:nvSpPr>
        <p:spPr>
          <a:xfrm>
            <a:off x="6307828" y="25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Real-Time Messaging</a:t>
            </a:r>
            <a:endParaRPr lang="en-US" sz="1400" dirty="0"/>
          </a:p>
        </p:txBody>
      </p:sp>
      <p:sp>
        <p:nvSpPr>
          <p:cNvPr id="18" name="Body2"/>
          <p:cNvSpPr/>
          <p:nvPr/>
        </p:nvSpPr>
        <p:spPr>
          <a:xfrm>
            <a:off x="6307828" y="31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Socket.io chat between roles, with permissions enforced.</a:t>
            </a:r>
            <a:endParaRPr lang="en-US" sz="1300" dirty="0"/>
          </a:p>
        </p:txBody>
      </p:sp>
      <p:sp>
        <p:nvSpPr>
          <p:cNvPr id="19" name="Card3"/>
          <p:cNvSpPr/>
          <p:nvPr/>
        </p:nvSpPr>
        <p:spPr>
          <a:xfrm>
            <a:off x="9064449" y="15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Med3"/>
          <p:cNvSpPr/>
          <p:nvPr/>
        </p:nvSpPr>
        <p:spPr>
          <a:xfrm>
            <a:off x="10043750" y="1740000"/>
            <a:ext cx="620000" cy="62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MedIcon3"/>
          <p:cNvSpPr/>
          <p:nvPr/>
        </p:nvSpPr>
        <p:spPr>
          <a:xfrm>
            <a:off x="10043750" y="17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📅</a:t>
            </a:r>
            <a:endParaRPr lang="en-US" sz="2100" dirty="0"/>
          </a:p>
        </p:txBody>
      </p:sp>
      <p:sp>
        <p:nvSpPr>
          <p:cNvPr id="22" name="Heading3"/>
          <p:cNvSpPr/>
          <p:nvPr/>
        </p:nvSpPr>
        <p:spPr>
          <a:xfrm>
            <a:off x="9146431" y="25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Calendar &amp; Reminders</a:t>
            </a:r>
            <a:endParaRPr lang="en-US" sz="1400" dirty="0"/>
          </a:p>
        </p:txBody>
      </p:sp>
      <p:sp>
        <p:nvSpPr>
          <p:cNvPr id="23" name="Body3"/>
          <p:cNvSpPr/>
          <p:nvPr/>
        </p:nvSpPr>
        <p:spPr>
          <a:xfrm>
            <a:off x="9146431" y="31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Deadlines and delivery ETAs synced to a shared calendar.</a:t>
            </a:r>
            <a:endParaRPr lang="en-US" sz="1300" dirty="0"/>
          </a:p>
        </p:txBody>
      </p:sp>
      <p:sp>
        <p:nvSpPr>
          <p:cNvPr id="24" name="Card4"/>
          <p:cNvSpPr/>
          <p:nvPr/>
        </p:nvSpPr>
        <p:spPr>
          <a:xfrm>
            <a:off x="548640" y="40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Med4"/>
          <p:cNvSpPr/>
          <p:nvPr/>
        </p:nvSpPr>
        <p:spPr>
          <a:xfrm>
            <a:off x="1527941" y="4240000"/>
            <a:ext cx="620000" cy="62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MedIcon4"/>
          <p:cNvSpPr/>
          <p:nvPr/>
        </p:nvSpPr>
        <p:spPr>
          <a:xfrm>
            <a:off x="1527941" y="42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🔔</a:t>
            </a:r>
            <a:endParaRPr lang="en-US" sz="2100" dirty="0"/>
          </a:p>
        </p:txBody>
      </p:sp>
      <p:sp>
        <p:nvSpPr>
          <p:cNvPr id="27" name="Heading4"/>
          <p:cNvSpPr/>
          <p:nvPr/>
        </p:nvSpPr>
        <p:spPr>
          <a:xfrm>
            <a:off x="630622" y="50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Notifications</a:t>
            </a:r>
            <a:endParaRPr lang="en-US" sz="1400" dirty="0"/>
          </a:p>
        </p:txBody>
      </p:sp>
      <p:sp>
        <p:nvSpPr>
          <p:cNvPr id="28" name="Body4"/>
          <p:cNvSpPr/>
          <p:nvPr/>
        </p:nvSpPr>
        <p:spPr>
          <a:xfrm>
            <a:off x="630622" y="56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In-app alerts notify each role the moment action is needed.</a:t>
            </a:r>
            <a:endParaRPr lang="en-US" sz="1300" dirty="0"/>
          </a:p>
        </p:txBody>
      </p:sp>
      <p:sp>
        <p:nvSpPr>
          <p:cNvPr id="29" name="Card5"/>
          <p:cNvSpPr/>
          <p:nvPr/>
        </p:nvSpPr>
        <p:spPr>
          <a:xfrm>
            <a:off x="3387243" y="40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Med5"/>
          <p:cNvSpPr/>
          <p:nvPr/>
        </p:nvSpPr>
        <p:spPr>
          <a:xfrm>
            <a:off x="4366544" y="4240000"/>
            <a:ext cx="620000" cy="62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MedIcon5"/>
          <p:cNvSpPr/>
          <p:nvPr/>
        </p:nvSpPr>
        <p:spPr>
          <a:xfrm>
            <a:off x="4366544" y="42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📧</a:t>
            </a:r>
            <a:endParaRPr lang="en-US" sz="2100" dirty="0"/>
          </a:p>
        </p:txBody>
      </p:sp>
      <p:sp>
        <p:nvSpPr>
          <p:cNvPr id="32" name="Heading5"/>
          <p:cNvSpPr/>
          <p:nvPr/>
        </p:nvSpPr>
        <p:spPr>
          <a:xfrm>
            <a:off x="3469225" y="50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Fallback Email &amp; Reminders</a:t>
            </a:r>
            <a:endParaRPr lang="en-US" sz="1400" dirty="0"/>
          </a:p>
        </p:txBody>
      </p:sp>
      <p:sp>
        <p:nvSpPr>
          <p:cNvPr id="33" name="Body5"/>
          <p:cNvSpPr/>
          <p:nvPr/>
        </p:nvSpPr>
        <p:spPr>
          <a:xfrm>
            <a:off x="3469225" y="56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Automatic fallback emails plus scheduled deadline reminders.</a:t>
            </a:r>
            <a:endParaRPr lang="en-US" sz="1300" dirty="0"/>
          </a:p>
        </p:txBody>
      </p:sp>
      <p:sp>
        <p:nvSpPr>
          <p:cNvPr id="34" name="Card6"/>
          <p:cNvSpPr/>
          <p:nvPr/>
        </p:nvSpPr>
        <p:spPr>
          <a:xfrm>
            <a:off x="6225846" y="40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Med6"/>
          <p:cNvSpPr/>
          <p:nvPr/>
        </p:nvSpPr>
        <p:spPr>
          <a:xfrm>
            <a:off x="7205147" y="4240000"/>
            <a:ext cx="620000" cy="62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MedIcon6"/>
          <p:cNvSpPr/>
          <p:nvPr/>
        </p:nvSpPr>
        <p:spPr>
          <a:xfrm>
            <a:off x="7205147" y="42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🧾</a:t>
            </a:r>
            <a:endParaRPr lang="en-US" sz="2100" dirty="0"/>
          </a:p>
        </p:txBody>
      </p:sp>
      <p:sp>
        <p:nvSpPr>
          <p:cNvPr id="37" name="Heading6"/>
          <p:cNvSpPr/>
          <p:nvPr/>
        </p:nvSpPr>
        <p:spPr>
          <a:xfrm>
            <a:off x="6307828" y="50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Invoice Upload</a:t>
            </a:r>
            <a:endParaRPr lang="en-US" sz="1400" dirty="0"/>
          </a:p>
        </p:txBody>
      </p:sp>
      <p:sp>
        <p:nvSpPr>
          <p:cNvPr id="38" name="Body6"/>
          <p:cNvSpPr/>
          <p:nvPr/>
        </p:nvSpPr>
        <p:spPr>
          <a:xfrm>
            <a:off x="6307828" y="56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Suppliers upload invoices; AI can summarise them instantly.</a:t>
            </a:r>
            <a:endParaRPr lang="en-US" sz="1300" dirty="0"/>
          </a:p>
        </p:txBody>
      </p:sp>
      <p:sp>
        <p:nvSpPr>
          <p:cNvPr id="39" name="Card7"/>
          <p:cNvSpPr/>
          <p:nvPr/>
        </p:nvSpPr>
        <p:spPr>
          <a:xfrm>
            <a:off x="9064449" y="4020000"/>
            <a:ext cx="2578603" cy="2300000"/>
          </a:xfrm>
          <a:prstGeom prst="roundRect">
            <a:avLst>
              <a:gd name="adj" fmla="val 55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Med7"/>
          <p:cNvSpPr/>
          <p:nvPr/>
        </p:nvSpPr>
        <p:spPr>
          <a:xfrm>
            <a:off x="10043750" y="4240000"/>
            <a:ext cx="620000" cy="62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MedIcon7"/>
          <p:cNvSpPr/>
          <p:nvPr/>
        </p:nvSpPr>
        <p:spPr>
          <a:xfrm>
            <a:off x="10043750" y="4240000"/>
            <a:ext cx="620000" cy="6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</a:rPr>
              <a:t>📄</a:t>
            </a:r>
            <a:endParaRPr lang="en-US" sz="2100" dirty="0"/>
          </a:p>
        </p:txBody>
      </p:sp>
      <p:sp>
        <p:nvSpPr>
          <p:cNvPr id="42" name="Heading7"/>
          <p:cNvSpPr/>
          <p:nvPr/>
        </p:nvSpPr>
        <p:spPr>
          <a:xfrm>
            <a:off x="9146431" y="5010000"/>
            <a:ext cx="2375338" cy="5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Selection Summary (PDF)</a:t>
            </a:r>
            <a:endParaRPr lang="en-US" sz="1400" dirty="0"/>
          </a:p>
        </p:txBody>
      </p:sp>
      <p:sp>
        <p:nvSpPr>
          <p:cNvPr id="43" name="Body7"/>
          <p:cNvSpPr/>
          <p:nvPr/>
        </p:nvSpPr>
        <p:spPr>
          <a:xfrm>
            <a:off x="9146431" y="5610000"/>
            <a:ext cx="2375338" cy="6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6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Buyers download a PDF summary of their full selection.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Challenges Along the Way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</a:rPr>
              <a:t>A few of the technical problems worked through during development</a:t>
            </a:r>
            <a:endParaRPr lang="en-US" sz="1400" dirty="0"/>
          </a:p>
        </p:txBody>
      </p:sp>
      <p:sp>
        <p:nvSpPr>
          <p:cNvPr id="4" name="Card0"/>
          <p:cNvSpPr/>
          <p:nvPr/>
        </p:nvSpPr>
        <p:spPr>
          <a:xfrm>
            <a:off x="548640" y="1550000"/>
            <a:ext cx="3498138" cy="4300000"/>
          </a:xfrm>
          <a:prstGeom prst="roundRect">
            <a:avLst>
              <a:gd name="adj" fmla="val 26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Med0"/>
          <p:cNvSpPr/>
          <p:nvPr/>
        </p:nvSpPr>
        <p:spPr>
          <a:xfrm>
            <a:off x="1957709" y="1850000"/>
            <a:ext cx="680000" cy="68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MedIcon0"/>
          <p:cNvSpPr/>
          <p:nvPr/>
        </p:nvSpPr>
        <p:spPr>
          <a:xfrm>
            <a:off x="1957709" y="1850000"/>
            <a:ext cx="680000" cy="6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</a:rPr>
              <a:t>🔒</a:t>
            </a:r>
            <a:endParaRPr lang="en-US" sz="2400" dirty="0"/>
          </a:p>
        </p:txBody>
      </p:sp>
      <p:sp>
        <p:nvSpPr>
          <p:cNvPr id="7" name="Heading0"/>
          <p:cNvSpPr/>
          <p:nvPr/>
        </p:nvSpPr>
        <p:spPr>
          <a:xfrm>
            <a:off x="828640" y="2750000"/>
            <a:ext cx="293813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4A45"/>
                </a:solidFill>
                <a:latin typeface="Cambria" pitchFamily="34" charset="0"/>
              </a:rPr>
              <a:t>Session-Scoped Buyer Data</a:t>
            </a:r>
            <a:endParaRPr lang="en-US" sz="1600" dirty="0"/>
          </a:p>
        </p:txBody>
      </p:sp>
      <p:sp>
        <p:nvSpPr>
          <p:cNvPr id="8" name="Dot"/>
          <p:cNvSpPr/>
          <p:nvPr/>
        </p:nvSpPr>
        <p:spPr>
          <a:xfrm>
            <a:off x="828640" y="3555000"/>
            <a:ext cx="90000" cy="90000"/>
          </a:xfrm>
          <a:prstGeom prst="ellipse">
            <a:avLst/>
          </a:prstGeom>
          <a:solidFill>
            <a:srgbClr val="5C6B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Label"/>
          <p:cNvSpPr/>
          <p:nvPr/>
        </p:nvSpPr>
        <p:spPr>
          <a:xfrm>
            <a:off x="1028640" y="3490000"/>
            <a:ext cx="2738138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B66"/>
                </a:solidFill>
                <a:latin typeface="Calibri" pitchFamily="34" charset="0"/>
              </a:rPr>
              <a:t>THE CONSTRAINT</a:t>
            </a:r>
            <a:endParaRPr lang="en-US" sz="1400" dirty="0"/>
          </a:p>
        </p:txBody>
      </p:sp>
      <p:sp>
        <p:nvSpPr>
          <p:cNvPr id="10" name="Line"/>
          <p:cNvSpPr/>
          <p:nvPr/>
        </p:nvSpPr>
        <p:spPr>
          <a:xfrm>
            <a:off x="828640" y="3740000"/>
            <a:ext cx="293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A4A46"/>
                </a:solidFill>
                <a:latin typeface="Calibri" pitchFamily="34" charset="0"/>
              </a:rPr>
              <a:t>Cached buyer data needs to reset cleanly between logins</a:t>
            </a:r>
            <a:endParaRPr lang="en-US" sz="1400" dirty="0"/>
          </a:p>
        </p:txBody>
      </p:sp>
      <p:sp>
        <p:nvSpPr>
          <p:cNvPr id="11" name="Arrow0"/>
          <p:cNvSpPr/>
          <p:nvPr/>
        </p:nvSpPr>
        <p:spPr>
          <a:xfrm>
            <a:off x="828640" y="4280000"/>
            <a:ext cx="2938138" cy="2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8823E"/>
                </a:solidFill>
                <a:latin typeface="Calibri" pitchFamily="34" charset="0"/>
              </a:rPr>
              <a:t>↓</a:t>
            </a:r>
            <a:endParaRPr lang="en-US" sz="1500" dirty="0"/>
          </a:p>
        </p:txBody>
      </p:sp>
      <p:sp>
        <p:nvSpPr>
          <p:cNvPr id="12" name="Dot"/>
          <p:cNvSpPr/>
          <p:nvPr/>
        </p:nvSpPr>
        <p:spPr>
          <a:xfrm>
            <a:off x="828640" y="4625000"/>
            <a:ext cx="90000" cy="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Label"/>
          <p:cNvSpPr/>
          <p:nvPr/>
        </p:nvSpPr>
        <p:spPr>
          <a:xfrm>
            <a:off x="1028640" y="4560000"/>
            <a:ext cx="2738138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823E"/>
                </a:solidFill>
                <a:latin typeface="Calibri" pitchFamily="34" charset="0"/>
              </a:rPr>
              <a:t>THE APPROACH</a:t>
            </a:r>
            <a:endParaRPr lang="en-US" sz="1400" dirty="0"/>
          </a:p>
        </p:txBody>
      </p:sp>
      <p:sp>
        <p:nvSpPr>
          <p:cNvPr id="14" name="Line"/>
          <p:cNvSpPr/>
          <p:nvPr/>
        </p:nvSpPr>
        <p:spPr>
          <a:xfrm>
            <a:off x="828640" y="4810000"/>
            <a:ext cx="293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libri" pitchFamily="34" charset="0"/>
              </a:rPr>
              <a:t>Cache scoped to the session, cleared on every login</a:t>
            </a:r>
            <a:endParaRPr lang="en-US" sz="1400" dirty="0"/>
          </a:p>
        </p:txBody>
      </p:sp>
      <p:sp>
        <p:nvSpPr>
          <p:cNvPr id="15" name="Card1"/>
          <p:cNvSpPr/>
          <p:nvPr/>
        </p:nvSpPr>
        <p:spPr>
          <a:xfrm>
            <a:off x="4346778" y="1550000"/>
            <a:ext cx="3498138" cy="4300000"/>
          </a:xfrm>
          <a:prstGeom prst="roundRect">
            <a:avLst>
              <a:gd name="adj" fmla="val 2600"/>
            </a:avLst>
          </a:prstGeom>
          <a:solidFill>
            <a:srgbClr val="F4EFE6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Med1"/>
          <p:cNvSpPr/>
          <p:nvPr/>
        </p:nvSpPr>
        <p:spPr>
          <a:xfrm>
            <a:off x="5755847" y="1850000"/>
            <a:ext cx="680000" cy="68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MedIcon1"/>
          <p:cNvSpPr/>
          <p:nvPr/>
        </p:nvSpPr>
        <p:spPr>
          <a:xfrm>
            <a:off x="5755847" y="1850000"/>
            <a:ext cx="680000" cy="6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</a:rPr>
              <a:t>🧮</a:t>
            </a:r>
            <a:endParaRPr lang="en-US" sz="2400" dirty="0"/>
          </a:p>
        </p:txBody>
      </p:sp>
      <p:sp>
        <p:nvSpPr>
          <p:cNvPr id="18" name="Heading1"/>
          <p:cNvSpPr/>
          <p:nvPr/>
        </p:nvSpPr>
        <p:spPr>
          <a:xfrm>
            <a:off x="4626778" y="2750000"/>
            <a:ext cx="293813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4A45"/>
                </a:solidFill>
                <a:latin typeface="Cambria" pitchFamily="34" charset="0"/>
              </a:rPr>
              <a:t>Two Totals, One Allowance</a:t>
            </a:r>
            <a:endParaRPr lang="en-US" sz="1600" dirty="0"/>
          </a:p>
        </p:txBody>
      </p:sp>
      <p:sp>
        <p:nvSpPr>
          <p:cNvPr id="19" name="Dot"/>
          <p:cNvSpPr/>
          <p:nvPr/>
        </p:nvSpPr>
        <p:spPr>
          <a:xfrm>
            <a:off x="4626778" y="3555000"/>
            <a:ext cx="90000" cy="90000"/>
          </a:xfrm>
          <a:prstGeom prst="ellipse">
            <a:avLst/>
          </a:prstGeom>
          <a:solidFill>
            <a:srgbClr val="5C6B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Label"/>
          <p:cNvSpPr/>
          <p:nvPr/>
        </p:nvSpPr>
        <p:spPr>
          <a:xfrm>
            <a:off x="4826778" y="3490000"/>
            <a:ext cx="2738138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B66"/>
                </a:solidFill>
                <a:latin typeface="Calibri" pitchFamily="34" charset="0"/>
              </a:rPr>
              <a:t>THE CONSTRAINT</a:t>
            </a:r>
            <a:endParaRPr lang="en-US" sz="1400" dirty="0"/>
          </a:p>
        </p:txBody>
      </p:sp>
      <p:sp>
        <p:nvSpPr>
          <p:cNvPr id="21" name="Line"/>
          <p:cNvSpPr/>
          <p:nvPr/>
        </p:nvSpPr>
        <p:spPr>
          <a:xfrm>
            <a:off x="4626778" y="3740000"/>
            <a:ext cx="293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A4A46"/>
                </a:solidFill>
                <a:latin typeface="Calibri" pitchFamily="34" charset="0"/>
              </a:rPr>
              <a:t>Total spend and new-item pricing must stay independent</a:t>
            </a:r>
            <a:endParaRPr lang="en-US" sz="1400" dirty="0"/>
          </a:p>
        </p:txBody>
      </p:sp>
      <p:sp>
        <p:nvSpPr>
          <p:cNvPr id="22" name="Arrow1"/>
          <p:cNvSpPr/>
          <p:nvPr/>
        </p:nvSpPr>
        <p:spPr>
          <a:xfrm>
            <a:off x="4626778" y="4280000"/>
            <a:ext cx="2938138" cy="2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8823E"/>
                </a:solidFill>
                <a:latin typeface="Calibri" pitchFamily="34" charset="0"/>
              </a:rPr>
              <a:t>↓</a:t>
            </a:r>
            <a:endParaRPr lang="en-US" sz="1500" dirty="0"/>
          </a:p>
        </p:txBody>
      </p:sp>
      <p:sp>
        <p:nvSpPr>
          <p:cNvPr id="23" name="Dot"/>
          <p:cNvSpPr/>
          <p:nvPr/>
        </p:nvSpPr>
        <p:spPr>
          <a:xfrm>
            <a:off x="4626778" y="4625000"/>
            <a:ext cx="90000" cy="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Label"/>
          <p:cNvSpPr/>
          <p:nvPr/>
        </p:nvSpPr>
        <p:spPr>
          <a:xfrm>
            <a:off x="4826778" y="4560000"/>
            <a:ext cx="2738138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823E"/>
                </a:solidFill>
                <a:latin typeface="Calibri" pitchFamily="34" charset="0"/>
              </a:rPr>
              <a:t>THE APPROACH</a:t>
            </a:r>
            <a:endParaRPr lang="en-US" sz="1400" dirty="0"/>
          </a:p>
        </p:txBody>
      </p:sp>
      <p:sp>
        <p:nvSpPr>
          <p:cNvPr id="25" name="Line"/>
          <p:cNvSpPr/>
          <p:nvPr/>
        </p:nvSpPr>
        <p:spPr>
          <a:xfrm>
            <a:off x="4626778" y="4810000"/>
            <a:ext cx="293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libri" pitchFamily="34" charset="0"/>
              </a:rPr>
              <a:t>Two running totals tracked separately through submission</a:t>
            </a:r>
            <a:endParaRPr lang="en-US" sz="1400" dirty="0"/>
          </a:p>
        </p:txBody>
      </p:sp>
      <p:sp>
        <p:nvSpPr>
          <p:cNvPr id="26" name="Card2"/>
          <p:cNvSpPr/>
          <p:nvPr/>
        </p:nvSpPr>
        <p:spPr>
          <a:xfrm>
            <a:off x="8144916" y="1550000"/>
            <a:ext cx="3498138" cy="4300000"/>
          </a:xfrm>
          <a:prstGeom prst="roundRect">
            <a:avLst>
              <a:gd name="adj" fmla="val 26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Med2"/>
          <p:cNvSpPr/>
          <p:nvPr/>
        </p:nvSpPr>
        <p:spPr>
          <a:xfrm>
            <a:off x="9553985" y="1850000"/>
            <a:ext cx="680000" cy="68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MedIcon2"/>
          <p:cNvSpPr/>
          <p:nvPr/>
        </p:nvSpPr>
        <p:spPr>
          <a:xfrm>
            <a:off x="9553985" y="1850000"/>
            <a:ext cx="680000" cy="6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</a:rPr>
              <a:t>🧠</a:t>
            </a:r>
            <a:endParaRPr lang="en-US" sz="2400" dirty="0"/>
          </a:p>
        </p:txBody>
      </p:sp>
      <p:sp>
        <p:nvSpPr>
          <p:cNvPr id="29" name="Heading2"/>
          <p:cNvSpPr/>
          <p:nvPr/>
        </p:nvSpPr>
        <p:spPr>
          <a:xfrm>
            <a:off x="8424916" y="2750000"/>
            <a:ext cx="2938138" cy="4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B4A45"/>
                </a:solidFill>
                <a:latin typeface="Cambria" pitchFamily="34" charset="0"/>
              </a:rPr>
              <a:t>Learning Semantic Search</a:t>
            </a:r>
            <a:endParaRPr lang="en-US" sz="1600" dirty="0"/>
          </a:p>
        </p:txBody>
      </p:sp>
      <p:sp>
        <p:nvSpPr>
          <p:cNvPr id="30" name="Dot"/>
          <p:cNvSpPr/>
          <p:nvPr/>
        </p:nvSpPr>
        <p:spPr>
          <a:xfrm>
            <a:off x="8424916" y="3555000"/>
            <a:ext cx="90000" cy="90000"/>
          </a:xfrm>
          <a:prstGeom prst="ellipse">
            <a:avLst/>
          </a:prstGeom>
          <a:solidFill>
            <a:srgbClr val="5C6B66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Label"/>
          <p:cNvSpPr/>
          <p:nvPr/>
        </p:nvSpPr>
        <p:spPr>
          <a:xfrm>
            <a:off x="8624916" y="3490000"/>
            <a:ext cx="2738138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5C6B66"/>
                </a:solidFill>
                <a:latin typeface="Calibri" pitchFamily="34" charset="0"/>
              </a:rPr>
              <a:t>THE CONSTRAINT</a:t>
            </a:r>
            <a:endParaRPr lang="en-US" sz="1400" dirty="0"/>
          </a:p>
        </p:txBody>
      </p:sp>
      <p:sp>
        <p:nvSpPr>
          <p:cNvPr id="32" name="Line"/>
          <p:cNvSpPr/>
          <p:nvPr/>
        </p:nvSpPr>
        <p:spPr>
          <a:xfrm>
            <a:off x="8424916" y="3740000"/>
            <a:ext cx="293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A4A46"/>
                </a:solidFill>
                <a:latin typeface="Calibri" pitchFamily="34" charset="0"/>
              </a:rPr>
              <a:t>No prior hands-on experience with embeddings or FAISS</a:t>
            </a:r>
            <a:endParaRPr lang="en-US" sz="1400" dirty="0"/>
          </a:p>
        </p:txBody>
      </p:sp>
      <p:sp>
        <p:nvSpPr>
          <p:cNvPr id="33" name="Arrow2"/>
          <p:cNvSpPr/>
          <p:nvPr/>
        </p:nvSpPr>
        <p:spPr>
          <a:xfrm>
            <a:off x="8424916" y="4280000"/>
            <a:ext cx="2938138" cy="28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8823E"/>
                </a:solidFill>
                <a:latin typeface="Calibri" pitchFamily="34" charset="0"/>
              </a:rPr>
              <a:t>↓</a:t>
            </a:r>
            <a:endParaRPr lang="en-US" sz="1500" dirty="0"/>
          </a:p>
        </p:txBody>
      </p:sp>
      <p:sp>
        <p:nvSpPr>
          <p:cNvPr id="34" name="Dot"/>
          <p:cNvSpPr/>
          <p:nvPr/>
        </p:nvSpPr>
        <p:spPr>
          <a:xfrm>
            <a:off x="8424916" y="4625000"/>
            <a:ext cx="90000" cy="9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Label"/>
          <p:cNvSpPr/>
          <p:nvPr/>
        </p:nvSpPr>
        <p:spPr>
          <a:xfrm>
            <a:off x="8624916" y="4560000"/>
            <a:ext cx="2738138" cy="22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B8823E"/>
                </a:solidFill>
                <a:latin typeface="Calibri" pitchFamily="34" charset="0"/>
              </a:rPr>
              <a:t>THE APPROACH</a:t>
            </a:r>
            <a:endParaRPr lang="en-US" sz="1400" dirty="0"/>
          </a:p>
        </p:txBody>
      </p:sp>
      <p:sp>
        <p:nvSpPr>
          <p:cNvPr id="36" name="Line"/>
          <p:cNvSpPr/>
          <p:nvPr/>
        </p:nvSpPr>
        <p:spPr>
          <a:xfrm>
            <a:off x="8424916" y="4810000"/>
            <a:ext cx="293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libri" pitchFamily="34" charset="0"/>
              </a:rPr>
              <a:t>Weeks of focused research before writing the pipeline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330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B4A45"/>
                </a:solidFill>
                <a:latin typeface="Cambria" pitchFamily="34" charset="0"/>
              </a:rPr>
              <a:t>Automated Testing at Every Layer</a:t>
            </a:r>
            <a:endParaRPr lang="en-US" sz="3000" dirty="0"/>
          </a:p>
        </p:txBody>
      </p:sp>
      <p:sp>
        <p:nvSpPr>
          <p:cNvPr id="3" name="Subtitle"/>
          <p:cNvSpPr/>
          <p:nvPr/>
        </p:nvSpPr>
        <p:spPr>
          <a:xfrm>
            <a:off x="548640" y="960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C6B66"/>
                </a:solidFill>
                <a:latin typeface="Calibri" pitchFamily="34" charset="0"/>
              </a:rPr>
              <a:t>Every part of the stack backend, frontend and the AI microservice was tested</a:t>
            </a:r>
            <a:endParaRPr lang="en-US" sz="1400" dirty="0"/>
          </a:p>
        </p:txBody>
      </p:sp>
      <p:sp>
        <p:nvSpPr>
          <p:cNvPr id="4" name="CornerLabel"/>
          <p:cNvSpPr/>
          <p:nvPr/>
        </p:nvSpPr>
        <p:spPr>
          <a:xfrm>
            <a:off x="548640" y="1500000"/>
            <a:ext cx="1450000" cy="4800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i="1" dirty="0">
                <a:solidFill>
                  <a:srgbClr val="5C6B66"/>
                </a:solidFill>
                <a:latin typeface="Calibri" pitchFamily="34" charset="0"/>
              </a:rPr>
              <a:t>Layer  ↓</a:t>
            </a:r>
            <a:endParaRPr lang="en-US" sz="1400" dirty="0"/>
          </a:p>
        </p:txBody>
      </p:sp>
      <p:sp>
        <p:nvSpPr>
          <p:cNvPr id="5" name="StackMed0"/>
          <p:cNvSpPr/>
          <p:nvPr/>
        </p:nvSpPr>
        <p:spPr>
          <a:xfrm>
            <a:off x="2218640" y="1500000"/>
            <a:ext cx="360000" cy="3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tackIcon0"/>
          <p:cNvSpPr/>
          <p:nvPr/>
        </p:nvSpPr>
        <p:spPr>
          <a:xfrm>
            <a:off x="2218640" y="1500000"/>
            <a:ext cx="360000" cy="3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⚙</a:t>
            </a:r>
            <a:endParaRPr lang="en-US" sz="1300" dirty="0"/>
          </a:p>
        </p:txBody>
      </p:sp>
      <p:sp>
        <p:nvSpPr>
          <p:cNvPr id="7" name="StackLabel0"/>
          <p:cNvSpPr/>
          <p:nvPr/>
        </p:nvSpPr>
        <p:spPr>
          <a:xfrm>
            <a:off x="2718640" y="1500000"/>
            <a:ext cx="2508138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Backend</a:t>
            </a:r>
            <a:endParaRPr lang="en-US" sz="1400" dirty="0"/>
          </a:p>
        </p:txBody>
      </p:sp>
      <p:sp>
        <p:nvSpPr>
          <p:cNvPr id="8" name="StackMed1"/>
          <p:cNvSpPr/>
          <p:nvPr/>
        </p:nvSpPr>
        <p:spPr>
          <a:xfrm>
            <a:off x="5426778" y="1500000"/>
            <a:ext cx="360000" cy="3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tackIcon1"/>
          <p:cNvSpPr/>
          <p:nvPr/>
        </p:nvSpPr>
        <p:spPr>
          <a:xfrm>
            <a:off x="5426778" y="1500000"/>
            <a:ext cx="360000" cy="3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🖥</a:t>
            </a:r>
            <a:endParaRPr lang="en-US" sz="1300" dirty="0"/>
          </a:p>
        </p:txBody>
      </p:sp>
      <p:sp>
        <p:nvSpPr>
          <p:cNvPr id="10" name="StackLabel1"/>
          <p:cNvSpPr/>
          <p:nvPr/>
        </p:nvSpPr>
        <p:spPr>
          <a:xfrm>
            <a:off x="5926778" y="1500000"/>
            <a:ext cx="2508138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Frontend</a:t>
            </a:r>
            <a:endParaRPr lang="en-US" sz="1400" dirty="0"/>
          </a:p>
        </p:txBody>
      </p:sp>
      <p:sp>
        <p:nvSpPr>
          <p:cNvPr id="11" name="StackMed2"/>
          <p:cNvSpPr/>
          <p:nvPr/>
        </p:nvSpPr>
        <p:spPr>
          <a:xfrm>
            <a:off x="8634916" y="1500000"/>
            <a:ext cx="360000" cy="3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tackIcon2"/>
          <p:cNvSpPr/>
          <p:nvPr/>
        </p:nvSpPr>
        <p:spPr>
          <a:xfrm>
            <a:off x="8634916" y="1500000"/>
            <a:ext cx="360000" cy="3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</a:rPr>
              <a:t>🤖</a:t>
            </a:r>
            <a:endParaRPr lang="en-US" sz="1300" dirty="0"/>
          </a:p>
        </p:txBody>
      </p:sp>
      <p:sp>
        <p:nvSpPr>
          <p:cNvPr id="13" name="StackLabel2"/>
          <p:cNvSpPr/>
          <p:nvPr/>
        </p:nvSpPr>
        <p:spPr>
          <a:xfrm>
            <a:off x="9134916" y="1500000"/>
            <a:ext cx="2508138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AI Microservice</a:t>
            </a:r>
            <a:endParaRPr lang="en-US" sz="1400" dirty="0"/>
          </a:p>
        </p:txBody>
      </p:sp>
      <p:sp>
        <p:nvSpPr>
          <p:cNvPr id="14" name="UNITChip"/>
          <p:cNvSpPr/>
          <p:nvPr/>
        </p:nvSpPr>
        <p:spPr>
          <a:xfrm>
            <a:off x="548640" y="2230000"/>
            <a:ext cx="1390000" cy="640000"/>
          </a:xfrm>
          <a:prstGeom prst="roundRect">
            <a:avLst>
              <a:gd name="adj" fmla="val 12000"/>
            </a:avLst>
          </a:prstGeom>
          <a:solidFill>
            <a:srgbClr val="1B4A45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UNITIcon"/>
          <p:cNvSpPr/>
          <p:nvPr/>
        </p:nvSpPr>
        <p:spPr>
          <a:xfrm>
            <a:off x="548640" y="2200000"/>
            <a:ext cx="1390000" cy="6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</a:rPr>
              <a:t>🧩</a:t>
            </a:r>
            <a:endParaRPr lang="en-US" sz="1500" dirty="0"/>
          </a:p>
        </p:txBody>
      </p:sp>
      <p:sp>
        <p:nvSpPr>
          <p:cNvPr id="16" name="UNITText"/>
          <p:cNvSpPr/>
          <p:nvPr/>
        </p:nvSpPr>
        <p:spPr>
          <a:xfrm>
            <a:off x="548640" y="2530000"/>
            <a:ext cx="139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UNIT</a:t>
            </a:r>
            <a:endParaRPr lang="en-US" sz="1200" dirty="0"/>
          </a:p>
        </p:txBody>
      </p:sp>
      <p:sp>
        <p:nvSpPr>
          <p:cNvPr id="17" name="UNITCell0"/>
          <p:cNvSpPr/>
          <p:nvPr/>
        </p:nvSpPr>
        <p:spPr>
          <a:xfrm>
            <a:off x="2218640" y="2100000"/>
            <a:ext cx="3008138" cy="9000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UNITTool0"/>
          <p:cNvSpPr/>
          <p:nvPr/>
        </p:nvSpPr>
        <p:spPr>
          <a:xfrm>
            <a:off x="2408640" y="2210000"/>
            <a:ext cx="2628138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Jest</a:t>
            </a:r>
            <a:endParaRPr lang="en-US" sz="1400" dirty="0"/>
          </a:p>
        </p:txBody>
      </p:sp>
      <p:sp>
        <p:nvSpPr>
          <p:cNvPr id="19" name="UNITDesc0"/>
          <p:cNvSpPr/>
          <p:nvPr/>
        </p:nvSpPr>
        <p:spPr>
          <a:xfrm>
            <a:off x="2408640" y="2500000"/>
            <a:ext cx="262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Every module tested in isolation, dependencies mocked</a:t>
            </a:r>
            <a:endParaRPr lang="en-US" sz="1300" dirty="0"/>
          </a:p>
        </p:txBody>
      </p:sp>
      <p:sp>
        <p:nvSpPr>
          <p:cNvPr id="20" name="UNITCell1"/>
          <p:cNvSpPr/>
          <p:nvPr/>
        </p:nvSpPr>
        <p:spPr>
          <a:xfrm>
            <a:off x="5426778" y="2100000"/>
            <a:ext cx="3008138" cy="9000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UNITTool1"/>
          <p:cNvSpPr/>
          <p:nvPr/>
        </p:nvSpPr>
        <p:spPr>
          <a:xfrm>
            <a:off x="5616778" y="2210000"/>
            <a:ext cx="2628138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1B4A45"/>
                </a:solidFill>
                <a:latin typeface="Cambria" pitchFamily="34" charset="0"/>
              </a:rPr>
              <a:t>Vitest</a:t>
            </a: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 &amp; RTL</a:t>
            </a:r>
            <a:endParaRPr lang="en-US" sz="1400" dirty="0"/>
          </a:p>
        </p:txBody>
      </p:sp>
      <p:sp>
        <p:nvSpPr>
          <p:cNvPr id="22" name="UNITDesc1"/>
          <p:cNvSpPr/>
          <p:nvPr/>
        </p:nvSpPr>
        <p:spPr>
          <a:xfrm>
            <a:off x="5616778" y="2500000"/>
            <a:ext cx="262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Components, forms, basket logic and dashboards</a:t>
            </a:r>
            <a:endParaRPr lang="en-US" sz="1300" dirty="0"/>
          </a:p>
        </p:txBody>
      </p:sp>
      <p:sp>
        <p:nvSpPr>
          <p:cNvPr id="23" name="UNITCell2"/>
          <p:cNvSpPr/>
          <p:nvPr/>
        </p:nvSpPr>
        <p:spPr>
          <a:xfrm>
            <a:off x="8634916" y="2100000"/>
            <a:ext cx="3008138" cy="9000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UNITTool2"/>
          <p:cNvSpPr/>
          <p:nvPr/>
        </p:nvSpPr>
        <p:spPr>
          <a:xfrm>
            <a:off x="8824916" y="2210000"/>
            <a:ext cx="2628138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Pytest</a:t>
            </a:r>
            <a:endParaRPr lang="en-US" sz="1400" dirty="0"/>
          </a:p>
        </p:txBody>
      </p:sp>
      <p:sp>
        <p:nvSpPr>
          <p:cNvPr id="25" name="UNITDesc2"/>
          <p:cNvSpPr/>
          <p:nvPr/>
        </p:nvSpPr>
        <p:spPr>
          <a:xfrm>
            <a:off x="8824916" y="2500000"/>
            <a:ext cx="262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Prompt safety, validation and recommendation scoring</a:t>
            </a:r>
            <a:endParaRPr lang="en-US" sz="1300" dirty="0"/>
          </a:p>
        </p:txBody>
      </p:sp>
      <p:sp>
        <p:nvSpPr>
          <p:cNvPr id="26" name="INTEGRATIONChip"/>
          <p:cNvSpPr/>
          <p:nvPr/>
        </p:nvSpPr>
        <p:spPr>
          <a:xfrm>
            <a:off x="548640" y="3250000"/>
            <a:ext cx="1390000" cy="640000"/>
          </a:xfrm>
          <a:prstGeom prst="roundRect">
            <a:avLst>
              <a:gd name="adj" fmla="val 12000"/>
            </a:avLst>
          </a:prstGeom>
          <a:solidFill>
            <a:srgbClr val="2D6B62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INTEGRATIONIcon"/>
          <p:cNvSpPr/>
          <p:nvPr/>
        </p:nvSpPr>
        <p:spPr>
          <a:xfrm>
            <a:off x="548640" y="3220000"/>
            <a:ext cx="1390000" cy="64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</a:rPr>
              <a:t>🔗</a:t>
            </a:r>
            <a:endParaRPr lang="en-US" sz="1500" dirty="0"/>
          </a:p>
        </p:txBody>
      </p:sp>
      <p:sp>
        <p:nvSpPr>
          <p:cNvPr id="28" name="INTEGRATIONText"/>
          <p:cNvSpPr/>
          <p:nvPr/>
        </p:nvSpPr>
        <p:spPr>
          <a:xfrm>
            <a:off x="548640" y="3550000"/>
            <a:ext cx="139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INTEGRATION</a:t>
            </a:r>
            <a:endParaRPr lang="en-US" sz="1200" dirty="0"/>
          </a:p>
        </p:txBody>
      </p:sp>
      <p:sp>
        <p:nvSpPr>
          <p:cNvPr id="29" name="INTEGRATIONCell0"/>
          <p:cNvSpPr/>
          <p:nvPr/>
        </p:nvSpPr>
        <p:spPr>
          <a:xfrm>
            <a:off x="2218640" y="3120000"/>
            <a:ext cx="3008138" cy="9000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INTEGRATIONTool0"/>
          <p:cNvSpPr/>
          <p:nvPr/>
        </p:nvSpPr>
        <p:spPr>
          <a:xfrm>
            <a:off x="2408640" y="3230000"/>
            <a:ext cx="2628138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Supertest</a:t>
            </a:r>
            <a:endParaRPr lang="en-US" sz="1400" dirty="0"/>
          </a:p>
        </p:txBody>
      </p:sp>
      <p:sp>
        <p:nvSpPr>
          <p:cNvPr id="31" name="INTEGRATIONDesc0"/>
          <p:cNvSpPr/>
          <p:nvPr/>
        </p:nvSpPr>
        <p:spPr>
          <a:xfrm>
            <a:off x="2408640" y="3520000"/>
            <a:ext cx="262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Real endpoints against a real, temporary database</a:t>
            </a:r>
            <a:endParaRPr lang="en-US" sz="1300" dirty="0"/>
          </a:p>
        </p:txBody>
      </p:sp>
      <p:sp>
        <p:nvSpPr>
          <p:cNvPr id="32" name="INTEGRATIONCell1"/>
          <p:cNvSpPr/>
          <p:nvPr/>
        </p:nvSpPr>
        <p:spPr>
          <a:xfrm>
            <a:off x="5426778" y="3120000"/>
            <a:ext cx="3008138" cy="9000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INTEGRATIONTool1"/>
          <p:cNvSpPr/>
          <p:nvPr/>
        </p:nvSpPr>
        <p:spPr>
          <a:xfrm>
            <a:off x="5616778" y="3230000"/>
            <a:ext cx="2628138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A45"/>
                </a:solidFill>
                <a:latin typeface="Cambria" pitchFamily="34" charset="0"/>
              </a:rPr>
              <a:t>Vitest</a:t>
            </a:r>
            <a:endParaRPr lang="en-US" sz="1400" dirty="0"/>
          </a:p>
        </p:txBody>
      </p:sp>
      <p:sp>
        <p:nvSpPr>
          <p:cNvPr id="34" name="INTEGRATIONDesc1"/>
          <p:cNvSpPr/>
          <p:nvPr/>
        </p:nvSpPr>
        <p:spPr>
          <a:xfrm>
            <a:off x="5616778" y="3520000"/>
            <a:ext cx="262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Context providers wired to real components</a:t>
            </a:r>
            <a:endParaRPr lang="en-US" sz="1300" dirty="0"/>
          </a:p>
        </p:txBody>
      </p:sp>
      <p:sp>
        <p:nvSpPr>
          <p:cNvPr id="35" name="INTEGRATIONCell2"/>
          <p:cNvSpPr/>
          <p:nvPr/>
        </p:nvSpPr>
        <p:spPr>
          <a:xfrm>
            <a:off x="8634916" y="3120000"/>
            <a:ext cx="3008138" cy="900000"/>
          </a:xfrm>
          <a:prstGeom prst="roundRect">
            <a:avLst>
              <a:gd name="adj" fmla="val 6000"/>
            </a:avLst>
          </a:prstGeom>
          <a:solidFill>
            <a:srgbClr val="EAF2F0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6" name="INTEGRATIONTool2"/>
          <p:cNvSpPr/>
          <p:nvPr/>
        </p:nvSpPr>
        <p:spPr>
          <a:xfrm>
            <a:off x="8824916" y="3230000"/>
            <a:ext cx="2628138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 err="1">
                <a:solidFill>
                  <a:srgbClr val="1B4A45"/>
                </a:solidFill>
                <a:latin typeface="Cambria" pitchFamily="34" charset="0"/>
              </a:rPr>
              <a:t>Pytest</a:t>
            </a:r>
            <a:endParaRPr lang="en-US" sz="1400" dirty="0"/>
          </a:p>
        </p:txBody>
      </p:sp>
      <p:sp>
        <p:nvSpPr>
          <p:cNvPr id="37" name="INTEGRATIONDesc2"/>
          <p:cNvSpPr/>
          <p:nvPr/>
        </p:nvSpPr>
        <p:spPr>
          <a:xfrm>
            <a:off x="8824916" y="3520000"/>
            <a:ext cx="2628138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Live endpoints, incl. the assistant's safe fallback</a:t>
            </a:r>
            <a:endParaRPr lang="en-US" sz="1300" dirty="0"/>
          </a:p>
        </p:txBody>
      </p:sp>
      <p:sp>
        <p:nvSpPr>
          <p:cNvPr id="38" name="E2EBand"/>
          <p:cNvSpPr/>
          <p:nvPr/>
        </p:nvSpPr>
        <p:spPr>
          <a:xfrm>
            <a:off x="548640" y="4200000"/>
            <a:ext cx="11094415" cy="850000"/>
          </a:xfrm>
          <a:prstGeom prst="roundRect">
            <a:avLst>
              <a:gd name="adj" fmla="val 4500"/>
            </a:avLst>
          </a:prstGeom>
          <a:solidFill>
            <a:srgbClr val="B8823E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9" name="E2EMed"/>
          <p:cNvSpPr/>
          <p:nvPr/>
        </p:nvSpPr>
        <p:spPr>
          <a:xfrm>
            <a:off x="768640" y="4395000"/>
            <a:ext cx="460000" cy="4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E2EIcon"/>
          <p:cNvSpPr/>
          <p:nvPr/>
        </p:nvSpPr>
        <p:spPr>
          <a:xfrm>
            <a:off x="768640" y="4395000"/>
            <a:ext cx="460000" cy="4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</a:rPr>
              <a:t>🧭</a:t>
            </a:r>
            <a:endParaRPr lang="en-US" sz="1600" dirty="0"/>
          </a:p>
        </p:txBody>
      </p:sp>
      <p:sp>
        <p:nvSpPr>
          <p:cNvPr id="41" name="E2EHeading"/>
          <p:cNvSpPr/>
          <p:nvPr/>
        </p:nvSpPr>
        <p:spPr>
          <a:xfrm>
            <a:off x="1448640" y="4350000"/>
            <a:ext cx="9944415" cy="3000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</a:rPr>
              <a:t>END-TO-END  -  Playwright</a:t>
            </a:r>
            <a:endParaRPr lang="en-US" sz="1400" dirty="0"/>
          </a:p>
        </p:txBody>
      </p:sp>
      <p:sp>
        <p:nvSpPr>
          <p:cNvPr id="42" name="E2EDesc"/>
          <p:cNvSpPr/>
          <p:nvPr/>
        </p:nvSpPr>
        <p:spPr>
          <a:xfrm>
            <a:off x="1448640" y="4670000"/>
            <a:ext cx="9944415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</a:rPr>
              <a:t>Full browser journeys for Buyer, Developer, Supplier and Admin from login to delivery.</a:t>
            </a:r>
            <a:endParaRPr lang="en-US" sz="1300" dirty="0"/>
          </a:p>
        </p:txBody>
      </p:sp>
      <p:sp>
        <p:nvSpPr>
          <p:cNvPr id="43" name="CovCaption"/>
          <p:cNvSpPr/>
          <p:nvPr/>
        </p:nvSpPr>
        <p:spPr>
          <a:xfrm>
            <a:off x="548640" y="5230000"/>
            <a:ext cx="11094415" cy="2400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i="1" dirty="0">
                <a:solidFill>
                  <a:srgbClr val="5C6B66"/>
                </a:solidFill>
                <a:latin typeface="Calibri" pitchFamily="34" charset="0"/>
              </a:rPr>
              <a:t>Statement coverage, measured automatically on every run:</a:t>
            </a:r>
            <a:endParaRPr lang="en-US" sz="1300" dirty="0"/>
          </a:p>
        </p:txBody>
      </p:sp>
      <p:sp>
        <p:nvSpPr>
          <p:cNvPr id="44" name="CovTrack0"/>
          <p:cNvSpPr/>
          <p:nvPr/>
        </p:nvSpPr>
        <p:spPr>
          <a:xfrm>
            <a:off x="548640" y="5580000"/>
            <a:ext cx="3524805" cy="2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B4A45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CovFill0"/>
          <p:cNvSpPr/>
          <p:nvPr/>
        </p:nvSpPr>
        <p:spPr>
          <a:xfrm>
            <a:off x="548640" y="5580000"/>
            <a:ext cx="2079634" cy="220000"/>
          </a:xfrm>
          <a:prstGeom prst="roundRect">
            <a:avLst>
              <a:gd name="adj" fmla="val 50000"/>
            </a:avLst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6" name="CovLabel0"/>
          <p:cNvSpPr/>
          <p:nvPr/>
        </p:nvSpPr>
        <p:spPr>
          <a:xfrm>
            <a:off x="548640" y="5870000"/>
            <a:ext cx="3524805" cy="2200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Backend  -  59%</a:t>
            </a:r>
            <a:endParaRPr lang="en-US" sz="1300" dirty="0"/>
          </a:p>
        </p:txBody>
      </p:sp>
      <p:sp>
        <p:nvSpPr>
          <p:cNvPr id="47" name="CovTrack1"/>
          <p:cNvSpPr/>
          <p:nvPr/>
        </p:nvSpPr>
        <p:spPr>
          <a:xfrm>
            <a:off x="4333445" y="5580000"/>
            <a:ext cx="3524805" cy="2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D6B6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CovFill1"/>
          <p:cNvSpPr/>
          <p:nvPr/>
        </p:nvSpPr>
        <p:spPr>
          <a:xfrm>
            <a:off x="4333445" y="5580000"/>
            <a:ext cx="2361619" cy="220000"/>
          </a:xfrm>
          <a:prstGeom prst="roundRect">
            <a:avLst>
              <a:gd name="adj" fmla="val 50000"/>
            </a:avLst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CovLabel1"/>
          <p:cNvSpPr/>
          <p:nvPr/>
        </p:nvSpPr>
        <p:spPr>
          <a:xfrm>
            <a:off x="4333445" y="5870000"/>
            <a:ext cx="3524805" cy="2200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Frontend  -  67%</a:t>
            </a:r>
            <a:endParaRPr lang="en-US" sz="1300" dirty="0"/>
          </a:p>
        </p:txBody>
      </p:sp>
      <p:sp>
        <p:nvSpPr>
          <p:cNvPr id="50" name="CovTrack2"/>
          <p:cNvSpPr/>
          <p:nvPr/>
        </p:nvSpPr>
        <p:spPr>
          <a:xfrm>
            <a:off x="8118250" y="5580000"/>
            <a:ext cx="3524805" cy="22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302D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CovFill2"/>
          <p:cNvSpPr/>
          <p:nvPr/>
        </p:nvSpPr>
        <p:spPr>
          <a:xfrm>
            <a:off x="8118250" y="5580000"/>
            <a:ext cx="3101828" cy="220000"/>
          </a:xfrm>
          <a:prstGeom prst="roundRect">
            <a:avLst>
              <a:gd name="adj" fmla="val 50000"/>
            </a:avLst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2" name="CovLabel2"/>
          <p:cNvSpPr/>
          <p:nvPr/>
        </p:nvSpPr>
        <p:spPr>
          <a:xfrm>
            <a:off x="8118250" y="5870000"/>
            <a:ext cx="3524805" cy="2200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B4A45"/>
                </a:solidFill>
                <a:latin typeface="Calibri" pitchFamily="34" charset="0"/>
              </a:rPr>
              <a:t>AI Microservice  -  88%</a:t>
            </a:r>
            <a:endParaRPr lang="en-US" sz="1300" dirty="0"/>
          </a:p>
        </p:txBody>
      </p:sp>
      <p:sp>
        <p:nvSpPr>
          <p:cNvPr id="53" name="ClosingBanner"/>
          <p:cNvSpPr/>
          <p:nvPr/>
        </p:nvSpPr>
        <p:spPr>
          <a:xfrm>
            <a:off x="548640" y="6240000"/>
            <a:ext cx="11094415" cy="400000"/>
          </a:xfrm>
          <a:prstGeom prst="roundRect">
            <a:avLst>
              <a:gd name="adj" fmla="val 9500"/>
            </a:avLst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ClosingBannerText"/>
          <p:cNvSpPr/>
          <p:nvPr/>
        </p:nvSpPr>
        <p:spPr>
          <a:xfrm>
            <a:off x="848640" y="6240000"/>
            <a:ext cx="10494415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rgbClr val="B8823E"/>
                </a:solidFill>
                <a:latin typeface="Calibri" pitchFamily="34" charset="0"/>
              </a:rPr>
              <a:t>✓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Every module tested in isolation, every workflow tested and fully automated end-to-end, on every run.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/>
          <p:nvPr/>
        </p:nvSpPr>
        <p:spPr>
          <a:xfrm>
            <a:off x="451104" y="337500"/>
            <a:ext cx="11094415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B4A45"/>
                </a:solidFill>
                <a:latin typeface="Cambria" pitchFamily="34" charset="0"/>
              </a:rPr>
              <a:t>Summary - The Impact</a:t>
            </a:r>
            <a:endParaRPr lang="en-US" sz="2600" dirty="0"/>
          </a:p>
        </p:txBody>
      </p:sp>
      <p:sp>
        <p:nvSpPr>
          <p:cNvPr id="5" name="Subtitle"/>
          <p:cNvSpPr/>
          <p:nvPr/>
        </p:nvSpPr>
        <p:spPr>
          <a:xfrm>
            <a:off x="548640" y="1160000"/>
            <a:ext cx="11094415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5C6B66"/>
                </a:solidFill>
                <a:latin typeface="Calibri" pitchFamily="34" charset="0"/>
              </a:rPr>
              <a:t>How HomifyOne changes the journey for every role</a:t>
            </a:r>
            <a:endParaRPr lang="en-US" sz="1300" dirty="0"/>
          </a:p>
        </p:txBody>
      </p:sp>
      <p:sp>
        <p:nvSpPr>
          <p:cNvPr id="6" name="Road"/>
          <p:cNvSpPr/>
          <p:nvPr/>
        </p:nvSpPr>
        <p:spPr>
          <a:xfrm>
            <a:off x="548640" y="2672500"/>
            <a:ext cx="11094415" cy="1300000"/>
          </a:xfrm>
          <a:custGeom>
            <a:avLst/>
            <a:gdLst/>
            <a:ahLst/>
            <a:cxnLst/>
            <a:rect l="0" t="0" r="0" b="0"/>
            <a:pathLst>
              <a:path w="1000" h="400">
                <a:moveTo>
                  <a:pt x="0" y="200"/>
                </a:moveTo>
                <a:cubicBezTo>
                  <a:pt x="75" y="200"/>
                  <a:pt x="75" y="90"/>
                  <a:pt x="150" y="90"/>
                </a:cubicBezTo>
                <a:cubicBezTo>
                  <a:pt x="275" y="90"/>
                  <a:pt x="275" y="310"/>
                  <a:pt x="400" y="310"/>
                </a:cubicBezTo>
                <a:cubicBezTo>
                  <a:pt x="525" y="310"/>
                  <a:pt x="525" y="90"/>
                  <a:pt x="650" y="90"/>
                </a:cubicBezTo>
                <a:cubicBezTo>
                  <a:pt x="775" y="90"/>
                  <a:pt x="775" y="310"/>
                  <a:pt x="900" y="310"/>
                </a:cubicBezTo>
                <a:cubicBezTo>
                  <a:pt x="950" y="310"/>
                  <a:pt x="950" y="200"/>
                  <a:pt x="1000" y="200"/>
                </a:cubicBezTo>
              </a:path>
            </a:pathLst>
          </a:custGeom>
          <a:noFill/>
          <a:ln w="420000" cap="rnd">
            <a:solidFill>
              <a:srgbClr val="D7E6E2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RoadCenterline"/>
          <p:cNvSpPr/>
          <p:nvPr/>
        </p:nvSpPr>
        <p:spPr>
          <a:xfrm>
            <a:off x="548640" y="2672500"/>
            <a:ext cx="11094415" cy="1300000"/>
          </a:xfrm>
          <a:custGeom>
            <a:avLst/>
            <a:gdLst/>
            <a:ahLst/>
            <a:cxnLst/>
            <a:rect l="0" t="0" r="0" b="0"/>
            <a:pathLst>
              <a:path w="1000" h="400">
                <a:moveTo>
                  <a:pt x="0" y="200"/>
                </a:moveTo>
                <a:cubicBezTo>
                  <a:pt x="75" y="200"/>
                  <a:pt x="75" y="90"/>
                  <a:pt x="150" y="90"/>
                </a:cubicBezTo>
                <a:cubicBezTo>
                  <a:pt x="275" y="90"/>
                  <a:pt x="275" y="310"/>
                  <a:pt x="400" y="310"/>
                </a:cubicBezTo>
                <a:cubicBezTo>
                  <a:pt x="525" y="310"/>
                  <a:pt x="525" y="90"/>
                  <a:pt x="650" y="90"/>
                </a:cubicBezTo>
                <a:cubicBezTo>
                  <a:pt x="775" y="90"/>
                  <a:pt x="775" y="310"/>
                  <a:pt x="900" y="310"/>
                </a:cubicBezTo>
                <a:cubicBezTo>
                  <a:pt x="950" y="310"/>
                  <a:pt x="950" y="200"/>
                  <a:pt x="1000" y="200"/>
                </a:cubicBezTo>
              </a:path>
            </a:pathLst>
          </a:custGeom>
          <a:noFill/>
          <a:ln w="15000" cap="rnd">
            <a:solidFill>
              <a:srgbClr val="B8823E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ri_Buyer"/>
          <p:cNvSpPr/>
          <p:nvPr/>
        </p:nvSpPr>
        <p:spPr>
          <a:xfrm rot="10800000">
            <a:off x="2132802" y="2835000"/>
            <a:ext cx="160000" cy="130000"/>
          </a:xfrm>
          <a:prstGeom prst="triangl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Circle_Buyer"/>
          <p:cNvSpPr/>
          <p:nvPr/>
        </p:nvSpPr>
        <p:spPr>
          <a:xfrm>
            <a:off x="1932802" y="2275000"/>
            <a:ext cx="560000" cy="560000"/>
          </a:xfrm>
          <a:prstGeom prst="ellipse">
            <a:avLst/>
          </a:prstGeom>
          <a:solidFill>
            <a:srgbClr val="1B4A45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CircleTxt_Buyer"/>
          <p:cNvSpPr/>
          <p:nvPr/>
        </p:nvSpPr>
        <p:spPr>
          <a:xfrm>
            <a:off x="1932802" y="2275000"/>
            <a:ext cx="56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</a:rPr>
              <a:t>B</a:t>
            </a:r>
            <a:endParaRPr lang="en-US" sz="1800" dirty="0"/>
          </a:p>
        </p:txBody>
      </p:sp>
      <p:sp>
        <p:nvSpPr>
          <p:cNvPr id="11" name="RoleTitle_Buyer"/>
          <p:cNvSpPr/>
          <p:nvPr/>
        </p:nvSpPr>
        <p:spPr>
          <a:xfrm>
            <a:off x="1012802" y="1605000"/>
            <a:ext cx="240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A45"/>
                </a:solidFill>
                <a:latin typeface="Cambria" pitchFamily="34" charset="0"/>
              </a:rPr>
              <a:t>Buyer</a:t>
            </a:r>
            <a:endParaRPr lang="en-US" sz="1500" dirty="0"/>
          </a:p>
        </p:txBody>
      </p:sp>
      <p:sp>
        <p:nvSpPr>
          <p:cNvPr id="12" name="RoleDesc_Buyer"/>
          <p:cNvSpPr/>
          <p:nvPr/>
        </p:nvSpPr>
        <p:spPr>
          <a:xfrm>
            <a:off x="1012802" y="1885000"/>
            <a:ext cx="2949598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AI-guided choices, always </a:t>
            </a:r>
            <a:r>
              <a:rPr lang="en-US" sz="1300" dirty="0" err="1">
                <a:solidFill>
                  <a:srgbClr val="3A4A46"/>
                </a:solidFill>
                <a:latin typeface="Calibri" pitchFamily="34" charset="0"/>
              </a:rPr>
              <a:t>personalised</a:t>
            </a:r>
            <a:endParaRPr lang="en-US" sz="1300" dirty="0"/>
          </a:p>
        </p:txBody>
      </p:sp>
      <p:sp>
        <p:nvSpPr>
          <p:cNvPr id="13" name="Tri_Developer"/>
          <p:cNvSpPr/>
          <p:nvPr/>
        </p:nvSpPr>
        <p:spPr>
          <a:xfrm>
            <a:off x="4906406" y="3680000"/>
            <a:ext cx="160000" cy="130000"/>
          </a:xfrm>
          <a:prstGeom prst="triangl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Circle_Developer"/>
          <p:cNvSpPr/>
          <p:nvPr/>
        </p:nvSpPr>
        <p:spPr>
          <a:xfrm>
            <a:off x="4706406" y="3810000"/>
            <a:ext cx="560000" cy="560000"/>
          </a:xfrm>
          <a:prstGeom prst="ellipse">
            <a:avLst/>
          </a:prstGeom>
          <a:solidFill>
            <a:srgbClr val="2D6B62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CircleTxt_Developer"/>
          <p:cNvSpPr/>
          <p:nvPr/>
        </p:nvSpPr>
        <p:spPr>
          <a:xfrm>
            <a:off x="4706406" y="3810000"/>
            <a:ext cx="56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</a:rPr>
              <a:t>D</a:t>
            </a:r>
            <a:endParaRPr lang="en-US" sz="1800" dirty="0"/>
          </a:p>
        </p:txBody>
      </p:sp>
      <p:sp>
        <p:nvSpPr>
          <p:cNvPr id="16" name="RoleTitle_Developer"/>
          <p:cNvSpPr/>
          <p:nvPr/>
        </p:nvSpPr>
        <p:spPr>
          <a:xfrm>
            <a:off x="3786406" y="4400000"/>
            <a:ext cx="240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A45"/>
                </a:solidFill>
                <a:latin typeface="Cambria" pitchFamily="34" charset="0"/>
              </a:rPr>
              <a:t>Developer</a:t>
            </a:r>
            <a:endParaRPr lang="en-US" sz="1500" dirty="0"/>
          </a:p>
        </p:txBody>
      </p:sp>
      <p:sp>
        <p:nvSpPr>
          <p:cNvPr id="17" name="RoleDesc_Developer"/>
          <p:cNvSpPr/>
          <p:nvPr/>
        </p:nvSpPr>
        <p:spPr>
          <a:xfrm>
            <a:off x="3786406" y="4680000"/>
            <a:ext cx="240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Approvals and purchase orders, automated</a:t>
            </a:r>
            <a:endParaRPr lang="en-US" sz="1300" dirty="0"/>
          </a:p>
        </p:txBody>
      </p:sp>
      <p:sp>
        <p:nvSpPr>
          <p:cNvPr id="18" name="Tri_Supplier"/>
          <p:cNvSpPr/>
          <p:nvPr/>
        </p:nvSpPr>
        <p:spPr>
          <a:xfrm rot="10800000">
            <a:off x="7680009" y="2835000"/>
            <a:ext cx="160000" cy="130000"/>
          </a:xfrm>
          <a:prstGeom prst="triangl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Circle_Supplier"/>
          <p:cNvSpPr/>
          <p:nvPr/>
        </p:nvSpPr>
        <p:spPr>
          <a:xfrm>
            <a:off x="7480009" y="2275000"/>
            <a:ext cx="560000" cy="560000"/>
          </a:xfrm>
          <a:prstGeom prst="ellipse">
            <a:avLst/>
          </a:prstGeom>
          <a:solidFill>
            <a:srgbClr val="0F302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CircleTxt_Supplier"/>
          <p:cNvSpPr/>
          <p:nvPr/>
        </p:nvSpPr>
        <p:spPr>
          <a:xfrm>
            <a:off x="7480009" y="2275000"/>
            <a:ext cx="56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</a:rPr>
              <a:t>S</a:t>
            </a:r>
            <a:endParaRPr lang="en-US" sz="1800" dirty="0"/>
          </a:p>
        </p:txBody>
      </p:sp>
      <p:sp>
        <p:nvSpPr>
          <p:cNvPr id="21" name="RoleTitle_Supplier"/>
          <p:cNvSpPr/>
          <p:nvPr/>
        </p:nvSpPr>
        <p:spPr>
          <a:xfrm>
            <a:off x="6560009" y="1605000"/>
            <a:ext cx="240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A45"/>
                </a:solidFill>
                <a:latin typeface="Cambria" pitchFamily="34" charset="0"/>
              </a:rPr>
              <a:t>Supplier</a:t>
            </a:r>
            <a:endParaRPr lang="en-US" sz="1500" dirty="0"/>
          </a:p>
        </p:txBody>
      </p:sp>
      <p:sp>
        <p:nvSpPr>
          <p:cNvPr id="22" name="RoleDesc_Supplier"/>
          <p:cNvSpPr/>
          <p:nvPr/>
        </p:nvSpPr>
        <p:spPr>
          <a:xfrm>
            <a:off x="6010411" y="1885000"/>
            <a:ext cx="3323202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One clear portal for orders and invoices</a:t>
            </a:r>
            <a:endParaRPr lang="en-US" sz="1300" dirty="0"/>
          </a:p>
        </p:txBody>
      </p:sp>
      <p:sp>
        <p:nvSpPr>
          <p:cNvPr id="23" name="Tri_Admin"/>
          <p:cNvSpPr/>
          <p:nvPr/>
        </p:nvSpPr>
        <p:spPr>
          <a:xfrm>
            <a:off x="10453613" y="3680000"/>
            <a:ext cx="160000" cy="130000"/>
          </a:xfrm>
          <a:prstGeom prst="triangl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Circle_Admin"/>
          <p:cNvSpPr/>
          <p:nvPr/>
        </p:nvSpPr>
        <p:spPr>
          <a:xfrm>
            <a:off x="10253613" y="3810000"/>
            <a:ext cx="560000" cy="560000"/>
          </a:xfrm>
          <a:prstGeom prst="ellipse">
            <a:avLst/>
          </a:prstGeom>
          <a:solidFill>
            <a:srgbClr val="B8823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CircleTxt_Admin"/>
          <p:cNvSpPr/>
          <p:nvPr/>
        </p:nvSpPr>
        <p:spPr>
          <a:xfrm>
            <a:off x="10253613" y="3810000"/>
            <a:ext cx="56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</a:rPr>
              <a:t>A</a:t>
            </a:r>
            <a:endParaRPr lang="en-US" sz="1800" dirty="0"/>
          </a:p>
        </p:txBody>
      </p:sp>
      <p:sp>
        <p:nvSpPr>
          <p:cNvPr id="26" name="RoleTitle_Admin"/>
          <p:cNvSpPr/>
          <p:nvPr/>
        </p:nvSpPr>
        <p:spPr>
          <a:xfrm>
            <a:off x="9333613" y="4400000"/>
            <a:ext cx="2400000" cy="2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4A45"/>
                </a:solidFill>
                <a:latin typeface="Cambria" pitchFamily="34" charset="0"/>
              </a:rPr>
              <a:t>Admin</a:t>
            </a:r>
            <a:endParaRPr lang="en-US" sz="1500" dirty="0"/>
          </a:p>
        </p:txBody>
      </p:sp>
      <p:sp>
        <p:nvSpPr>
          <p:cNvPr id="27" name="RoleDesc_Admin"/>
          <p:cNvSpPr/>
          <p:nvPr/>
        </p:nvSpPr>
        <p:spPr>
          <a:xfrm>
            <a:off x="9333613" y="4680000"/>
            <a:ext cx="240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1300" dirty="0">
                <a:solidFill>
                  <a:srgbClr val="3A4A46"/>
                </a:solidFill>
                <a:latin typeface="Calibri" pitchFamily="34" charset="0"/>
              </a:rPr>
              <a:t>Full visibility, across every plot and role</a:t>
            </a:r>
            <a:endParaRPr lang="en-US" sz="1300" dirty="0"/>
          </a:p>
        </p:txBody>
      </p:sp>
      <p:sp>
        <p:nvSpPr>
          <p:cNvPr id="28" name="SummaryLine"/>
          <p:cNvSpPr/>
          <p:nvPr/>
        </p:nvSpPr>
        <p:spPr>
          <a:xfrm>
            <a:off x="548640" y="5180000"/>
            <a:ext cx="11094415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29" name="QuoteBanner"/>
          <p:cNvSpPr/>
          <p:nvPr/>
        </p:nvSpPr>
        <p:spPr>
          <a:xfrm>
            <a:off x="548640" y="5620000"/>
            <a:ext cx="11094415" cy="560000"/>
          </a:xfrm>
          <a:prstGeom prst="roundRect">
            <a:avLst>
              <a:gd name="adj" fmla="val 1800"/>
            </a:avLst>
          </a:prstGeom>
          <a:solidFill>
            <a:srgbClr val="0F302D"/>
          </a:solidFill>
          <a:ln>
            <a:noFill/>
          </a:ln>
          <a:effectLst>
            <a:outerShdw blurRad="90000" dist="30000" dir="5400000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QuoteMark"/>
          <p:cNvSpPr/>
          <p:nvPr/>
        </p:nvSpPr>
        <p:spPr>
          <a:xfrm>
            <a:off x="768640" y="5620000"/>
            <a:ext cx="500000" cy="5600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B8823E"/>
                </a:solidFill>
                <a:latin typeface="Cambria" pitchFamily="34" charset="0"/>
              </a:rPr>
              <a:t>“</a:t>
            </a:r>
            <a:endParaRPr lang="en-US" sz="4400" dirty="0"/>
          </a:p>
        </p:txBody>
      </p:sp>
      <p:sp>
        <p:nvSpPr>
          <p:cNvPr id="31" name="QuoteText"/>
          <p:cNvSpPr/>
          <p:nvPr/>
        </p:nvSpPr>
        <p:spPr>
          <a:xfrm>
            <a:off x="1265528" y="5720000"/>
            <a:ext cx="10154415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 i="1" dirty="0" err="1">
                <a:solidFill>
                  <a:srgbClr val="FFFFFF"/>
                </a:solidFill>
                <a:latin typeface="Cambria" pitchFamily="34" charset="0"/>
              </a:rPr>
              <a:t>HomifyOne</a:t>
            </a: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</a:rPr>
              <a:t> connects every role in new-build </a:t>
            </a:r>
            <a:r>
              <a:rPr lang="en-US" sz="1350" b="1" i="1" dirty="0" err="1">
                <a:solidFill>
                  <a:srgbClr val="FFFFFF"/>
                </a:solidFill>
                <a:latin typeface="Cambria" pitchFamily="34" charset="0"/>
              </a:rPr>
              <a:t>personalisation</a:t>
            </a:r>
            <a:r>
              <a:rPr lang="en-US" sz="1350" b="1" i="1" dirty="0">
                <a:solidFill>
                  <a:srgbClr val="FFFFFF"/>
                </a:solidFill>
                <a:latin typeface="Cambria" pitchFamily="34" charset="0"/>
              </a:rPr>
              <a:t> from a Buyer's first choice to a Supplier's final delivery in one intelligent platform.</a:t>
            </a:r>
          </a:p>
          <a:p>
            <a:pPr marL="0" indent="0" algn="l">
              <a:lnSpc>
                <a:spcPct val="112000"/>
              </a:lnSpc>
              <a:buNone/>
            </a:pPr>
            <a:endParaRPr lang="en-US" sz="1350" b="1" i="1" dirty="0">
              <a:solidFill>
                <a:srgbClr val="FFFFFF"/>
              </a:solidFill>
              <a:latin typeface="Cambria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0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02D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C4C4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4" name="Shape 2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1C4C4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5" name="Shape 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1C4C4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6" name="Shape 4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1C4C4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1C4C46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280160" cy="82296"/>
          </a:xfrm>
          <a:prstGeom prst="rect">
            <a:avLst/>
          </a:prstGeom>
          <a:solidFill>
            <a:srgbClr val="B8823E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GB" sz="46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GB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GB" sz="1200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Mrudhulaa Peechanary Vinodkumar  |  mpv4@student.le.ac.uk</a:t>
            </a:r>
            <a:endParaRPr lang="en-GB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7236</TotalTime>
  <Words>2391</Words>
  <Application>Microsoft Macintosh PowerPoint</Application>
  <PresentationFormat>Widescreen</PresentationFormat>
  <Paragraphs>516</Paragraphs>
  <Slides>25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HomifyOne</dc:title>
  <dc:subject/>
  <dc:creator>Mrudhulaa</dc:creator>
  <cp:keywords/>
  <dc:description/>
  <cp:lastModifiedBy>Peechanary Vinodkumar, Mrudhulaa</cp:lastModifiedBy>
  <cp:revision>138</cp:revision>
  <dcterms:created xsi:type="dcterms:W3CDTF">2026-07-24T10:26:00Z</dcterms:created>
  <dcterms:modified xsi:type="dcterms:W3CDTF">2026-09-14T13:33:55Z</dcterms:modified>
  <cp:category/>
</cp:coreProperties>
</file>